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7" d="100"/>
          <a:sy n="157" d="100"/>
        </p:scale>
        <p:origin x="344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62585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0096C7">
              <a:alpha val="12000"/>
            </a:srgbClr>
          </a:solidFill>
          <a:ln w="12700">
            <a:solidFill>
              <a:srgbClr val="0096C7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858000" y="1828800"/>
            <a:ext cx="3200400" cy="3200400"/>
          </a:xfrm>
          <a:prstGeom prst="ellipse">
            <a:avLst/>
          </a:prstGeom>
          <a:solidFill>
            <a:srgbClr val="48CAE4">
              <a:alpha val="10000"/>
            </a:srgbClr>
          </a:solidFill>
          <a:ln w="12700">
            <a:solidFill>
              <a:srgbClr val="48CAE4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800" dirty="0">
                <a:solidFill>
                  <a:srgbClr val="00B4D8"/>
                </a:solidFill>
              </a:rPr>
              <a:t>VISUALIZING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365760" y="2834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DB5BD"/>
                </a:solidFill>
              </a:rPr>
              <a:t>Name: </a:t>
            </a:r>
            <a:r>
              <a:rPr lang="en-US" sz="1600" dirty="0" err="1">
                <a:solidFill>
                  <a:srgbClr val="ADB5BD"/>
                </a:solidFill>
              </a:rPr>
              <a:t>NaveenPaul</a:t>
            </a:r>
            <a:r>
              <a:rPr lang="en-US" sz="1600" dirty="0">
                <a:solidFill>
                  <a:srgbClr val="ADB5BD"/>
                </a:solidFill>
              </a:rPr>
              <a:t> Kolli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" y="3749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00B4D8"/>
                </a:solidFill>
              </a:rPr>
              <a:t>WHAT IS A NEURAL NETWORK?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1234440"/>
          </a:xfrm>
          <a:prstGeom prst="rect">
            <a:avLst/>
          </a:prstGeom>
          <a:solidFill>
            <a:srgbClr val="0096C7">
              <a:alpha val="2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896112"/>
            <a:ext cx="8138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E8F4FD"/>
                </a:solidFill>
              </a:rPr>
              <a:t>A neural network is a system of interconnected nodes (neurons) that processes data in layers — inspired by the human brain — to recognize patterns and make predictions.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365760" y="2240280"/>
            <a:ext cx="2651760" cy="2468880"/>
          </a:xfrm>
          <a:prstGeom prst="rect">
            <a:avLst/>
          </a:prstGeom>
          <a:solidFill>
            <a:srgbClr val="1B2A3B"/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23317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65760" y="28803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4D8"/>
                </a:solidFill>
              </a:rPr>
              <a:t>Brain-Inspired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29184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ADB5BD"/>
                </a:solidFill>
              </a:rPr>
              <a:t>Modeled after biological neurons and synapses in the human brain.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0" y="2240280"/>
            <a:ext cx="2651760" cy="2468880"/>
          </a:xfrm>
          <a:prstGeom prst="rect">
            <a:avLst/>
          </a:prstGeom>
          <a:solidFill>
            <a:srgbClr val="1B2A3B"/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00400" y="23317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200400" y="28803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4D8"/>
                </a:solidFill>
              </a:rPr>
              <a:t>Pattern Recognition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91840" y="329184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ADB5BD"/>
                </a:solidFill>
              </a:rPr>
              <a:t>Learns to classify images, understand language, and predict outcomes.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35040" y="2240280"/>
            <a:ext cx="2651760" cy="2468880"/>
          </a:xfrm>
          <a:prstGeom prst="rect">
            <a:avLst/>
          </a:prstGeom>
          <a:solidFill>
            <a:srgbClr val="1B2A3B"/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035040" y="23317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035040" y="28803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4D8"/>
                </a:solidFill>
              </a:rPr>
              <a:t>Learns from Data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26480" y="329184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ADB5BD"/>
                </a:solidFill>
              </a:rPr>
              <a:t>Adjusts internal parameters automatically through exposure to examples.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00B4D8"/>
                </a:solidFill>
              </a:rPr>
              <a:t>LAYERS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4FD"/>
                </a:solidFill>
              </a:rPr>
              <a:t>A layer is a group of neurons that work together to process and transform information as it flows through the network.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606040" cy="411480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INPUT LAYER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577340" y="1965960"/>
            <a:ext cx="365760" cy="365760"/>
          </a:xfrm>
          <a:prstGeom prst="ellipse">
            <a:avLst/>
          </a:prstGeom>
          <a:solidFill>
            <a:srgbClr val="48CAE4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577340" y="2606040"/>
            <a:ext cx="365760" cy="365760"/>
          </a:xfrm>
          <a:prstGeom prst="ellipse">
            <a:avLst/>
          </a:prstGeom>
          <a:solidFill>
            <a:srgbClr val="48CAE4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577340" y="3246120"/>
            <a:ext cx="365760" cy="365760"/>
          </a:xfrm>
          <a:prstGeom prst="ellipse">
            <a:avLst/>
          </a:prstGeom>
          <a:solidFill>
            <a:srgbClr val="48CAE4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3154680"/>
            <a:ext cx="2606040" cy="1371600"/>
          </a:xfrm>
          <a:prstGeom prst="rect">
            <a:avLst/>
          </a:prstGeom>
          <a:solidFill>
            <a:srgbClr val="1B2A3B"/>
          </a:solidFill>
          <a:ln w="12700">
            <a:solidFill>
              <a:srgbClr val="48CAE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3200400"/>
            <a:ext cx="2423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DB5BD"/>
                </a:solidFill>
              </a:rPr>
              <a:t>Receives raw data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DB5BD"/>
                </a:solidFill>
              </a:rPr>
              <a:t>(pixels, numbers, text)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DB5BD"/>
                </a:solidFill>
              </a:rPr>
              <a:t>No computation — just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DB5BD"/>
                </a:solidFill>
              </a:rPr>
              <a:t>passes data forward.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337560" y="1417320"/>
            <a:ext cx="2606040" cy="411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337560" y="14173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HIDDEN LAYERS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457700" y="1965960"/>
            <a:ext cx="365760" cy="36576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457700" y="2606040"/>
            <a:ext cx="365760" cy="36576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457700" y="3246120"/>
            <a:ext cx="365760" cy="36576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457700" y="3886200"/>
            <a:ext cx="365760" cy="36576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337560" y="3154680"/>
            <a:ext cx="2606040" cy="1371600"/>
          </a:xfrm>
          <a:prstGeom prst="rect">
            <a:avLst/>
          </a:prstGeom>
          <a:solidFill>
            <a:srgbClr val="1B2A3B"/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429000" y="3200400"/>
            <a:ext cx="2423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DB5BD"/>
                </a:solidFill>
              </a:rPr>
              <a:t>One or more layers that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DB5BD"/>
                </a:solidFill>
              </a:rPr>
              <a:t>extract features and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DB5BD"/>
                </a:solidFill>
              </a:rPr>
              <a:t>refine understanding.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DB5BD"/>
                </a:solidFill>
              </a:rPr>
              <a:t>The "thinking" layers.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17920" y="1417320"/>
            <a:ext cx="2606040" cy="41148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217920" y="14173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OUTPUT LAYER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38060" y="1965960"/>
            <a:ext cx="365760" cy="36576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338060" y="2606040"/>
            <a:ext cx="365760" cy="36576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338060" y="3246120"/>
            <a:ext cx="365760" cy="36576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217920" y="3154680"/>
            <a:ext cx="2606040" cy="1371600"/>
          </a:xfrm>
          <a:prstGeom prst="rect">
            <a:avLst/>
          </a:prstGeom>
          <a:solidFill>
            <a:srgbClr val="1B2A3B"/>
          </a:solidFill>
          <a:ln w="12700">
            <a:solidFill>
              <a:srgbClr val="FFB703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309360" y="3200400"/>
            <a:ext cx="2423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DB5BD"/>
                </a:solidFill>
              </a:rPr>
              <a:t>Produces the final result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DB5BD"/>
                </a:solidFill>
              </a:rPr>
              <a:t>(classification, score, etc.).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DB5BD"/>
                </a:solidFill>
              </a:rPr>
              <a:t>One node per possible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DB5BD"/>
                </a:solidFill>
              </a:rPr>
              <a:t>outcome category.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072384" y="2606040"/>
            <a:ext cx="594360" cy="0"/>
          </a:xfrm>
          <a:prstGeom prst="line">
            <a:avLst/>
          </a:prstGeom>
          <a:noFill/>
          <a:ln w="19050">
            <a:solidFill>
              <a:srgbClr val="ADB5BD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5943600" y="2606040"/>
            <a:ext cx="594360" cy="0"/>
          </a:xfrm>
          <a:prstGeom prst="line">
            <a:avLst/>
          </a:prstGeom>
          <a:noFill/>
          <a:ln w="19050">
            <a:solidFill>
              <a:srgbClr val="ADB5BD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00B4D8"/>
                </a:solidFill>
              </a:rPr>
              <a:t>NEURONS &amp; WEIGHTS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005840" cy="502920"/>
          </a:xfrm>
          <a:prstGeom prst="ellipse">
            <a:avLst/>
          </a:prstGeom>
          <a:solidFill>
            <a:srgbClr val="48CAE4">
              <a:alpha val="60000"/>
            </a:srgbClr>
          </a:solidFill>
          <a:ln w="12700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Input 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463040" y="1536192"/>
            <a:ext cx="2468880" cy="1261872"/>
          </a:xfrm>
          <a:prstGeom prst="line">
            <a:avLst/>
          </a:prstGeom>
          <a:noFill/>
          <a:ln w="19050">
            <a:solidFill>
              <a:srgbClr val="00B4D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377440" y="1874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B703"/>
                </a:solidFill>
              </a:rPr>
              <a:t>w1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1005840" cy="502920"/>
          </a:xfrm>
          <a:prstGeom prst="ellipse">
            <a:avLst/>
          </a:prstGeom>
          <a:solidFill>
            <a:srgbClr val="48CAE4">
              <a:alpha val="60000"/>
            </a:srgbClr>
          </a:solidFill>
          <a:ln w="12700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237744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Input 2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463040" y="2633472"/>
            <a:ext cx="2468880" cy="164592"/>
          </a:xfrm>
          <a:prstGeom prst="line">
            <a:avLst/>
          </a:prstGeom>
          <a:noFill/>
          <a:ln w="19050">
            <a:solidFill>
              <a:srgbClr val="00B4D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377440" y="24231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B703"/>
                </a:solidFill>
              </a:rPr>
              <a:t>w2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474720"/>
            <a:ext cx="1005840" cy="502920"/>
          </a:xfrm>
          <a:prstGeom prst="ellipse">
            <a:avLst/>
          </a:prstGeom>
          <a:solidFill>
            <a:srgbClr val="48CAE4">
              <a:alpha val="60000"/>
            </a:srgbClr>
          </a:solidFill>
          <a:ln w="12700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347472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Input 3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 flipV="1">
            <a:off x="1463040" y="2798064"/>
            <a:ext cx="2468880" cy="932688"/>
          </a:xfrm>
          <a:prstGeom prst="line">
            <a:avLst/>
          </a:prstGeom>
          <a:noFill/>
          <a:ln w="19050">
            <a:solidFill>
              <a:srgbClr val="00B4D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377440" y="2971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B703"/>
                </a:solidFill>
              </a:rPr>
              <a:t>w3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931920" y="2439830"/>
            <a:ext cx="1005840" cy="640080"/>
          </a:xfrm>
          <a:prstGeom prst="ellipse">
            <a:avLst/>
          </a:prstGeom>
          <a:solidFill>
            <a:srgbClr val="0096C7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931920" y="2487168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Σ  →  f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 flipV="1">
            <a:off x="4937760" y="2720344"/>
            <a:ext cx="2194560" cy="23747"/>
          </a:xfrm>
          <a:prstGeom prst="line">
            <a:avLst/>
          </a:prstGeom>
          <a:noFill/>
          <a:ln w="25400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132320" y="2439830"/>
            <a:ext cx="914400" cy="422242"/>
          </a:xfrm>
          <a:prstGeom prst="ellipse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132320" y="2359152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Output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303520" y="1078992"/>
            <a:ext cx="3566160" cy="1344165"/>
          </a:xfrm>
          <a:prstGeom prst="rect">
            <a:avLst/>
          </a:prstGeom>
          <a:solidFill>
            <a:srgbClr val="1B2A3B"/>
          </a:solidFill>
          <a:ln w="12700">
            <a:solidFill>
              <a:srgbClr val="00B4D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5303520" y="1078993"/>
            <a:ext cx="91440" cy="136083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532120" y="8869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b="1" dirty="0">
              <a:solidFill>
                <a:srgbClr val="00B4D8"/>
              </a:solidFill>
            </a:endParaRPr>
          </a:p>
          <a:p>
            <a:pPr marL="0" indent="0">
              <a:buNone/>
            </a:pPr>
            <a:endParaRPr lang="en-US" sz="1300" b="1" dirty="0">
              <a:solidFill>
                <a:srgbClr val="00B4D8"/>
              </a:solidFill>
            </a:endParaRPr>
          </a:p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</a:rPr>
              <a:t>Neuron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532120" y="1252728"/>
            <a:ext cx="3200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DB5BD"/>
                </a:solidFill>
              </a:rPr>
              <a:t>A single computational unit. It receives inputs, multiplies each by a weight, sums them, then passes the result through an activation function.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303520" y="2926080"/>
            <a:ext cx="3566160" cy="1475987"/>
          </a:xfrm>
          <a:prstGeom prst="rect">
            <a:avLst/>
          </a:prstGeom>
          <a:solidFill>
            <a:srgbClr val="1B2A3B"/>
          </a:solidFill>
          <a:ln w="12700">
            <a:solidFill>
              <a:srgbClr val="00B4D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5303520" y="2926080"/>
            <a:ext cx="91440" cy="147598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532120" y="289864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</a:rPr>
              <a:t>Weight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532120" y="3264408"/>
            <a:ext cx="3200400" cy="9921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DB5BD"/>
                </a:solidFill>
              </a:rPr>
              <a:t>A numerical value controlling how strongly an input influences the neuron. The network learns by adjusting weights during training.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00B4D8"/>
                </a:solidFill>
              </a:rPr>
              <a:t>ACTIVATION FUNCTIONS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4FD"/>
                </a:solidFill>
              </a:rPr>
              <a:t>Activation functions decide whether a neuron "fires" — they introduce non-linearity, allowing the network to learn complex patterns.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2697480" cy="3383280"/>
          </a:xfrm>
          <a:prstGeom prst="rect">
            <a:avLst/>
          </a:prstGeom>
          <a:solidFill>
            <a:srgbClr val="1B2A3B"/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2697480" cy="457200"/>
          </a:xfrm>
          <a:prstGeom prst="rect">
            <a:avLst/>
          </a:prstGeom>
          <a:solidFill>
            <a:srgbClr val="00B4D8">
              <a:alpha val="75000"/>
            </a:srgbClr>
          </a:solidFill>
          <a:ln w="12700">
            <a:solidFill>
              <a:srgbClr val="00B4D8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37160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ReLU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965960"/>
            <a:ext cx="233172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0B4D8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19659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f(x) = max(0, x)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514600"/>
            <a:ext cx="2423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DB5BD"/>
                </a:solidFill>
              </a:rPr>
              <a:t>Most widely used. Fast, simple, avoids vanishing gradient. Outputs zero for negatives.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46120" y="1371600"/>
            <a:ext cx="2697480" cy="3383280"/>
          </a:xfrm>
          <a:prstGeom prst="rect">
            <a:avLst/>
          </a:prstGeom>
          <a:solidFill>
            <a:srgbClr val="1B2A3B"/>
          </a:solidFill>
          <a:ln w="12700">
            <a:solidFill>
              <a:srgbClr val="48CAE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46120" y="1371600"/>
            <a:ext cx="2697480" cy="457200"/>
          </a:xfrm>
          <a:prstGeom prst="rect">
            <a:avLst/>
          </a:prstGeom>
          <a:solidFill>
            <a:srgbClr val="48CAE4">
              <a:alpha val="75000"/>
            </a:srgbClr>
          </a:solidFill>
          <a:ln w="12700">
            <a:solidFill>
              <a:srgbClr val="48CAE4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46120" y="137160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Sigmoid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429000" y="1965960"/>
            <a:ext cx="233172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48CAE4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429000" y="19659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f(x) = 1 / (1 + e⁻ˣ)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83280" y="2514600"/>
            <a:ext cx="2423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DB5BD"/>
                </a:solidFill>
              </a:rPr>
              <a:t>Squashes output to 0–1. Useful for probability predictions in the output layer.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1371600"/>
            <a:ext cx="2697480" cy="3383280"/>
          </a:xfrm>
          <a:prstGeom prst="rect">
            <a:avLst/>
          </a:prstGeom>
          <a:solidFill>
            <a:srgbClr val="1B2A3B"/>
          </a:solidFill>
          <a:ln w="12700">
            <a:solidFill>
              <a:srgbClr val="FFB703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126480" y="1371600"/>
            <a:ext cx="2697480" cy="457200"/>
          </a:xfrm>
          <a:prstGeom prst="rect">
            <a:avLst/>
          </a:prstGeom>
          <a:solidFill>
            <a:srgbClr val="FFB703">
              <a:alpha val="75000"/>
            </a:srgbClr>
          </a:solidFill>
          <a:ln w="12700">
            <a:solidFill>
              <a:srgbClr val="FFB703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126480" y="137160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Tanh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309360" y="1965960"/>
            <a:ext cx="233172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FFB703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309360" y="19659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B70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f(x) = (eˣ - e⁻ˣ)/(eˣ + e⁻ˣ)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63640" y="2514600"/>
            <a:ext cx="2423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DB5BD"/>
                </a:solidFill>
              </a:rPr>
              <a:t>Outputs range –1 to 1. Zero-centered, often better than Sigmoid in hidden layers.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00B4D8"/>
                </a:solidFill>
              </a:rPr>
              <a:t>LOSS FUNCTIONS &amp; OPTIMIZATION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4023360" cy="4023360"/>
          </a:xfrm>
          <a:prstGeom prst="rect">
            <a:avLst/>
          </a:prstGeom>
          <a:solidFill>
            <a:srgbClr val="1B2A3B"/>
          </a:solidFill>
          <a:ln w="12700">
            <a:solidFill>
              <a:srgbClr val="48CAE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4023360" cy="502920"/>
          </a:xfrm>
          <a:prstGeom prst="rect">
            <a:avLst/>
          </a:prstGeom>
          <a:solidFill>
            <a:srgbClr val="48CAE4">
              <a:alpha val="75000"/>
            </a:srgbClr>
          </a:solidFill>
          <a:ln w="12700">
            <a:solidFill>
              <a:srgbClr val="48CAE4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749808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📉  Loss Function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353312"/>
            <a:ext cx="3657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DB5BD"/>
                </a:solidFill>
              </a:rPr>
              <a:t>Measures how wrong the network's predictions are.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DB5BD"/>
                </a:solidFill>
              </a:rPr>
              <a:t>A high loss = bad predictions.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DB5BD"/>
                </a:solidFill>
              </a:rPr>
              <a:t>A low loss = good predictions.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DB5BD"/>
                </a:solidFill>
              </a:rPr>
              <a:t>Common types: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DB5BD"/>
                </a:solidFill>
              </a:rPr>
              <a:t>• Mean Squared Error (MSE) — for regression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DB5BD"/>
                </a:solidFill>
              </a:rPr>
              <a:t>• Cross-Entropy Loss — for classification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DB5BD"/>
                </a:solidFill>
              </a:rPr>
              <a:t>Goal: minimize the loss through training.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54880" y="749808"/>
            <a:ext cx="4023360" cy="4023360"/>
          </a:xfrm>
          <a:prstGeom prst="rect">
            <a:avLst/>
          </a:prstGeom>
          <a:solidFill>
            <a:srgbClr val="1B2A3B"/>
          </a:solidFill>
          <a:ln w="12700">
            <a:solidFill>
              <a:srgbClr val="FFB703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754880" y="749808"/>
            <a:ext cx="4023360" cy="502920"/>
          </a:xfrm>
          <a:prstGeom prst="rect">
            <a:avLst/>
          </a:prstGeom>
          <a:solidFill>
            <a:srgbClr val="FFB703">
              <a:alpha val="75000"/>
            </a:srgbClr>
          </a:solidFill>
          <a:ln w="12700">
            <a:solidFill>
              <a:srgbClr val="FFB703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54880" y="749808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⚙️  Optimization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1353312"/>
            <a:ext cx="3657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DB5BD"/>
                </a:solidFill>
              </a:rPr>
              <a:t>Optimization algorithms update the weights to reduce loss after each batch of training data.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DB5BD"/>
                </a:solidFill>
              </a:rPr>
              <a:t>Most popular: Gradient Descent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DB5BD"/>
                </a:solidFill>
              </a:rPr>
              <a:t>• Calculates how each weight affects the loss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DB5BD"/>
                </a:solidFill>
              </a:rPr>
              <a:t>• Nudges weights in the direction that reduces error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DB5BD"/>
                </a:solidFill>
              </a:rPr>
              <a:t>Adam Optimizer — adaptive learning rate; widely used in modern deep learning.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00B4D8"/>
                </a:solidFill>
              </a:rPr>
              <a:t>HOW NEURAL NETWORKS LEARN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4069080" cy="1965960"/>
          </a:xfrm>
          <a:prstGeom prst="rect">
            <a:avLst/>
          </a:prstGeom>
          <a:solidFill>
            <a:srgbClr val="1B2A3B"/>
          </a:solidFill>
          <a:ln w="12700">
            <a:solidFill>
              <a:srgbClr val="48CAE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502920" cy="502920"/>
          </a:xfrm>
          <a:prstGeom prst="ellipse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102412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8CAE4"/>
                </a:solidFill>
              </a:rPr>
              <a:t>Forward Pass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DB5BD"/>
                </a:solidFill>
              </a:rPr>
              <a:t>Input data flows through every layer, producing a prediction output.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800600" y="822960"/>
            <a:ext cx="4069080" cy="1965960"/>
          </a:xfrm>
          <a:prstGeom prst="rect">
            <a:avLst/>
          </a:prstGeom>
          <a:solidFill>
            <a:srgbClr val="1B2A3B"/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983480" y="1005840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983480" y="1005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623560" y="102412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</a:rPr>
              <a:t>Calculate Loss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83480" y="155448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DB5BD"/>
                </a:solidFill>
              </a:rPr>
              <a:t>The loss function compares the prediction to the true answer and scores the error.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3017520"/>
            <a:ext cx="4069080" cy="1965960"/>
          </a:xfrm>
          <a:prstGeom prst="rect">
            <a:avLst/>
          </a:prstGeom>
          <a:solidFill>
            <a:srgbClr val="1B2A3B"/>
          </a:solidFill>
          <a:ln w="12700">
            <a:solidFill>
              <a:srgbClr val="0096C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48640" y="3200400"/>
            <a:ext cx="502920" cy="502920"/>
          </a:xfrm>
          <a:prstGeom prst="ellipse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8640" y="3200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88720" y="321868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96C7"/>
                </a:solidFill>
              </a:rPr>
              <a:t>Backpropagation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374904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DB5BD"/>
                </a:solidFill>
              </a:rPr>
              <a:t>The error signal travels backward through the network, computing weight gradients.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800600" y="3017520"/>
            <a:ext cx="4069080" cy="1965960"/>
          </a:xfrm>
          <a:prstGeom prst="rect">
            <a:avLst/>
          </a:prstGeom>
          <a:solidFill>
            <a:srgbClr val="1B2A3B"/>
          </a:solidFill>
          <a:ln w="12700">
            <a:solidFill>
              <a:srgbClr val="FFB703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983480" y="3200400"/>
            <a:ext cx="502920" cy="50292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983480" y="3200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623560" y="321868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703"/>
                </a:solidFill>
              </a:rPr>
              <a:t>Update Weights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83480" y="374904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DB5BD"/>
                </a:solidFill>
              </a:rPr>
              <a:t>The optimizer adjusts each weight slightly to reduce the loss for the next pass.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65760" y="4773168"/>
            <a:ext cx="8412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00B4D8"/>
                </a:solidFill>
              </a:rPr>
              <a:t>COMPONENT SUMMARY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77240"/>
          <a:ext cx="8412480" cy="3968496"/>
        </p:xfrm>
        <a:graphic>
          <a:graphicData uri="http://schemas.openxmlformats.org/drawingml/2006/table">
            <a:tbl>
              <a:tblPr/>
              <a:tblGrid>
                <a:gridCol w="2804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4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04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Component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6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Role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6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Example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6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ADB5BD"/>
                          </a:solidFill>
                        </a:rPr>
                        <a:t>Layer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ADB5BD"/>
                          </a:solidFill>
                        </a:rPr>
                        <a:t>Groups neurons; processes &amp; passes data forward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ADB5BD"/>
                          </a:solidFill>
                        </a:rPr>
                        <a:t>Input, Hidden, Output layers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ADB5BD"/>
                          </a:solidFill>
                        </a:rPr>
                        <a:t>Neuron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ADB5BD"/>
                          </a:solidFill>
                        </a:rPr>
                        <a:t>Receives inputs, computes a weighted sum, outputs a value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ADB5BD"/>
                          </a:solidFill>
                        </a:rPr>
                        <a:t>Single node in a hidden layer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ADB5BD"/>
                          </a:solidFill>
                        </a:rPr>
                        <a:t>Weight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ADB5BD"/>
                          </a:solidFill>
                        </a:rPr>
                        <a:t>Controls influence of each input connection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ADB5BD"/>
                          </a:solidFill>
                        </a:rPr>
                        <a:t>w₁ = 0.8, w₂ = –0.3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ADB5BD"/>
                          </a:solidFill>
                        </a:rPr>
                        <a:t>Activation Function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ADB5BD"/>
                          </a:solidFill>
                        </a:rPr>
                        <a:t>Introduces non-linearity; determines neuron output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ADB5BD"/>
                          </a:solidFill>
                        </a:rPr>
                        <a:t>ReLU, Sigmoid, Tanh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ADB5BD"/>
                          </a:solidFill>
                        </a:rPr>
                        <a:t>Loss Function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ADB5BD"/>
                          </a:solidFill>
                        </a:rPr>
                        <a:t>Quantifies prediction error during training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ADB5BD"/>
                          </a:solidFill>
                        </a:rPr>
                        <a:t>MSE, Cross-Entropy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ADB5BD"/>
                          </a:solidFill>
                        </a:rPr>
                        <a:t>Optimizer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ADB5BD"/>
                          </a:solidFill>
                        </a:rPr>
                        <a:t>Updates weights to reduce loss over time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ADB5BD"/>
                          </a:solidFill>
                        </a:rPr>
                        <a:t>Gradient Descent, Adam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0" y="-731520"/>
            <a:ext cx="5029200" cy="5029200"/>
          </a:xfrm>
          <a:prstGeom prst="ellipse">
            <a:avLst/>
          </a:prstGeom>
          <a:solidFill>
            <a:srgbClr val="00B4D8">
              <a:alpha val="8000"/>
            </a:srgbClr>
          </a:solidFill>
          <a:ln w="12700">
            <a:solidFill>
              <a:srgbClr val="00B4D8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00B4D8"/>
                </a:solidFill>
              </a:rPr>
              <a:t>KEY TAKEAWAYS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7315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Neural Networks Made Simple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57200" y="1719072"/>
            <a:ext cx="219456" cy="21945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04672" y="1673352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D"/>
                </a:solidFill>
              </a:rPr>
              <a:t>Layers group neurons and direct the flow of information.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313432"/>
            <a:ext cx="219456" cy="21945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04672" y="2267712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D"/>
                </a:solidFill>
              </a:rPr>
              <a:t>Neurons compute weighted sums and apply activation functions.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907792"/>
            <a:ext cx="219456" cy="21945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04672" y="2862072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D"/>
                </a:solidFill>
              </a:rPr>
              <a:t>Weights are the learnable parameters the network adjusts.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502152"/>
            <a:ext cx="219456" cy="21945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04672" y="3456432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D"/>
                </a:solidFill>
              </a:rPr>
              <a:t>Loss functions measure prediction error; optimizers reduce it.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096512"/>
            <a:ext cx="219456" cy="21945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04672" y="4050792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D"/>
                </a:solidFill>
              </a:rPr>
              <a:t>Training is a repeated cycle of predict → measure → adjust.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709160"/>
            <a:ext cx="8412480" cy="27432"/>
          </a:xfrm>
          <a:prstGeom prst="rect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477316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685</Words>
  <Application>Microsoft Macintosh PowerPoint</Application>
  <PresentationFormat>On-screen Show (16:9)</PresentationFormat>
  <Paragraphs>127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Visualizing Neural Networks</dc:title>
  <dc:subject>PptxGenJS Presentation</dc:subject>
  <dc:creator>PptxGenJS</dc:creator>
  <cp:lastModifiedBy>Venukeswari Ootla</cp:lastModifiedBy>
  <cp:revision>4</cp:revision>
  <dcterms:created xsi:type="dcterms:W3CDTF">2026-03-16T00:21:43Z</dcterms:created>
  <dcterms:modified xsi:type="dcterms:W3CDTF">2026-03-16T00:45:40Z</dcterms:modified>
</cp:coreProperties>
</file>