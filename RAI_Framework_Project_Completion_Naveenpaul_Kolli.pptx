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38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5292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6565392"/>
            <a:ext cx="12191695" cy="0"/>
          </a:xfrm>
          <a:prstGeom prst="line">
            <a:avLst/>
          </a:prstGeom>
          <a:noFill/>
          <a:ln w="12700">
            <a:solidFill>
              <a:srgbClr val="CED7E2"/>
            </a:solidFill>
            <a:prstDash val="solid"/>
          </a:ln>
        </p:spPr>
        <p:txBody>
          <a:bodyPr/>
          <a:lstStyle/>
          <a:p>
            <a:endParaRPr lang="en-US"/>
          </a:p>
        </p:txBody>
      </p:sp>
      <p:sp>
        <p:nvSpPr>
          <p:cNvPr id="25" name="Slide Number Placeholder 0"/>
          <p:cNvSpPr>
            <a:spLocks noGrp="1"/>
          </p:cNvSpPr>
          <p:nvPr>
            <p:ph type="sldNum" sz="quarter" idx="4294967295"/>
          </p:nvPr>
        </p:nvSpPr>
        <p:spPr>
          <a:xfrm>
            <a:off x="11475720" y="662940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62940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9555480" y="640080"/>
            <a:ext cx="1783080" cy="1783080"/>
          </a:xfrm>
          <a:prstGeom prst="arc">
            <a:avLst/>
          </a:prstGeom>
          <a:noFill/>
          <a:ln w="25400">
            <a:solidFill>
              <a:srgbClr val="2B7CFF">
                <a:alpha val="75000"/>
              </a:srgbClr>
            </a:solidFill>
            <a:prstDash val="solid"/>
          </a:ln>
        </p:spPr>
        <p:txBody>
          <a:bodyPr/>
          <a:lstStyle/>
          <a:p>
            <a:endParaRPr lang="en-US"/>
          </a:p>
        </p:txBody>
      </p:sp>
      <p:sp>
        <p:nvSpPr>
          <p:cNvPr id="3" name="Shape 1"/>
          <p:cNvSpPr/>
          <p:nvPr/>
        </p:nvSpPr>
        <p:spPr>
          <a:xfrm>
            <a:off x="9144000" y="3657600"/>
            <a:ext cx="2286000" cy="2286000"/>
          </a:xfrm>
          <a:prstGeom prst="arc">
            <a:avLst/>
          </a:prstGeom>
          <a:noFill/>
          <a:ln w="25400">
            <a:solidFill>
              <a:srgbClr val="16A3A3">
                <a:alpha val="75000"/>
              </a:srgbClr>
            </a:solidFill>
            <a:prstDash val="solid"/>
          </a:ln>
        </p:spPr>
        <p:txBody>
          <a:bodyPr/>
          <a:lstStyle/>
          <a:p>
            <a:endParaRPr lang="en-US"/>
          </a:p>
        </p:txBody>
      </p:sp>
      <p:sp>
        <p:nvSpPr>
          <p:cNvPr id="4" name="Shape 2"/>
          <p:cNvSpPr/>
          <p:nvPr/>
        </p:nvSpPr>
        <p:spPr>
          <a:xfrm>
            <a:off x="658368" y="685800"/>
            <a:ext cx="3291840" cy="256032"/>
          </a:xfrm>
          <a:prstGeom prst="roundRect">
            <a:avLst>
              <a:gd name="adj" fmla="val 17857"/>
            </a:avLst>
          </a:prstGeom>
          <a:solidFill>
            <a:srgbClr val="16A3A3"/>
          </a:solidFill>
          <a:ln w="12700">
            <a:solidFill>
              <a:srgbClr val="16A3A3"/>
            </a:solidFill>
            <a:prstDash val="solid"/>
          </a:ln>
        </p:spPr>
        <p:txBody>
          <a:bodyPr/>
          <a:lstStyle/>
          <a:p>
            <a:endParaRPr lang="en-US"/>
          </a:p>
        </p:txBody>
      </p:sp>
      <p:sp>
        <p:nvSpPr>
          <p:cNvPr id="5" name="Text 3"/>
          <p:cNvSpPr/>
          <p:nvPr/>
        </p:nvSpPr>
        <p:spPr>
          <a:xfrm>
            <a:off x="731520" y="745236"/>
            <a:ext cx="3145536" cy="109728"/>
          </a:xfrm>
          <a:prstGeom prst="rect">
            <a:avLst/>
          </a:prstGeom>
          <a:noFill/>
          <a:ln/>
        </p:spPr>
        <p:txBody>
          <a:bodyPr wrap="square" lIns="0" tIns="0" rIns="0" bIns="0" rtlCol="0" anchor="ctr"/>
          <a:lstStyle/>
          <a:p>
            <a:pPr marL="0" indent="0" algn="ctr">
              <a:buNone/>
            </a:pPr>
            <a:r>
              <a:rPr lang="en-US" sz="730" b="1" dirty="0">
                <a:solidFill>
                  <a:srgbClr val="FFFFFF"/>
                </a:solidFill>
              </a:rPr>
              <a:t>6.5 RAI FRAMEWORK PROJECT COMPLETION</a:t>
            </a:r>
            <a:endParaRPr lang="en-US" sz="730" dirty="0"/>
          </a:p>
        </p:txBody>
      </p:sp>
      <p:sp>
        <p:nvSpPr>
          <p:cNvPr id="6" name="Text 4"/>
          <p:cNvSpPr/>
          <p:nvPr/>
        </p:nvSpPr>
        <p:spPr>
          <a:xfrm>
            <a:off x="658368" y="1325880"/>
            <a:ext cx="8138160" cy="640080"/>
          </a:xfrm>
          <a:prstGeom prst="rect">
            <a:avLst/>
          </a:prstGeom>
          <a:noFill/>
          <a:ln/>
        </p:spPr>
        <p:txBody>
          <a:bodyPr wrap="square" lIns="0" tIns="0" rIns="0" bIns="0" rtlCol="0" anchor="ctr"/>
          <a:lstStyle/>
          <a:p>
            <a:pPr marL="0" indent="0">
              <a:buNone/>
            </a:pPr>
            <a:r>
              <a:rPr lang="en-US" sz="4400" b="1" dirty="0">
                <a:solidFill>
                  <a:srgbClr val="FFFFFF"/>
                </a:solidFill>
                <a:latin typeface="Aptos Display" pitchFamily="34" charset="0"/>
                <a:ea typeface="Aptos Display" pitchFamily="34" charset="-122"/>
                <a:cs typeface="Aptos Display" pitchFamily="34" charset="-120"/>
              </a:rPr>
              <a:t>Responsible AI Framework</a:t>
            </a:r>
            <a:endParaRPr lang="en-US" sz="4400" dirty="0"/>
          </a:p>
        </p:txBody>
      </p:sp>
      <p:sp>
        <p:nvSpPr>
          <p:cNvPr id="7" name="Text 5"/>
          <p:cNvSpPr/>
          <p:nvPr/>
        </p:nvSpPr>
        <p:spPr>
          <a:xfrm>
            <a:off x="685800" y="2148840"/>
            <a:ext cx="7040880" cy="713232"/>
          </a:xfrm>
          <a:prstGeom prst="rect">
            <a:avLst/>
          </a:prstGeom>
          <a:noFill/>
          <a:ln/>
        </p:spPr>
        <p:txBody>
          <a:bodyPr wrap="square" lIns="0" tIns="0" rIns="0" bIns="0" rtlCol="0" anchor="ctr">
            <a:normAutofit/>
          </a:bodyPr>
          <a:lstStyle/>
          <a:p>
            <a:pPr marL="0" indent="0">
              <a:buNone/>
            </a:pPr>
            <a:r>
              <a:rPr lang="en-US" sz="1800" dirty="0">
                <a:solidFill>
                  <a:srgbClr val="DDE8F3"/>
                </a:solidFill>
              </a:rPr>
              <a:t>A ready-to-use governance, risk, training, lifecycle, and metrics model for NeuroVerse Inc. and its NeuroCreate generative AI platform.</a:t>
            </a:r>
            <a:endParaRPr lang="en-US" sz="1800" dirty="0"/>
          </a:p>
        </p:txBody>
      </p:sp>
      <p:sp>
        <p:nvSpPr>
          <p:cNvPr id="8" name="Text 6"/>
          <p:cNvSpPr/>
          <p:nvPr/>
        </p:nvSpPr>
        <p:spPr>
          <a:xfrm>
            <a:off x="685800" y="5349240"/>
            <a:ext cx="3657600" cy="274320"/>
          </a:xfrm>
          <a:prstGeom prst="rect">
            <a:avLst/>
          </a:prstGeom>
          <a:noFill/>
          <a:ln/>
        </p:spPr>
        <p:txBody>
          <a:bodyPr wrap="square" lIns="0" tIns="0" rIns="0" bIns="0" rtlCol="0" anchor="ctr"/>
          <a:lstStyle/>
          <a:p>
            <a:pPr marL="0" indent="0">
              <a:buNone/>
            </a:pPr>
            <a:r>
              <a:rPr lang="en-US" sz="1400" b="1" dirty="0">
                <a:solidFill>
                  <a:srgbClr val="FFFFFF"/>
                </a:solidFill>
              </a:rPr>
              <a:t>Prepared by: Naveenpaul Kolli</a:t>
            </a:r>
            <a:endParaRPr lang="en-US" sz="1400" dirty="0"/>
          </a:p>
        </p:txBody>
      </p:sp>
      <p:sp>
        <p:nvSpPr>
          <p:cNvPr id="9" name="Text 7"/>
          <p:cNvSpPr/>
          <p:nvPr/>
        </p:nvSpPr>
        <p:spPr>
          <a:xfrm>
            <a:off x="685800" y="5650992"/>
            <a:ext cx="3383280" cy="219456"/>
          </a:xfrm>
          <a:prstGeom prst="rect">
            <a:avLst/>
          </a:prstGeom>
          <a:noFill/>
          <a:ln/>
        </p:spPr>
        <p:txBody>
          <a:bodyPr wrap="square" lIns="0" tIns="0" rIns="0" bIns="0" rtlCol="0" anchor="ctr"/>
          <a:lstStyle/>
          <a:p>
            <a:pPr marL="0" indent="0">
              <a:buNone/>
            </a:pPr>
            <a:endParaRPr lang="en-US" sz="900" dirty="0"/>
          </a:p>
        </p:txBody>
      </p:sp>
      <p:sp>
        <p:nvSpPr>
          <p:cNvPr id="25" name="Slide Number Placeholder 0"/>
          <p:cNvSpPr>
            <a:spLocks noGrp="1"/>
          </p:cNvSpPr>
          <p:nvPr>
            <p:ph type="sldNum" sz="quarter" idx="4294967295"/>
          </p:nvPr>
        </p:nvSpPr>
        <p:spPr>
          <a:xfrm>
            <a:off x="11475720" y="662940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237744"/>
            <a:ext cx="5303520" cy="201168"/>
          </a:xfrm>
          <a:prstGeom prst="rect">
            <a:avLst/>
          </a:prstGeom>
          <a:noFill/>
          <a:ln/>
        </p:spPr>
        <p:txBody>
          <a:bodyPr wrap="square" lIns="0" tIns="0" rIns="0" bIns="0" rtlCol="0" anchor="ctr"/>
          <a:lstStyle/>
          <a:p>
            <a:pPr marL="0" indent="0">
              <a:buNone/>
            </a:pPr>
            <a:r>
              <a:rPr lang="en-US" sz="800" b="1" dirty="0">
                <a:solidFill>
                  <a:srgbClr val="1E5BFF"/>
                </a:solidFill>
                <a:latin typeface="Aptos" pitchFamily="34" charset="0"/>
                <a:ea typeface="Aptos" pitchFamily="34" charset="-122"/>
                <a:cs typeface="Aptos" pitchFamily="34" charset="-120"/>
              </a:rPr>
              <a:t>ACTIONABLE RAI OPERATING MODEL</a:t>
            </a:r>
            <a:endParaRPr lang="en-US" sz="800" dirty="0"/>
          </a:p>
        </p:txBody>
      </p:sp>
      <p:sp>
        <p:nvSpPr>
          <p:cNvPr id="3" name="Text 1"/>
          <p:cNvSpPr/>
          <p:nvPr/>
        </p:nvSpPr>
        <p:spPr>
          <a:xfrm>
            <a:off x="594360" y="502920"/>
            <a:ext cx="10789920" cy="411480"/>
          </a:xfrm>
          <a:prstGeom prst="rect">
            <a:avLst/>
          </a:prstGeom>
          <a:noFill/>
          <a:ln/>
        </p:spPr>
        <p:txBody>
          <a:bodyPr wrap="square" lIns="0" tIns="0" rIns="0" bIns="0" rtlCol="0" anchor="ctr">
            <a:normAutofit/>
          </a:bodyP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Executive framework map</a:t>
            </a:r>
            <a:endParaRPr lang="en-US" sz="3000" dirty="0"/>
          </a:p>
        </p:txBody>
      </p:sp>
      <p:sp>
        <p:nvSpPr>
          <p:cNvPr id="4" name="Text 2"/>
          <p:cNvSpPr/>
          <p:nvPr/>
        </p:nvSpPr>
        <p:spPr>
          <a:xfrm>
            <a:off x="594360" y="6611112"/>
            <a:ext cx="5669280" cy="146304"/>
          </a:xfrm>
          <a:prstGeom prst="rect">
            <a:avLst/>
          </a:prstGeom>
          <a:noFill/>
          <a:ln/>
        </p:spPr>
        <p:txBody>
          <a:bodyPr wrap="square" lIns="0" tIns="0" rIns="0" bIns="0" rtlCol="0" anchor="ctr"/>
          <a:lstStyle/>
          <a:p>
            <a:pPr marL="0" indent="0">
              <a:buNone/>
            </a:pPr>
            <a:r>
              <a:rPr lang="en-US" sz="680" dirty="0">
                <a:solidFill>
                  <a:srgbClr val="5D6B82"/>
                </a:solidFill>
              </a:rPr>
              <a:t>Responsible AI Framework  •  NeuroVerse Inc. / NeuroCreate</a:t>
            </a:r>
            <a:endParaRPr lang="en-US" sz="680" dirty="0"/>
          </a:p>
        </p:txBody>
      </p:sp>
      <p:sp>
        <p:nvSpPr>
          <p:cNvPr id="5" name="Text 3"/>
          <p:cNvSpPr/>
          <p:nvPr/>
        </p:nvSpPr>
        <p:spPr>
          <a:xfrm>
            <a:off x="731520" y="1078992"/>
            <a:ext cx="10607040" cy="402336"/>
          </a:xfrm>
          <a:prstGeom prst="rect">
            <a:avLst/>
          </a:prstGeom>
          <a:noFill/>
          <a:ln/>
        </p:spPr>
        <p:txBody>
          <a:bodyPr wrap="square" lIns="254" tIns="254" rIns="254" bIns="254" rtlCol="0" anchor="ctr">
            <a:normAutofit/>
          </a:bodyPr>
          <a:lstStyle/>
          <a:p>
            <a:pPr marL="0" indent="0">
              <a:buNone/>
            </a:pPr>
            <a:r>
              <a:rPr lang="en-US" sz="1100" dirty="0">
                <a:solidFill>
                  <a:srgbClr val="172033"/>
                </a:solidFill>
              </a:rPr>
              <a:t>RAI is treated as a business operating system—not a one-time checklist. Governance sets decisions, lifecycle controls embed safeguards, metrics prove performance, and training creates shared accountability.</a:t>
            </a:r>
            <a:endParaRPr lang="en-US" sz="1100" dirty="0"/>
          </a:p>
        </p:txBody>
      </p:sp>
      <p:sp>
        <p:nvSpPr>
          <p:cNvPr id="6" name="Shape 4"/>
          <p:cNvSpPr/>
          <p:nvPr/>
        </p:nvSpPr>
        <p:spPr>
          <a:xfrm>
            <a:off x="640080" y="1874520"/>
            <a:ext cx="1965960" cy="2423160"/>
          </a:xfrm>
          <a:prstGeom prst="roundRect">
            <a:avLst>
              <a:gd name="adj" fmla="val 3721"/>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7" name="Shape 5"/>
          <p:cNvSpPr/>
          <p:nvPr/>
        </p:nvSpPr>
        <p:spPr>
          <a:xfrm>
            <a:off x="640080" y="1874520"/>
            <a:ext cx="73152" cy="2423160"/>
          </a:xfrm>
          <a:prstGeom prst="rect">
            <a:avLst/>
          </a:prstGeom>
          <a:solidFill>
            <a:srgbClr val="1E5BFF"/>
          </a:solidFill>
          <a:ln w="12700">
            <a:solidFill>
              <a:srgbClr val="1E5BFF"/>
            </a:solidFill>
            <a:prstDash val="solid"/>
          </a:ln>
        </p:spPr>
        <p:txBody>
          <a:bodyPr/>
          <a:lstStyle/>
          <a:p>
            <a:endParaRPr lang="en-US"/>
          </a:p>
        </p:txBody>
      </p:sp>
      <p:sp>
        <p:nvSpPr>
          <p:cNvPr id="8" name="Text 6"/>
          <p:cNvSpPr/>
          <p:nvPr/>
        </p:nvSpPr>
        <p:spPr>
          <a:xfrm>
            <a:off x="841248" y="2011680"/>
            <a:ext cx="163677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Principles</a:t>
            </a:r>
            <a:endParaRPr lang="en-US" sz="1400" dirty="0"/>
          </a:p>
        </p:txBody>
      </p:sp>
      <p:sp>
        <p:nvSpPr>
          <p:cNvPr id="9" name="Text 7"/>
          <p:cNvSpPr/>
          <p:nvPr/>
        </p:nvSpPr>
        <p:spPr>
          <a:xfrm>
            <a:off x="841248" y="2313432"/>
            <a:ext cx="1636776" cy="185623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Fair, transparent, private, secure, accountable, human-centered</a:t>
            </a:r>
            <a:endParaRPr lang="en-US" sz="1100" dirty="0"/>
          </a:p>
        </p:txBody>
      </p:sp>
      <p:sp>
        <p:nvSpPr>
          <p:cNvPr id="10" name="Shape 8"/>
          <p:cNvSpPr/>
          <p:nvPr/>
        </p:nvSpPr>
        <p:spPr>
          <a:xfrm>
            <a:off x="2926080" y="1874520"/>
            <a:ext cx="1965960" cy="2423160"/>
          </a:xfrm>
          <a:prstGeom prst="roundRect">
            <a:avLst>
              <a:gd name="adj" fmla="val 3721"/>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11" name="Shape 9"/>
          <p:cNvSpPr/>
          <p:nvPr/>
        </p:nvSpPr>
        <p:spPr>
          <a:xfrm>
            <a:off x="2926080" y="1874520"/>
            <a:ext cx="73152" cy="2423160"/>
          </a:xfrm>
          <a:prstGeom prst="rect">
            <a:avLst/>
          </a:prstGeom>
          <a:solidFill>
            <a:srgbClr val="16A3A3"/>
          </a:solidFill>
          <a:ln w="12700">
            <a:solidFill>
              <a:srgbClr val="16A3A3"/>
            </a:solidFill>
            <a:prstDash val="solid"/>
          </a:ln>
        </p:spPr>
        <p:txBody>
          <a:bodyPr/>
          <a:lstStyle/>
          <a:p>
            <a:endParaRPr lang="en-US"/>
          </a:p>
        </p:txBody>
      </p:sp>
      <p:sp>
        <p:nvSpPr>
          <p:cNvPr id="12" name="Text 10"/>
          <p:cNvSpPr/>
          <p:nvPr/>
        </p:nvSpPr>
        <p:spPr>
          <a:xfrm>
            <a:off x="3127248" y="2011680"/>
            <a:ext cx="163677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Governance</a:t>
            </a:r>
            <a:endParaRPr lang="en-US" sz="1400" dirty="0"/>
          </a:p>
        </p:txBody>
      </p:sp>
      <p:sp>
        <p:nvSpPr>
          <p:cNvPr id="13" name="Text 11"/>
          <p:cNvSpPr/>
          <p:nvPr/>
        </p:nvSpPr>
        <p:spPr>
          <a:xfrm>
            <a:off x="3127248" y="2313432"/>
            <a:ext cx="1636776" cy="185623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RAI Board, risk tiering, model registry, launch gates, incident review</a:t>
            </a:r>
            <a:endParaRPr lang="en-US" sz="1100" dirty="0"/>
          </a:p>
        </p:txBody>
      </p:sp>
      <p:sp>
        <p:nvSpPr>
          <p:cNvPr id="14" name="Shape 12"/>
          <p:cNvSpPr/>
          <p:nvPr/>
        </p:nvSpPr>
        <p:spPr>
          <a:xfrm>
            <a:off x="5212080" y="1874520"/>
            <a:ext cx="1965960" cy="2423160"/>
          </a:xfrm>
          <a:prstGeom prst="roundRect">
            <a:avLst>
              <a:gd name="adj" fmla="val 3721"/>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15" name="Shape 13"/>
          <p:cNvSpPr/>
          <p:nvPr/>
        </p:nvSpPr>
        <p:spPr>
          <a:xfrm>
            <a:off x="5212080" y="1874520"/>
            <a:ext cx="73152" cy="2423160"/>
          </a:xfrm>
          <a:prstGeom prst="rect">
            <a:avLst/>
          </a:prstGeom>
          <a:solidFill>
            <a:srgbClr val="6D5DF5"/>
          </a:solidFill>
          <a:ln w="12700">
            <a:solidFill>
              <a:srgbClr val="6D5DF5"/>
            </a:solidFill>
            <a:prstDash val="solid"/>
          </a:ln>
        </p:spPr>
        <p:txBody>
          <a:bodyPr/>
          <a:lstStyle/>
          <a:p>
            <a:endParaRPr lang="en-US"/>
          </a:p>
        </p:txBody>
      </p:sp>
      <p:sp>
        <p:nvSpPr>
          <p:cNvPr id="16" name="Text 14"/>
          <p:cNvSpPr/>
          <p:nvPr/>
        </p:nvSpPr>
        <p:spPr>
          <a:xfrm>
            <a:off x="5413248" y="2011680"/>
            <a:ext cx="163677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Lifecycle</a:t>
            </a:r>
            <a:endParaRPr lang="en-US" sz="1400" dirty="0"/>
          </a:p>
        </p:txBody>
      </p:sp>
      <p:sp>
        <p:nvSpPr>
          <p:cNvPr id="17" name="Text 15"/>
          <p:cNvSpPr/>
          <p:nvPr/>
        </p:nvSpPr>
        <p:spPr>
          <a:xfrm>
            <a:off x="5413248" y="2313432"/>
            <a:ext cx="1636776" cy="185623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Plan → data → build → validate → deploy → monitor → sustain → disposition</a:t>
            </a:r>
            <a:endParaRPr lang="en-US" sz="1100" dirty="0"/>
          </a:p>
        </p:txBody>
      </p:sp>
      <p:sp>
        <p:nvSpPr>
          <p:cNvPr id="18" name="Shape 16"/>
          <p:cNvSpPr/>
          <p:nvPr/>
        </p:nvSpPr>
        <p:spPr>
          <a:xfrm>
            <a:off x="7498080" y="1874520"/>
            <a:ext cx="1965960" cy="2423160"/>
          </a:xfrm>
          <a:prstGeom prst="roundRect">
            <a:avLst>
              <a:gd name="adj" fmla="val 3721"/>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19" name="Shape 17"/>
          <p:cNvSpPr/>
          <p:nvPr/>
        </p:nvSpPr>
        <p:spPr>
          <a:xfrm>
            <a:off x="7498080" y="1874520"/>
            <a:ext cx="73152" cy="2423160"/>
          </a:xfrm>
          <a:prstGeom prst="rect">
            <a:avLst/>
          </a:prstGeom>
          <a:solidFill>
            <a:srgbClr val="F0B429"/>
          </a:solidFill>
          <a:ln w="12700">
            <a:solidFill>
              <a:srgbClr val="F0B429"/>
            </a:solidFill>
            <a:prstDash val="solid"/>
          </a:ln>
        </p:spPr>
        <p:txBody>
          <a:bodyPr/>
          <a:lstStyle/>
          <a:p>
            <a:endParaRPr lang="en-US"/>
          </a:p>
        </p:txBody>
      </p:sp>
      <p:sp>
        <p:nvSpPr>
          <p:cNvPr id="20" name="Text 18"/>
          <p:cNvSpPr/>
          <p:nvPr/>
        </p:nvSpPr>
        <p:spPr>
          <a:xfrm>
            <a:off x="7699248" y="2011680"/>
            <a:ext cx="163677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Metrics</a:t>
            </a:r>
            <a:endParaRPr lang="en-US" sz="1400" dirty="0"/>
          </a:p>
        </p:txBody>
      </p:sp>
      <p:sp>
        <p:nvSpPr>
          <p:cNvPr id="21" name="Text 19"/>
          <p:cNvSpPr/>
          <p:nvPr/>
        </p:nvSpPr>
        <p:spPr>
          <a:xfrm>
            <a:off x="7699248" y="2313432"/>
            <a:ext cx="1636776" cy="185623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Bias, privacy, drift, quality, human override, trust, incident closure</a:t>
            </a:r>
            <a:endParaRPr lang="en-US" sz="1100" dirty="0"/>
          </a:p>
        </p:txBody>
      </p:sp>
      <p:sp>
        <p:nvSpPr>
          <p:cNvPr id="22" name="Shape 20"/>
          <p:cNvSpPr/>
          <p:nvPr/>
        </p:nvSpPr>
        <p:spPr>
          <a:xfrm>
            <a:off x="9784080" y="1874520"/>
            <a:ext cx="1965960" cy="2423160"/>
          </a:xfrm>
          <a:prstGeom prst="roundRect">
            <a:avLst>
              <a:gd name="adj" fmla="val 3721"/>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23" name="Shape 21"/>
          <p:cNvSpPr/>
          <p:nvPr/>
        </p:nvSpPr>
        <p:spPr>
          <a:xfrm>
            <a:off x="9784080" y="1874520"/>
            <a:ext cx="73152" cy="2423160"/>
          </a:xfrm>
          <a:prstGeom prst="rect">
            <a:avLst/>
          </a:prstGeom>
          <a:solidFill>
            <a:srgbClr val="2E7D32"/>
          </a:solidFill>
          <a:ln w="12700">
            <a:solidFill>
              <a:srgbClr val="2E7D32"/>
            </a:solidFill>
            <a:prstDash val="solid"/>
          </a:ln>
        </p:spPr>
        <p:txBody>
          <a:bodyPr/>
          <a:lstStyle/>
          <a:p>
            <a:endParaRPr lang="en-US"/>
          </a:p>
        </p:txBody>
      </p:sp>
      <p:sp>
        <p:nvSpPr>
          <p:cNvPr id="24" name="Text 22"/>
          <p:cNvSpPr/>
          <p:nvPr/>
        </p:nvSpPr>
        <p:spPr>
          <a:xfrm>
            <a:off x="9985248" y="2011680"/>
            <a:ext cx="163677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Culture</a:t>
            </a:r>
            <a:endParaRPr lang="en-US" sz="1400" dirty="0"/>
          </a:p>
        </p:txBody>
      </p:sp>
      <p:sp>
        <p:nvSpPr>
          <p:cNvPr id="25" name="Text 23"/>
          <p:cNvSpPr/>
          <p:nvPr/>
        </p:nvSpPr>
        <p:spPr>
          <a:xfrm>
            <a:off x="9985248" y="2313432"/>
            <a:ext cx="1636776" cy="185623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Role-based training, customer guidance, appeal paths, documentation habits</a:t>
            </a:r>
            <a:endParaRPr lang="en-US" sz="1100" dirty="0"/>
          </a:p>
        </p:txBody>
      </p:sp>
      <p:sp>
        <p:nvSpPr>
          <p:cNvPr id="26" name="Shape 24"/>
          <p:cNvSpPr/>
          <p:nvPr/>
        </p:nvSpPr>
        <p:spPr>
          <a:xfrm>
            <a:off x="1234440" y="4800600"/>
            <a:ext cx="9692640" cy="502920"/>
          </a:xfrm>
          <a:prstGeom prst="chevron">
            <a:avLst/>
          </a:prstGeom>
          <a:solidFill>
            <a:srgbClr val="EAF1F8"/>
          </a:solidFill>
          <a:ln w="12700">
            <a:solidFill>
              <a:srgbClr val="D5DEE8"/>
            </a:solidFill>
            <a:prstDash val="solid"/>
          </a:ln>
        </p:spPr>
        <p:txBody>
          <a:bodyPr/>
          <a:lstStyle/>
          <a:p>
            <a:endParaRPr lang="en-US"/>
          </a:p>
        </p:txBody>
      </p:sp>
      <p:sp>
        <p:nvSpPr>
          <p:cNvPr id="27" name="Text 25"/>
          <p:cNvSpPr/>
          <p:nvPr/>
        </p:nvSpPr>
        <p:spPr>
          <a:xfrm>
            <a:off x="1828800" y="4965192"/>
            <a:ext cx="8503920" cy="164592"/>
          </a:xfrm>
          <a:prstGeom prst="rect">
            <a:avLst/>
          </a:prstGeom>
          <a:noFill/>
          <a:ln/>
        </p:spPr>
        <p:txBody>
          <a:bodyPr wrap="square" lIns="0" tIns="0" rIns="0" bIns="0" rtlCol="0" anchor="ctr"/>
          <a:lstStyle/>
          <a:p>
            <a:pPr marL="0" indent="0" algn="ctr">
              <a:buNone/>
            </a:pPr>
            <a:r>
              <a:rPr lang="en-US" sz="1000" b="1" dirty="0">
                <a:solidFill>
                  <a:srgbClr val="0B1F3A"/>
                </a:solidFill>
              </a:rPr>
              <a:t>Target outcome: AI products that are effective, compliant, explainable, monitored, and safe to retire.</a:t>
            </a:r>
            <a:endParaRPr lang="en-US" sz="1000" dirty="0"/>
          </a:p>
        </p:txBody>
      </p:sp>
      <p:sp>
        <p:nvSpPr>
          <p:cNvPr id="28" name="Slide Number Placeholder 0"/>
          <p:cNvSpPr>
            <a:spLocks noGrp="1"/>
          </p:cNvSpPr>
          <p:nvPr>
            <p:ph type="sldNum" sz="quarter" idx="4294967295"/>
          </p:nvPr>
        </p:nvSpPr>
        <p:spPr>
          <a:xfrm>
            <a:off x="11475720" y="662940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237744"/>
            <a:ext cx="5303520" cy="201168"/>
          </a:xfrm>
          <a:prstGeom prst="rect">
            <a:avLst/>
          </a:prstGeom>
          <a:noFill/>
          <a:ln/>
        </p:spPr>
        <p:txBody>
          <a:bodyPr wrap="square" lIns="0" tIns="0" rIns="0" bIns="0" rtlCol="0" anchor="ctr"/>
          <a:lstStyle/>
          <a:p>
            <a:pPr marL="0" indent="0">
              <a:buNone/>
            </a:pPr>
            <a:r>
              <a:rPr lang="en-US" sz="800" b="1" dirty="0">
                <a:solidFill>
                  <a:srgbClr val="1E5BFF"/>
                </a:solidFill>
                <a:latin typeface="Aptos" pitchFamily="34" charset="0"/>
                <a:ea typeface="Aptos" pitchFamily="34" charset="-122"/>
                <a:cs typeface="Aptos" pitchFamily="34" charset="-120"/>
              </a:rPr>
              <a:t>NEUROVERSE INC.</a:t>
            </a:r>
            <a:endParaRPr lang="en-US" sz="800" dirty="0"/>
          </a:p>
        </p:txBody>
      </p:sp>
      <p:sp>
        <p:nvSpPr>
          <p:cNvPr id="3" name="Text 1"/>
          <p:cNvSpPr/>
          <p:nvPr/>
        </p:nvSpPr>
        <p:spPr>
          <a:xfrm>
            <a:off x="594360" y="502920"/>
            <a:ext cx="10789920" cy="411480"/>
          </a:xfrm>
          <a:prstGeom prst="rect">
            <a:avLst/>
          </a:prstGeom>
          <a:noFill/>
          <a:ln/>
        </p:spPr>
        <p:txBody>
          <a:bodyPr wrap="square" lIns="0" tIns="0" rIns="0" bIns="0" rtlCol="0" anchor="ctr">
            <a:normAutofit/>
          </a:bodyP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Organizational context and AI use cases</a:t>
            </a:r>
            <a:endParaRPr lang="en-US" sz="3000" dirty="0"/>
          </a:p>
        </p:txBody>
      </p:sp>
      <p:sp>
        <p:nvSpPr>
          <p:cNvPr id="4" name="Text 2"/>
          <p:cNvSpPr/>
          <p:nvPr/>
        </p:nvSpPr>
        <p:spPr>
          <a:xfrm>
            <a:off x="594360" y="6611112"/>
            <a:ext cx="5669280" cy="146304"/>
          </a:xfrm>
          <a:prstGeom prst="rect">
            <a:avLst/>
          </a:prstGeom>
          <a:noFill/>
          <a:ln/>
        </p:spPr>
        <p:txBody>
          <a:bodyPr wrap="square" lIns="0" tIns="0" rIns="0" bIns="0" rtlCol="0" anchor="ctr"/>
          <a:lstStyle/>
          <a:p>
            <a:pPr marL="0" indent="0">
              <a:buNone/>
            </a:pPr>
            <a:r>
              <a:rPr lang="en-US" sz="680" dirty="0">
                <a:solidFill>
                  <a:srgbClr val="5D6B82"/>
                </a:solidFill>
              </a:rPr>
              <a:t>Responsible AI Framework  •  NeuroVerse Inc. / NeuroCreate</a:t>
            </a:r>
            <a:endParaRPr lang="en-US" sz="680" dirty="0"/>
          </a:p>
        </p:txBody>
      </p:sp>
      <p:sp>
        <p:nvSpPr>
          <p:cNvPr id="5" name="Shape 3"/>
          <p:cNvSpPr/>
          <p:nvPr/>
        </p:nvSpPr>
        <p:spPr>
          <a:xfrm>
            <a:off x="640080" y="1115568"/>
            <a:ext cx="3703320" cy="4389120"/>
          </a:xfrm>
          <a:prstGeom prst="roundRect">
            <a:avLst>
              <a:gd name="adj" fmla="val 1975"/>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6" name="Shape 4"/>
          <p:cNvSpPr/>
          <p:nvPr/>
        </p:nvSpPr>
        <p:spPr>
          <a:xfrm>
            <a:off x="640080" y="1115568"/>
            <a:ext cx="73152" cy="4389120"/>
          </a:xfrm>
          <a:prstGeom prst="rect">
            <a:avLst/>
          </a:prstGeom>
          <a:solidFill>
            <a:srgbClr val="1E5BFF"/>
          </a:solidFill>
          <a:ln w="12700">
            <a:solidFill>
              <a:srgbClr val="1E5BFF"/>
            </a:solidFill>
            <a:prstDash val="solid"/>
          </a:ln>
        </p:spPr>
        <p:txBody>
          <a:bodyPr/>
          <a:lstStyle/>
          <a:p>
            <a:endParaRPr lang="en-US"/>
          </a:p>
        </p:txBody>
      </p:sp>
      <p:sp>
        <p:nvSpPr>
          <p:cNvPr id="7" name="Text 5"/>
          <p:cNvSpPr/>
          <p:nvPr/>
        </p:nvSpPr>
        <p:spPr>
          <a:xfrm>
            <a:off x="841248" y="1252728"/>
            <a:ext cx="337413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Company profile</a:t>
            </a:r>
            <a:endParaRPr lang="en-US" sz="1400" dirty="0"/>
          </a:p>
        </p:txBody>
      </p:sp>
      <p:sp>
        <p:nvSpPr>
          <p:cNvPr id="8" name="Text 6"/>
          <p:cNvSpPr/>
          <p:nvPr/>
        </p:nvSpPr>
        <p:spPr>
          <a:xfrm>
            <a:off x="841248" y="1554480"/>
            <a:ext cx="3374136" cy="382219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NeuroVerse Inc. develops NeuroCreate, a U.S.-based generative AI platform for marketing teams, small businesses, agencies, and content creators. The framework is built to support responsible innovation at global scale.</a:t>
            </a:r>
            <a:endParaRPr lang="en-US" sz="1100" dirty="0"/>
          </a:p>
        </p:txBody>
      </p:sp>
      <p:sp>
        <p:nvSpPr>
          <p:cNvPr id="9" name="Shape 7"/>
          <p:cNvSpPr/>
          <p:nvPr/>
        </p:nvSpPr>
        <p:spPr>
          <a:xfrm>
            <a:off x="4709160" y="1124712"/>
            <a:ext cx="2971800" cy="941832"/>
          </a:xfrm>
          <a:prstGeom prst="roundRect">
            <a:avLst>
              <a:gd name="adj" fmla="val 7767"/>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10" name="Shape 8"/>
          <p:cNvSpPr/>
          <p:nvPr/>
        </p:nvSpPr>
        <p:spPr>
          <a:xfrm>
            <a:off x="4709160" y="1124712"/>
            <a:ext cx="73152" cy="941832"/>
          </a:xfrm>
          <a:prstGeom prst="rect">
            <a:avLst/>
          </a:prstGeom>
          <a:solidFill>
            <a:srgbClr val="16A3A3"/>
          </a:solidFill>
          <a:ln w="12700">
            <a:solidFill>
              <a:srgbClr val="16A3A3"/>
            </a:solidFill>
            <a:prstDash val="solid"/>
          </a:ln>
        </p:spPr>
        <p:txBody>
          <a:bodyPr/>
          <a:lstStyle/>
          <a:p>
            <a:endParaRPr lang="en-US"/>
          </a:p>
        </p:txBody>
      </p:sp>
      <p:sp>
        <p:nvSpPr>
          <p:cNvPr id="11" name="Text 9"/>
          <p:cNvSpPr/>
          <p:nvPr/>
        </p:nvSpPr>
        <p:spPr>
          <a:xfrm>
            <a:off x="4910328" y="1261872"/>
            <a:ext cx="264261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Marketing content generation</a:t>
            </a:r>
            <a:endParaRPr lang="en-US" sz="1400" dirty="0"/>
          </a:p>
        </p:txBody>
      </p:sp>
      <p:sp>
        <p:nvSpPr>
          <p:cNvPr id="12" name="Text 10"/>
          <p:cNvSpPr/>
          <p:nvPr/>
        </p:nvSpPr>
        <p:spPr>
          <a:xfrm>
            <a:off x="4910328" y="1563624"/>
            <a:ext cx="2642616" cy="374904"/>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Ads, blogs, email, and social posts</a:t>
            </a:r>
            <a:endParaRPr lang="en-US" sz="1100" dirty="0"/>
          </a:p>
        </p:txBody>
      </p:sp>
      <p:sp>
        <p:nvSpPr>
          <p:cNvPr id="13" name="Shape 11"/>
          <p:cNvSpPr/>
          <p:nvPr/>
        </p:nvSpPr>
        <p:spPr>
          <a:xfrm>
            <a:off x="8001000" y="1124712"/>
            <a:ext cx="2971800" cy="941832"/>
          </a:xfrm>
          <a:prstGeom prst="roundRect">
            <a:avLst>
              <a:gd name="adj" fmla="val 7767"/>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14" name="Shape 12"/>
          <p:cNvSpPr/>
          <p:nvPr/>
        </p:nvSpPr>
        <p:spPr>
          <a:xfrm>
            <a:off x="8001000" y="1124712"/>
            <a:ext cx="73152" cy="941832"/>
          </a:xfrm>
          <a:prstGeom prst="rect">
            <a:avLst/>
          </a:prstGeom>
          <a:solidFill>
            <a:srgbClr val="6D5DF5"/>
          </a:solidFill>
          <a:ln w="12700">
            <a:solidFill>
              <a:srgbClr val="6D5DF5"/>
            </a:solidFill>
            <a:prstDash val="solid"/>
          </a:ln>
        </p:spPr>
        <p:txBody>
          <a:bodyPr/>
          <a:lstStyle/>
          <a:p>
            <a:endParaRPr lang="en-US"/>
          </a:p>
        </p:txBody>
      </p:sp>
      <p:sp>
        <p:nvSpPr>
          <p:cNvPr id="15" name="Text 13"/>
          <p:cNvSpPr/>
          <p:nvPr/>
        </p:nvSpPr>
        <p:spPr>
          <a:xfrm>
            <a:off x="8202168" y="1261872"/>
            <a:ext cx="264261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Personalized campaigns</a:t>
            </a:r>
            <a:endParaRPr lang="en-US" sz="1400" dirty="0"/>
          </a:p>
        </p:txBody>
      </p:sp>
      <p:sp>
        <p:nvSpPr>
          <p:cNvPr id="16" name="Text 14"/>
          <p:cNvSpPr/>
          <p:nvPr/>
        </p:nvSpPr>
        <p:spPr>
          <a:xfrm>
            <a:off x="8202168" y="1563624"/>
            <a:ext cx="2642616" cy="374904"/>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Content suggestions from preferences and analytics</a:t>
            </a:r>
            <a:endParaRPr lang="en-US" sz="1100" dirty="0"/>
          </a:p>
        </p:txBody>
      </p:sp>
      <p:sp>
        <p:nvSpPr>
          <p:cNvPr id="17" name="Shape 15"/>
          <p:cNvSpPr/>
          <p:nvPr/>
        </p:nvSpPr>
        <p:spPr>
          <a:xfrm>
            <a:off x="4709160" y="2359152"/>
            <a:ext cx="2971800" cy="941832"/>
          </a:xfrm>
          <a:prstGeom prst="roundRect">
            <a:avLst>
              <a:gd name="adj" fmla="val 7767"/>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18" name="Shape 16"/>
          <p:cNvSpPr/>
          <p:nvPr/>
        </p:nvSpPr>
        <p:spPr>
          <a:xfrm>
            <a:off x="4709160" y="2359152"/>
            <a:ext cx="73152" cy="941832"/>
          </a:xfrm>
          <a:prstGeom prst="rect">
            <a:avLst/>
          </a:prstGeom>
          <a:solidFill>
            <a:srgbClr val="F0B429"/>
          </a:solidFill>
          <a:ln w="12700">
            <a:solidFill>
              <a:srgbClr val="F0B429"/>
            </a:solidFill>
            <a:prstDash val="solid"/>
          </a:ln>
        </p:spPr>
        <p:txBody>
          <a:bodyPr/>
          <a:lstStyle/>
          <a:p>
            <a:endParaRPr lang="en-US"/>
          </a:p>
        </p:txBody>
      </p:sp>
      <p:sp>
        <p:nvSpPr>
          <p:cNvPr id="19" name="Text 17"/>
          <p:cNvSpPr/>
          <p:nvPr/>
        </p:nvSpPr>
        <p:spPr>
          <a:xfrm>
            <a:off x="4910328" y="2496312"/>
            <a:ext cx="264261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Translation &amp; localization</a:t>
            </a:r>
            <a:endParaRPr lang="en-US" sz="1400" dirty="0"/>
          </a:p>
        </p:txBody>
      </p:sp>
      <p:sp>
        <p:nvSpPr>
          <p:cNvPr id="20" name="Text 18"/>
          <p:cNvSpPr/>
          <p:nvPr/>
        </p:nvSpPr>
        <p:spPr>
          <a:xfrm>
            <a:off x="4910328" y="2798064"/>
            <a:ext cx="2642616" cy="374904"/>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Multilingual adaptation and cultural fit checks</a:t>
            </a:r>
            <a:endParaRPr lang="en-US" sz="1100" dirty="0"/>
          </a:p>
        </p:txBody>
      </p:sp>
      <p:sp>
        <p:nvSpPr>
          <p:cNvPr id="21" name="Shape 19"/>
          <p:cNvSpPr/>
          <p:nvPr/>
        </p:nvSpPr>
        <p:spPr>
          <a:xfrm>
            <a:off x="8001000" y="2359152"/>
            <a:ext cx="2971800" cy="941832"/>
          </a:xfrm>
          <a:prstGeom prst="roundRect">
            <a:avLst>
              <a:gd name="adj" fmla="val 7767"/>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22" name="Shape 20"/>
          <p:cNvSpPr/>
          <p:nvPr/>
        </p:nvSpPr>
        <p:spPr>
          <a:xfrm>
            <a:off x="8001000" y="2359152"/>
            <a:ext cx="73152" cy="941832"/>
          </a:xfrm>
          <a:prstGeom prst="rect">
            <a:avLst/>
          </a:prstGeom>
          <a:solidFill>
            <a:srgbClr val="2E7D32"/>
          </a:solidFill>
          <a:ln w="12700">
            <a:solidFill>
              <a:srgbClr val="2E7D32"/>
            </a:solidFill>
            <a:prstDash val="solid"/>
          </a:ln>
        </p:spPr>
        <p:txBody>
          <a:bodyPr/>
          <a:lstStyle/>
          <a:p>
            <a:endParaRPr lang="en-US"/>
          </a:p>
        </p:txBody>
      </p:sp>
      <p:sp>
        <p:nvSpPr>
          <p:cNvPr id="23" name="Text 21"/>
          <p:cNvSpPr/>
          <p:nvPr/>
        </p:nvSpPr>
        <p:spPr>
          <a:xfrm>
            <a:off x="8202168" y="2496312"/>
            <a:ext cx="264261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Engagement analytics</a:t>
            </a:r>
            <a:endParaRPr lang="en-US" sz="1400" dirty="0"/>
          </a:p>
        </p:txBody>
      </p:sp>
      <p:sp>
        <p:nvSpPr>
          <p:cNvPr id="24" name="Text 22"/>
          <p:cNvSpPr/>
          <p:nvPr/>
        </p:nvSpPr>
        <p:spPr>
          <a:xfrm>
            <a:off x="8202168" y="2798064"/>
            <a:ext cx="2642616" cy="374904"/>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Performance insights and campaign optimization</a:t>
            </a:r>
            <a:endParaRPr lang="en-US" sz="1100" dirty="0"/>
          </a:p>
        </p:txBody>
      </p:sp>
      <p:sp>
        <p:nvSpPr>
          <p:cNvPr id="25" name="Shape 23"/>
          <p:cNvSpPr/>
          <p:nvPr/>
        </p:nvSpPr>
        <p:spPr>
          <a:xfrm>
            <a:off x="4709160" y="3593592"/>
            <a:ext cx="2971800" cy="941832"/>
          </a:xfrm>
          <a:prstGeom prst="roundRect">
            <a:avLst>
              <a:gd name="adj" fmla="val 7767"/>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26" name="Shape 24"/>
          <p:cNvSpPr/>
          <p:nvPr/>
        </p:nvSpPr>
        <p:spPr>
          <a:xfrm>
            <a:off x="4709160" y="3593592"/>
            <a:ext cx="73152" cy="941832"/>
          </a:xfrm>
          <a:prstGeom prst="rect">
            <a:avLst/>
          </a:prstGeom>
          <a:solidFill>
            <a:srgbClr val="1E5BFF"/>
          </a:solidFill>
          <a:ln w="12700">
            <a:solidFill>
              <a:srgbClr val="1E5BFF"/>
            </a:solidFill>
            <a:prstDash val="solid"/>
          </a:ln>
        </p:spPr>
        <p:txBody>
          <a:bodyPr/>
          <a:lstStyle/>
          <a:p>
            <a:endParaRPr lang="en-US"/>
          </a:p>
        </p:txBody>
      </p:sp>
      <p:sp>
        <p:nvSpPr>
          <p:cNvPr id="27" name="Text 25"/>
          <p:cNvSpPr/>
          <p:nvPr/>
        </p:nvSpPr>
        <p:spPr>
          <a:xfrm>
            <a:off x="4910328" y="3730752"/>
            <a:ext cx="264261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Support chatbot</a:t>
            </a:r>
            <a:endParaRPr lang="en-US" sz="1400" dirty="0"/>
          </a:p>
        </p:txBody>
      </p:sp>
      <p:sp>
        <p:nvSpPr>
          <p:cNvPr id="28" name="Text 26"/>
          <p:cNvSpPr/>
          <p:nvPr/>
        </p:nvSpPr>
        <p:spPr>
          <a:xfrm>
            <a:off x="4910328" y="4032504"/>
            <a:ext cx="2642616" cy="374904"/>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Customer questions and workflow guidance</a:t>
            </a:r>
            <a:endParaRPr lang="en-US" sz="1100" dirty="0"/>
          </a:p>
        </p:txBody>
      </p:sp>
      <p:sp>
        <p:nvSpPr>
          <p:cNvPr id="29" name="Shape 27"/>
          <p:cNvSpPr/>
          <p:nvPr/>
        </p:nvSpPr>
        <p:spPr>
          <a:xfrm>
            <a:off x="8001000" y="3593592"/>
            <a:ext cx="2971800" cy="941832"/>
          </a:xfrm>
          <a:prstGeom prst="roundRect">
            <a:avLst>
              <a:gd name="adj" fmla="val 7767"/>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30" name="Shape 28"/>
          <p:cNvSpPr/>
          <p:nvPr/>
        </p:nvSpPr>
        <p:spPr>
          <a:xfrm>
            <a:off x="8001000" y="3593592"/>
            <a:ext cx="73152" cy="941832"/>
          </a:xfrm>
          <a:prstGeom prst="rect">
            <a:avLst/>
          </a:prstGeom>
          <a:solidFill>
            <a:srgbClr val="C62828"/>
          </a:solidFill>
          <a:ln w="12700">
            <a:solidFill>
              <a:srgbClr val="C62828"/>
            </a:solidFill>
            <a:prstDash val="solid"/>
          </a:ln>
        </p:spPr>
        <p:txBody>
          <a:bodyPr/>
          <a:lstStyle/>
          <a:p>
            <a:endParaRPr lang="en-US"/>
          </a:p>
        </p:txBody>
      </p:sp>
      <p:sp>
        <p:nvSpPr>
          <p:cNvPr id="31" name="Text 29"/>
          <p:cNvSpPr/>
          <p:nvPr/>
        </p:nvSpPr>
        <p:spPr>
          <a:xfrm>
            <a:off x="8202168" y="3730752"/>
            <a:ext cx="264261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Image/voice generation</a:t>
            </a:r>
            <a:endParaRPr lang="en-US" sz="1400" dirty="0"/>
          </a:p>
        </p:txBody>
      </p:sp>
      <p:sp>
        <p:nvSpPr>
          <p:cNvPr id="32" name="Text 30"/>
          <p:cNvSpPr/>
          <p:nvPr/>
        </p:nvSpPr>
        <p:spPr>
          <a:xfrm>
            <a:off x="8202168" y="4032504"/>
            <a:ext cx="2642616" cy="374904"/>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Creative assets with consent and IP controls</a:t>
            </a:r>
            <a:endParaRPr lang="en-US" sz="1100" dirty="0"/>
          </a:p>
        </p:txBody>
      </p:sp>
      <p:sp>
        <p:nvSpPr>
          <p:cNvPr id="33" name="Text 31"/>
          <p:cNvSpPr/>
          <p:nvPr/>
        </p:nvSpPr>
        <p:spPr>
          <a:xfrm>
            <a:off x="4709160" y="5029200"/>
            <a:ext cx="6492240" cy="393192"/>
          </a:xfrm>
          <a:prstGeom prst="rect">
            <a:avLst/>
          </a:prstGeom>
          <a:noFill/>
          <a:ln/>
        </p:spPr>
        <p:txBody>
          <a:bodyPr wrap="square" lIns="635" tIns="635" rIns="635" bIns="635" rtlCol="0" anchor="ctr">
            <a:normAutofit/>
          </a:bodyPr>
          <a:lstStyle/>
          <a:p>
            <a:pPr marL="0" indent="0">
              <a:buNone/>
            </a:pPr>
            <a:r>
              <a:rPr lang="en-US" sz="1000" b="1" dirty="0">
                <a:solidFill>
                  <a:srgbClr val="0B1F3A"/>
                </a:solidFill>
              </a:rPr>
              <a:t>Primary risk themes: content bias, misinformation, data privacy, security, intellectual property, employee impact, customer trust, and regulatory compliance.</a:t>
            </a:r>
            <a:endParaRPr lang="en-US" sz="1000" dirty="0"/>
          </a:p>
        </p:txBody>
      </p:sp>
      <p:sp>
        <p:nvSpPr>
          <p:cNvPr id="34" name="Slide Number Placeholder 0"/>
          <p:cNvSpPr>
            <a:spLocks noGrp="1"/>
          </p:cNvSpPr>
          <p:nvPr>
            <p:ph type="sldNum" sz="quarter" idx="4294967295"/>
          </p:nvPr>
        </p:nvSpPr>
        <p:spPr>
          <a:xfrm>
            <a:off x="11475720" y="662940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237744"/>
            <a:ext cx="5303520" cy="201168"/>
          </a:xfrm>
          <a:prstGeom prst="rect">
            <a:avLst/>
          </a:prstGeom>
          <a:noFill/>
          <a:ln/>
        </p:spPr>
        <p:txBody>
          <a:bodyPr wrap="square" lIns="0" tIns="0" rIns="0" bIns="0" rtlCol="0" anchor="ctr"/>
          <a:lstStyle/>
          <a:p>
            <a:pPr marL="0" indent="0">
              <a:buNone/>
            </a:pPr>
            <a:r>
              <a:rPr lang="en-US" sz="800" b="1" dirty="0">
                <a:solidFill>
                  <a:srgbClr val="1E5BFF"/>
                </a:solidFill>
                <a:latin typeface="Aptos" pitchFamily="34" charset="0"/>
                <a:ea typeface="Aptos" pitchFamily="34" charset="-122"/>
                <a:cs typeface="Aptos" pitchFamily="34" charset="-120"/>
              </a:rPr>
              <a:t>HIGH-QUALITY RAI COMMITMENT</a:t>
            </a:r>
            <a:endParaRPr lang="en-US" sz="800" dirty="0"/>
          </a:p>
        </p:txBody>
      </p:sp>
      <p:sp>
        <p:nvSpPr>
          <p:cNvPr id="3" name="Text 1"/>
          <p:cNvSpPr/>
          <p:nvPr/>
        </p:nvSpPr>
        <p:spPr>
          <a:xfrm>
            <a:off x="594360" y="502920"/>
            <a:ext cx="10789920" cy="411480"/>
          </a:xfrm>
          <a:prstGeom prst="rect">
            <a:avLst/>
          </a:prstGeom>
          <a:noFill/>
          <a:ln/>
        </p:spPr>
        <p:txBody>
          <a:bodyPr wrap="square" lIns="0" tIns="0" rIns="0" bIns="0" rtlCol="0" anchor="ctr">
            <a:normAutofit/>
          </a:bodyP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Ethical principles statement</a:t>
            </a:r>
            <a:endParaRPr lang="en-US" sz="3000" dirty="0"/>
          </a:p>
        </p:txBody>
      </p:sp>
      <p:sp>
        <p:nvSpPr>
          <p:cNvPr id="4" name="Text 2"/>
          <p:cNvSpPr/>
          <p:nvPr/>
        </p:nvSpPr>
        <p:spPr>
          <a:xfrm>
            <a:off x="594360" y="6611112"/>
            <a:ext cx="5669280" cy="146304"/>
          </a:xfrm>
          <a:prstGeom prst="rect">
            <a:avLst/>
          </a:prstGeom>
          <a:noFill/>
          <a:ln/>
        </p:spPr>
        <p:txBody>
          <a:bodyPr wrap="square" lIns="0" tIns="0" rIns="0" bIns="0" rtlCol="0" anchor="ctr"/>
          <a:lstStyle/>
          <a:p>
            <a:pPr marL="0" indent="0">
              <a:buNone/>
            </a:pPr>
            <a:r>
              <a:rPr lang="en-US" sz="680" dirty="0">
                <a:solidFill>
                  <a:srgbClr val="5D6B82"/>
                </a:solidFill>
              </a:rPr>
              <a:t>Responsible AI Framework  •  NeuroVerse Inc. / NeuroCreate</a:t>
            </a:r>
            <a:endParaRPr lang="en-US" sz="680" dirty="0"/>
          </a:p>
        </p:txBody>
      </p:sp>
      <p:sp>
        <p:nvSpPr>
          <p:cNvPr id="5" name="Shape 3"/>
          <p:cNvSpPr/>
          <p:nvPr/>
        </p:nvSpPr>
        <p:spPr>
          <a:xfrm>
            <a:off x="731520" y="1078992"/>
            <a:ext cx="10744200" cy="960120"/>
          </a:xfrm>
          <a:prstGeom prst="roundRect">
            <a:avLst>
              <a:gd name="adj" fmla="val 7619"/>
            </a:avLst>
          </a:prstGeom>
          <a:solidFill>
            <a:srgbClr val="0B1F3A"/>
          </a:solidFill>
          <a:ln w="12700">
            <a:solidFill>
              <a:srgbClr val="0B1F3A"/>
            </a:solidFill>
            <a:prstDash val="solid"/>
          </a:ln>
        </p:spPr>
        <p:txBody>
          <a:bodyPr/>
          <a:lstStyle/>
          <a:p>
            <a:endParaRPr lang="en-US"/>
          </a:p>
        </p:txBody>
      </p:sp>
      <p:sp>
        <p:nvSpPr>
          <p:cNvPr id="6" name="Text 4"/>
          <p:cNvSpPr/>
          <p:nvPr/>
        </p:nvSpPr>
        <p:spPr>
          <a:xfrm>
            <a:off x="1005840" y="1298448"/>
            <a:ext cx="10195560" cy="420624"/>
          </a:xfrm>
          <a:prstGeom prst="rect">
            <a:avLst/>
          </a:prstGeom>
          <a:noFill/>
          <a:ln/>
        </p:spPr>
        <p:txBody>
          <a:bodyPr wrap="square" lIns="381" tIns="381" rIns="381" bIns="381" rtlCol="0" anchor="ctr">
            <a:normAutofit/>
          </a:bodyPr>
          <a:lstStyle/>
          <a:p>
            <a:pPr marL="0" indent="0" algn="ctr">
              <a:buNone/>
            </a:pPr>
            <a:r>
              <a:rPr lang="en-US" sz="1400" b="1" dirty="0">
                <a:solidFill>
                  <a:srgbClr val="FFFFFF"/>
                </a:solidFill>
              </a:rPr>
              <a:t>NeuroVerse will design, develop, procure, deploy, and retire AI systems in ways that protect human dignity, customer rights, privacy, security, and fairness. We will not use AI to manipulate users, hide meaningful limitations, or remove human accountability for consequential decisions.</a:t>
            </a:r>
            <a:endParaRPr lang="en-US" sz="1400" dirty="0"/>
          </a:p>
        </p:txBody>
      </p:sp>
      <p:sp>
        <p:nvSpPr>
          <p:cNvPr id="7" name="Shape 5"/>
          <p:cNvSpPr/>
          <p:nvPr/>
        </p:nvSpPr>
        <p:spPr>
          <a:xfrm>
            <a:off x="822960" y="2514600"/>
            <a:ext cx="3383280" cy="1005840"/>
          </a:xfrm>
          <a:prstGeom prst="roundRect">
            <a:avLst>
              <a:gd name="adj" fmla="val 7273"/>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8" name="Shape 6"/>
          <p:cNvSpPr/>
          <p:nvPr/>
        </p:nvSpPr>
        <p:spPr>
          <a:xfrm>
            <a:off x="822960" y="2514600"/>
            <a:ext cx="73152" cy="1005840"/>
          </a:xfrm>
          <a:prstGeom prst="rect">
            <a:avLst/>
          </a:prstGeom>
          <a:solidFill>
            <a:srgbClr val="1E5BFF"/>
          </a:solidFill>
          <a:ln w="12700">
            <a:solidFill>
              <a:srgbClr val="1E5BFF"/>
            </a:solidFill>
            <a:prstDash val="solid"/>
          </a:ln>
        </p:spPr>
        <p:txBody>
          <a:bodyPr/>
          <a:lstStyle/>
          <a:p>
            <a:endParaRPr lang="en-US"/>
          </a:p>
        </p:txBody>
      </p:sp>
      <p:sp>
        <p:nvSpPr>
          <p:cNvPr id="9" name="Text 7"/>
          <p:cNvSpPr/>
          <p:nvPr/>
        </p:nvSpPr>
        <p:spPr>
          <a:xfrm>
            <a:off x="1024128" y="2651760"/>
            <a:ext cx="305409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Fairness</a:t>
            </a:r>
            <a:endParaRPr lang="en-US" sz="1400" dirty="0"/>
          </a:p>
        </p:txBody>
      </p:sp>
      <p:sp>
        <p:nvSpPr>
          <p:cNvPr id="10" name="Text 8"/>
          <p:cNvSpPr/>
          <p:nvPr/>
        </p:nvSpPr>
        <p:spPr>
          <a:xfrm>
            <a:off x="1024128" y="2953512"/>
            <a:ext cx="3054096" cy="43891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Test and reduce harmful bias across protected and relevant user groups.</a:t>
            </a:r>
            <a:endParaRPr lang="en-US" sz="1100" dirty="0"/>
          </a:p>
        </p:txBody>
      </p:sp>
      <p:sp>
        <p:nvSpPr>
          <p:cNvPr id="11" name="Shape 9"/>
          <p:cNvSpPr/>
          <p:nvPr/>
        </p:nvSpPr>
        <p:spPr>
          <a:xfrm>
            <a:off x="4572000" y="2514600"/>
            <a:ext cx="3383280" cy="1005840"/>
          </a:xfrm>
          <a:prstGeom prst="roundRect">
            <a:avLst>
              <a:gd name="adj" fmla="val 7273"/>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12" name="Shape 10"/>
          <p:cNvSpPr/>
          <p:nvPr/>
        </p:nvSpPr>
        <p:spPr>
          <a:xfrm>
            <a:off x="4572000" y="2514600"/>
            <a:ext cx="73152" cy="1005840"/>
          </a:xfrm>
          <a:prstGeom prst="rect">
            <a:avLst/>
          </a:prstGeom>
          <a:solidFill>
            <a:srgbClr val="16A3A3"/>
          </a:solidFill>
          <a:ln w="12700">
            <a:solidFill>
              <a:srgbClr val="16A3A3"/>
            </a:solidFill>
            <a:prstDash val="solid"/>
          </a:ln>
        </p:spPr>
        <p:txBody>
          <a:bodyPr/>
          <a:lstStyle/>
          <a:p>
            <a:endParaRPr lang="en-US"/>
          </a:p>
        </p:txBody>
      </p:sp>
      <p:sp>
        <p:nvSpPr>
          <p:cNvPr id="13" name="Text 11"/>
          <p:cNvSpPr/>
          <p:nvPr/>
        </p:nvSpPr>
        <p:spPr>
          <a:xfrm>
            <a:off x="4773168" y="2651760"/>
            <a:ext cx="305409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Transparency</a:t>
            </a:r>
            <a:endParaRPr lang="en-US" sz="1400" dirty="0"/>
          </a:p>
        </p:txBody>
      </p:sp>
      <p:sp>
        <p:nvSpPr>
          <p:cNvPr id="14" name="Text 12"/>
          <p:cNvSpPr/>
          <p:nvPr/>
        </p:nvSpPr>
        <p:spPr>
          <a:xfrm>
            <a:off x="4773168" y="2953512"/>
            <a:ext cx="3054096" cy="43891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Disclose when AI is used and explain outputs at the right level for users.</a:t>
            </a:r>
            <a:endParaRPr lang="en-US" sz="1100" dirty="0"/>
          </a:p>
        </p:txBody>
      </p:sp>
      <p:sp>
        <p:nvSpPr>
          <p:cNvPr id="15" name="Shape 13"/>
          <p:cNvSpPr/>
          <p:nvPr/>
        </p:nvSpPr>
        <p:spPr>
          <a:xfrm>
            <a:off x="8321040" y="2514600"/>
            <a:ext cx="3383280" cy="1005840"/>
          </a:xfrm>
          <a:prstGeom prst="roundRect">
            <a:avLst>
              <a:gd name="adj" fmla="val 7273"/>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16" name="Shape 14"/>
          <p:cNvSpPr/>
          <p:nvPr/>
        </p:nvSpPr>
        <p:spPr>
          <a:xfrm>
            <a:off x="8321040" y="2514600"/>
            <a:ext cx="73152" cy="1005840"/>
          </a:xfrm>
          <a:prstGeom prst="rect">
            <a:avLst/>
          </a:prstGeom>
          <a:solidFill>
            <a:srgbClr val="2E7D32"/>
          </a:solidFill>
          <a:ln w="12700">
            <a:solidFill>
              <a:srgbClr val="2E7D32"/>
            </a:solidFill>
            <a:prstDash val="solid"/>
          </a:ln>
        </p:spPr>
        <p:txBody>
          <a:bodyPr/>
          <a:lstStyle/>
          <a:p>
            <a:endParaRPr lang="en-US"/>
          </a:p>
        </p:txBody>
      </p:sp>
      <p:sp>
        <p:nvSpPr>
          <p:cNvPr id="17" name="Text 15"/>
          <p:cNvSpPr/>
          <p:nvPr/>
        </p:nvSpPr>
        <p:spPr>
          <a:xfrm>
            <a:off x="8522208" y="2651760"/>
            <a:ext cx="305409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Privacy &amp; security</a:t>
            </a:r>
            <a:endParaRPr lang="en-US" sz="1400" dirty="0"/>
          </a:p>
        </p:txBody>
      </p:sp>
      <p:sp>
        <p:nvSpPr>
          <p:cNvPr id="18" name="Text 16"/>
          <p:cNvSpPr/>
          <p:nvPr/>
        </p:nvSpPr>
        <p:spPr>
          <a:xfrm>
            <a:off x="8522208" y="2953512"/>
            <a:ext cx="3054096" cy="43891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Minimize data, protect it, and verify consent for sensitive uses.</a:t>
            </a:r>
            <a:endParaRPr lang="en-US" sz="1100" dirty="0"/>
          </a:p>
        </p:txBody>
      </p:sp>
      <p:sp>
        <p:nvSpPr>
          <p:cNvPr id="19" name="Shape 17"/>
          <p:cNvSpPr/>
          <p:nvPr/>
        </p:nvSpPr>
        <p:spPr>
          <a:xfrm>
            <a:off x="822960" y="3840480"/>
            <a:ext cx="3383280" cy="1005840"/>
          </a:xfrm>
          <a:prstGeom prst="roundRect">
            <a:avLst>
              <a:gd name="adj" fmla="val 7273"/>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20" name="Shape 18"/>
          <p:cNvSpPr/>
          <p:nvPr/>
        </p:nvSpPr>
        <p:spPr>
          <a:xfrm>
            <a:off x="822960" y="3840480"/>
            <a:ext cx="73152" cy="1005840"/>
          </a:xfrm>
          <a:prstGeom prst="rect">
            <a:avLst/>
          </a:prstGeom>
          <a:solidFill>
            <a:srgbClr val="6D5DF5"/>
          </a:solidFill>
          <a:ln w="12700">
            <a:solidFill>
              <a:srgbClr val="6D5DF5"/>
            </a:solidFill>
            <a:prstDash val="solid"/>
          </a:ln>
        </p:spPr>
        <p:txBody>
          <a:bodyPr/>
          <a:lstStyle/>
          <a:p>
            <a:endParaRPr lang="en-US"/>
          </a:p>
        </p:txBody>
      </p:sp>
      <p:sp>
        <p:nvSpPr>
          <p:cNvPr id="21" name="Text 19"/>
          <p:cNvSpPr/>
          <p:nvPr/>
        </p:nvSpPr>
        <p:spPr>
          <a:xfrm>
            <a:off x="1024128" y="3977640"/>
            <a:ext cx="305409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Accountability</a:t>
            </a:r>
            <a:endParaRPr lang="en-US" sz="1400" dirty="0"/>
          </a:p>
        </p:txBody>
      </p:sp>
      <p:sp>
        <p:nvSpPr>
          <p:cNvPr id="22" name="Text 20"/>
          <p:cNvSpPr/>
          <p:nvPr/>
        </p:nvSpPr>
        <p:spPr>
          <a:xfrm>
            <a:off x="1024128" y="4279392"/>
            <a:ext cx="3054096" cy="43891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Assign owners, keep records, audit decisions, and correct issues quickly.</a:t>
            </a:r>
            <a:endParaRPr lang="en-US" sz="1100" dirty="0"/>
          </a:p>
        </p:txBody>
      </p:sp>
      <p:sp>
        <p:nvSpPr>
          <p:cNvPr id="23" name="Shape 21"/>
          <p:cNvSpPr/>
          <p:nvPr/>
        </p:nvSpPr>
        <p:spPr>
          <a:xfrm>
            <a:off x="4572000" y="3840480"/>
            <a:ext cx="3383280" cy="1005840"/>
          </a:xfrm>
          <a:prstGeom prst="roundRect">
            <a:avLst>
              <a:gd name="adj" fmla="val 7273"/>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24" name="Shape 22"/>
          <p:cNvSpPr/>
          <p:nvPr/>
        </p:nvSpPr>
        <p:spPr>
          <a:xfrm>
            <a:off x="4572000" y="3840480"/>
            <a:ext cx="73152" cy="1005840"/>
          </a:xfrm>
          <a:prstGeom prst="rect">
            <a:avLst/>
          </a:prstGeom>
          <a:solidFill>
            <a:srgbClr val="F0B429"/>
          </a:solidFill>
          <a:ln w="12700">
            <a:solidFill>
              <a:srgbClr val="F0B429"/>
            </a:solidFill>
            <a:prstDash val="solid"/>
          </a:ln>
        </p:spPr>
        <p:txBody>
          <a:bodyPr/>
          <a:lstStyle/>
          <a:p>
            <a:endParaRPr lang="en-US"/>
          </a:p>
        </p:txBody>
      </p:sp>
      <p:sp>
        <p:nvSpPr>
          <p:cNvPr id="25" name="Text 23"/>
          <p:cNvSpPr/>
          <p:nvPr/>
        </p:nvSpPr>
        <p:spPr>
          <a:xfrm>
            <a:off x="4773168" y="3977640"/>
            <a:ext cx="305409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Human oversight</a:t>
            </a:r>
            <a:endParaRPr lang="en-US" sz="1400" dirty="0"/>
          </a:p>
        </p:txBody>
      </p:sp>
      <p:sp>
        <p:nvSpPr>
          <p:cNvPr id="26" name="Text 24"/>
          <p:cNvSpPr/>
          <p:nvPr/>
        </p:nvSpPr>
        <p:spPr>
          <a:xfrm>
            <a:off x="4773168" y="4279392"/>
            <a:ext cx="3054096" cy="43891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Require human review for high-risk content, appeals, and incident response.</a:t>
            </a:r>
            <a:endParaRPr lang="en-US" sz="1100" dirty="0"/>
          </a:p>
        </p:txBody>
      </p:sp>
      <p:sp>
        <p:nvSpPr>
          <p:cNvPr id="27" name="Shape 25"/>
          <p:cNvSpPr/>
          <p:nvPr/>
        </p:nvSpPr>
        <p:spPr>
          <a:xfrm>
            <a:off x="8321040" y="3840480"/>
            <a:ext cx="3383280" cy="1005840"/>
          </a:xfrm>
          <a:prstGeom prst="roundRect">
            <a:avLst>
              <a:gd name="adj" fmla="val 7273"/>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28" name="Shape 26"/>
          <p:cNvSpPr/>
          <p:nvPr/>
        </p:nvSpPr>
        <p:spPr>
          <a:xfrm>
            <a:off x="8321040" y="3840480"/>
            <a:ext cx="73152" cy="1005840"/>
          </a:xfrm>
          <a:prstGeom prst="rect">
            <a:avLst/>
          </a:prstGeom>
          <a:solidFill>
            <a:srgbClr val="C62828"/>
          </a:solidFill>
          <a:ln w="12700">
            <a:solidFill>
              <a:srgbClr val="C62828"/>
            </a:solidFill>
            <a:prstDash val="solid"/>
          </a:ln>
        </p:spPr>
        <p:txBody>
          <a:bodyPr/>
          <a:lstStyle/>
          <a:p>
            <a:endParaRPr lang="en-US"/>
          </a:p>
        </p:txBody>
      </p:sp>
      <p:sp>
        <p:nvSpPr>
          <p:cNvPr id="29" name="Text 27"/>
          <p:cNvSpPr/>
          <p:nvPr/>
        </p:nvSpPr>
        <p:spPr>
          <a:xfrm>
            <a:off x="8522208" y="3977640"/>
            <a:ext cx="305409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Reliability &amp; safety</a:t>
            </a:r>
            <a:endParaRPr lang="en-US" sz="1400" dirty="0"/>
          </a:p>
        </p:txBody>
      </p:sp>
      <p:sp>
        <p:nvSpPr>
          <p:cNvPr id="30" name="Text 28"/>
          <p:cNvSpPr/>
          <p:nvPr/>
        </p:nvSpPr>
        <p:spPr>
          <a:xfrm>
            <a:off x="8522208" y="4279392"/>
            <a:ext cx="3054096" cy="43891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Validate performance, monitor drift, and prevent harmful or misleading outputs.</a:t>
            </a:r>
            <a:endParaRPr lang="en-US" sz="1100" dirty="0"/>
          </a:p>
        </p:txBody>
      </p:sp>
      <p:sp>
        <p:nvSpPr>
          <p:cNvPr id="31" name="Slide Number Placeholder 0"/>
          <p:cNvSpPr>
            <a:spLocks noGrp="1"/>
          </p:cNvSpPr>
          <p:nvPr>
            <p:ph type="sldNum" sz="quarter" idx="4294967295"/>
          </p:nvPr>
        </p:nvSpPr>
        <p:spPr>
          <a:xfrm>
            <a:off x="11475720" y="662940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237744"/>
            <a:ext cx="5303520" cy="201168"/>
          </a:xfrm>
          <a:prstGeom prst="rect">
            <a:avLst/>
          </a:prstGeom>
          <a:noFill/>
          <a:ln/>
        </p:spPr>
        <p:txBody>
          <a:bodyPr wrap="square" lIns="0" tIns="0" rIns="0" bIns="0" rtlCol="0" anchor="ctr"/>
          <a:lstStyle/>
          <a:p>
            <a:pPr marL="0" indent="0">
              <a:buNone/>
            </a:pPr>
            <a:r>
              <a:rPr lang="en-US" sz="800" b="1" dirty="0">
                <a:solidFill>
                  <a:srgbClr val="1E5BFF"/>
                </a:solidFill>
                <a:latin typeface="Aptos" pitchFamily="34" charset="0"/>
                <a:ea typeface="Aptos" pitchFamily="34" charset="-122"/>
                <a:cs typeface="Aptos" pitchFamily="34" charset="-120"/>
              </a:rPr>
              <a:t>FROM STRATEGY TO LAUNCH GATES</a:t>
            </a:r>
            <a:endParaRPr lang="en-US" sz="800" dirty="0"/>
          </a:p>
        </p:txBody>
      </p:sp>
      <p:sp>
        <p:nvSpPr>
          <p:cNvPr id="3" name="Text 1"/>
          <p:cNvSpPr/>
          <p:nvPr/>
        </p:nvSpPr>
        <p:spPr>
          <a:xfrm>
            <a:off x="594360" y="502920"/>
            <a:ext cx="10789920" cy="411480"/>
          </a:xfrm>
          <a:prstGeom prst="rect">
            <a:avLst/>
          </a:prstGeom>
          <a:noFill/>
          <a:ln/>
        </p:spPr>
        <p:txBody>
          <a:bodyPr wrap="square" lIns="0" tIns="0" rIns="0" bIns="0" rtlCol="0" anchor="ctr">
            <a:normAutofit/>
          </a:bodyP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Governance structure and oversight process</a:t>
            </a:r>
            <a:endParaRPr lang="en-US" sz="3000" dirty="0"/>
          </a:p>
        </p:txBody>
      </p:sp>
      <p:sp>
        <p:nvSpPr>
          <p:cNvPr id="4" name="Text 2"/>
          <p:cNvSpPr/>
          <p:nvPr/>
        </p:nvSpPr>
        <p:spPr>
          <a:xfrm>
            <a:off x="594360" y="6611112"/>
            <a:ext cx="5669280" cy="146304"/>
          </a:xfrm>
          <a:prstGeom prst="rect">
            <a:avLst/>
          </a:prstGeom>
          <a:noFill/>
          <a:ln/>
        </p:spPr>
        <p:txBody>
          <a:bodyPr wrap="square" lIns="0" tIns="0" rIns="0" bIns="0" rtlCol="0" anchor="ctr"/>
          <a:lstStyle/>
          <a:p>
            <a:pPr marL="0" indent="0">
              <a:buNone/>
            </a:pPr>
            <a:r>
              <a:rPr lang="en-US" sz="680" dirty="0">
                <a:solidFill>
                  <a:srgbClr val="5D6B82"/>
                </a:solidFill>
              </a:rPr>
              <a:t>Responsible AI Framework  •  NeuroVerse Inc. / NeuroCreate</a:t>
            </a:r>
            <a:endParaRPr lang="en-US" sz="680" dirty="0"/>
          </a:p>
        </p:txBody>
      </p:sp>
      <p:sp>
        <p:nvSpPr>
          <p:cNvPr id="5" name="Shape 3"/>
          <p:cNvSpPr/>
          <p:nvPr/>
        </p:nvSpPr>
        <p:spPr>
          <a:xfrm>
            <a:off x="4617720" y="1078992"/>
            <a:ext cx="2971800" cy="694944"/>
          </a:xfrm>
          <a:prstGeom prst="roundRect">
            <a:avLst>
              <a:gd name="adj" fmla="val 7895"/>
            </a:avLst>
          </a:prstGeom>
          <a:solidFill>
            <a:srgbClr val="0B1F3A"/>
          </a:solidFill>
          <a:ln w="12700">
            <a:solidFill>
              <a:srgbClr val="0B1F3A"/>
            </a:solidFill>
            <a:prstDash val="solid"/>
          </a:ln>
        </p:spPr>
        <p:txBody>
          <a:bodyPr/>
          <a:lstStyle/>
          <a:p>
            <a:endParaRPr lang="en-US"/>
          </a:p>
        </p:txBody>
      </p:sp>
      <p:sp>
        <p:nvSpPr>
          <p:cNvPr id="6" name="Text 4"/>
          <p:cNvSpPr/>
          <p:nvPr/>
        </p:nvSpPr>
        <p:spPr>
          <a:xfrm>
            <a:off x="4754880" y="1197864"/>
            <a:ext cx="2697480" cy="146304"/>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rPr>
              <a:t>Board / Executive Sponsor</a:t>
            </a:r>
            <a:endParaRPr lang="en-US" sz="1100" dirty="0"/>
          </a:p>
        </p:txBody>
      </p:sp>
      <p:sp>
        <p:nvSpPr>
          <p:cNvPr id="7" name="Text 5"/>
          <p:cNvSpPr/>
          <p:nvPr/>
        </p:nvSpPr>
        <p:spPr>
          <a:xfrm>
            <a:off x="4782312" y="1435608"/>
            <a:ext cx="2651760" cy="164592"/>
          </a:xfrm>
          <a:prstGeom prst="rect">
            <a:avLst/>
          </a:prstGeom>
          <a:noFill/>
          <a:ln/>
        </p:spPr>
        <p:txBody>
          <a:bodyPr wrap="square" lIns="0" tIns="0" rIns="0" bIns="0" rtlCol="0" anchor="ctr">
            <a:normAutofit/>
          </a:bodyPr>
          <a:lstStyle/>
          <a:p>
            <a:pPr marL="0" indent="0" algn="ctr">
              <a:buNone/>
            </a:pPr>
            <a:r>
              <a:rPr lang="en-US" sz="680" dirty="0">
                <a:solidFill>
                  <a:srgbClr val="EAF1F8"/>
                </a:solidFill>
              </a:rPr>
              <a:t>Approves risk appetite and receives quarterly RAI scorecards</a:t>
            </a:r>
            <a:endParaRPr lang="en-US" sz="680" dirty="0"/>
          </a:p>
        </p:txBody>
      </p:sp>
      <p:sp>
        <p:nvSpPr>
          <p:cNvPr id="8" name="Shape 6"/>
          <p:cNvSpPr/>
          <p:nvPr/>
        </p:nvSpPr>
        <p:spPr>
          <a:xfrm>
            <a:off x="4617720" y="2084832"/>
            <a:ext cx="2971800" cy="694944"/>
          </a:xfrm>
          <a:prstGeom prst="roundRect">
            <a:avLst>
              <a:gd name="adj" fmla="val 7895"/>
            </a:avLst>
          </a:prstGeom>
          <a:solidFill>
            <a:srgbClr val="1E5BFF"/>
          </a:solidFill>
          <a:ln w="12700">
            <a:solidFill>
              <a:srgbClr val="1E5BFF"/>
            </a:solidFill>
            <a:prstDash val="solid"/>
          </a:ln>
        </p:spPr>
        <p:txBody>
          <a:bodyPr/>
          <a:lstStyle/>
          <a:p>
            <a:endParaRPr lang="en-US"/>
          </a:p>
        </p:txBody>
      </p:sp>
      <p:sp>
        <p:nvSpPr>
          <p:cNvPr id="9" name="Text 7"/>
          <p:cNvSpPr/>
          <p:nvPr/>
        </p:nvSpPr>
        <p:spPr>
          <a:xfrm>
            <a:off x="4754880" y="2203704"/>
            <a:ext cx="2697480" cy="146304"/>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rPr>
              <a:t>Chief AI Ethics Officer</a:t>
            </a:r>
            <a:endParaRPr lang="en-US" sz="1100" dirty="0"/>
          </a:p>
        </p:txBody>
      </p:sp>
      <p:sp>
        <p:nvSpPr>
          <p:cNvPr id="10" name="Text 8"/>
          <p:cNvSpPr/>
          <p:nvPr/>
        </p:nvSpPr>
        <p:spPr>
          <a:xfrm>
            <a:off x="4782312" y="2441448"/>
            <a:ext cx="2651760" cy="164592"/>
          </a:xfrm>
          <a:prstGeom prst="rect">
            <a:avLst/>
          </a:prstGeom>
          <a:noFill/>
          <a:ln/>
        </p:spPr>
        <p:txBody>
          <a:bodyPr wrap="square" lIns="0" tIns="0" rIns="0" bIns="0" rtlCol="0" anchor="ctr">
            <a:normAutofit/>
          </a:bodyPr>
          <a:lstStyle/>
          <a:p>
            <a:pPr marL="0" indent="0" algn="ctr">
              <a:buNone/>
            </a:pPr>
            <a:r>
              <a:rPr lang="en-US" sz="680" dirty="0">
                <a:solidFill>
                  <a:srgbClr val="EAF1F8"/>
                </a:solidFill>
              </a:rPr>
              <a:t>Owns policies, escalation, audits, and accountable AI culture</a:t>
            </a:r>
            <a:endParaRPr lang="en-US" sz="680" dirty="0"/>
          </a:p>
        </p:txBody>
      </p:sp>
      <p:sp>
        <p:nvSpPr>
          <p:cNvPr id="11" name="Shape 9"/>
          <p:cNvSpPr/>
          <p:nvPr/>
        </p:nvSpPr>
        <p:spPr>
          <a:xfrm>
            <a:off x="4617720" y="3090672"/>
            <a:ext cx="2971800" cy="694944"/>
          </a:xfrm>
          <a:prstGeom prst="roundRect">
            <a:avLst>
              <a:gd name="adj" fmla="val 7895"/>
            </a:avLst>
          </a:prstGeom>
          <a:solidFill>
            <a:srgbClr val="16A3A3"/>
          </a:solidFill>
          <a:ln w="12700">
            <a:solidFill>
              <a:srgbClr val="16A3A3"/>
            </a:solidFill>
            <a:prstDash val="solid"/>
          </a:ln>
        </p:spPr>
        <p:txBody>
          <a:bodyPr/>
          <a:lstStyle/>
          <a:p>
            <a:endParaRPr lang="en-US"/>
          </a:p>
        </p:txBody>
      </p:sp>
      <p:sp>
        <p:nvSpPr>
          <p:cNvPr id="12" name="Text 10"/>
          <p:cNvSpPr/>
          <p:nvPr/>
        </p:nvSpPr>
        <p:spPr>
          <a:xfrm>
            <a:off x="4754880" y="3209544"/>
            <a:ext cx="2697480" cy="146304"/>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rPr>
              <a:t>RAI Review Board</a:t>
            </a:r>
            <a:endParaRPr lang="en-US" sz="1100" dirty="0"/>
          </a:p>
        </p:txBody>
      </p:sp>
      <p:sp>
        <p:nvSpPr>
          <p:cNvPr id="13" name="Text 11"/>
          <p:cNvSpPr/>
          <p:nvPr/>
        </p:nvSpPr>
        <p:spPr>
          <a:xfrm>
            <a:off x="4782312" y="3447288"/>
            <a:ext cx="2651760" cy="164592"/>
          </a:xfrm>
          <a:prstGeom prst="rect">
            <a:avLst/>
          </a:prstGeom>
          <a:noFill/>
          <a:ln/>
        </p:spPr>
        <p:txBody>
          <a:bodyPr wrap="square" lIns="0" tIns="0" rIns="0" bIns="0" rtlCol="0" anchor="ctr">
            <a:normAutofit/>
          </a:bodyPr>
          <a:lstStyle/>
          <a:p>
            <a:pPr marL="0" indent="0" algn="ctr">
              <a:buNone/>
            </a:pPr>
            <a:r>
              <a:rPr lang="en-US" sz="680" dirty="0">
                <a:solidFill>
                  <a:srgbClr val="EAF1F8"/>
                </a:solidFill>
              </a:rPr>
              <a:t>Cross-functional approval for high-risk AI use cases</a:t>
            </a:r>
            <a:endParaRPr lang="en-US" sz="680" dirty="0"/>
          </a:p>
        </p:txBody>
      </p:sp>
      <p:sp>
        <p:nvSpPr>
          <p:cNvPr id="14" name="Shape 12"/>
          <p:cNvSpPr/>
          <p:nvPr/>
        </p:nvSpPr>
        <p:spPr>
          <a:xfrm>
            <a:off x="2788920" y="4169664"/>
            <a:ext cx="6583680" cy="694944"/>
          </a:xfrm>
          <a:prstGeom prst="roundRect">
            <a:avLst>
              <a:gd name="adj" fmla="val 7895"/>
            </a:avLst>
          </a:prstGeom>
          <a:solidFill>
            <a:srgbClr val="6D5DF5"/>
          </a:solidFill>
          <a:ln w="12700">
            <a:solidFill>
              <a:srgbClr val="6D5DF5"/>
            </a:solidFill>
            <a:prstDash val="solid"/>
          </a:ln>
        </p:spPr>
        <p:txBody>
          <a:bodyPr/>
          <a:lstStyle/>
          <a:p>
            <a:endParaRPr lang="en-US"/>
          </a:p>
        </p:txBody>
      </p:sp>
      <p:sp>
        <p:nvSpPr>
          <p:cNvPr id="15" name="Text 13"/>
          <p:cNvSpPr/>
          <p:nvPr/>
        </p:nvSpPr>
        <p:spPr>
          <a:xfrm>
            <a:off x="2926080" y="4288536"/>
            <a:ext cx="6309360" cy="146304"/>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rPr>
              <a:t>Product, Data, Security, Legal, Compliance, HR, Customer Success</a:t>
            </a:r>
            <a:endParaRPr lang="en-US" sz="1100" dirty="0"/>
          </a:p>
        </p:txBody>
      </p:sp>
      <p:sp>
        <p:nvSpPr>
          <p:cNvPr id="16" name="Text 14"/>
          <p:cNvSpPr/>
          <p:nvPr/>
        </p:nvSpPr>
        <p:spPr>
          <a:xfrm>
            <a:off x="2953512" y="4526280"/>
            <a:ext cx="6263640" cy="164592"/>
          </a:xfrm>
          <a:prstGeom prst="rect">
            <a:avLst/>
          </a:prstGeom>
          <a:noFill/>
          <a:ln/>
        </p:spPr>
        <p:txBody>
          <a:bodyPr wrap="square" lIns="0" tIns="0" rIns="0" bIns="0" rtlCol="0" anchor="ctr">
            <a:normAutofit/>
          </a:bodyPr>
          <a:lstStyle/>
          <a:p>
            <a:pPr marL="0" indent="0" algn="ctr">
              <a:buNone/>
            </a:pPr>
            <a:r>
              <a:rPr lang="en-US" sz="680" dirty="0">
                <a:solidFill>
                  <a:srgbClr val="EAF1F8"/>
                </a:solidFill>
              </a:rPr>
              <a:t>Execute lifecycle controls and document evidence</a:t>
            </a:r>
            <a:endParaRPr lang="en-US" sz="680" dirty="0"/>
          </a:p>
        </p:txBody>
      </p:sp>
      <p:sp>
        <p:nvSpPr>
          <p:cNvPr id="17" name="Shape 15"/>
          <p:cNvSpPr/>
          <p:nvPr/>
        </p:nvSpPr>
        <p:spPr>
          <a:xfrm>
            <a:off x="5824728" y="1801368"/>
            <a:ext cx="256032" cy="256032"/>
          </a:xfrm>
          <a:prstGeom prst="downArrow">
            <a:avLst/>
          </a:prstGeom>
          <a:solidFill>
            <a:srgbClr val="D5DEE8"/>
          </a:solidFill>
          <a:ln w="12700">
            <a:solidFill>
              <a:srgbClr val="D5DEE8"/>
            </a:solidFill>
            <a:prstDash val="solid"/>
          </a:ln>
        </p:spPr>
        <p:txBody>
          <a:bodyPr/>
          <a:lstStyle/>
          <a:p>
            <a:endParaRPr lang="en-US"/>
          </a:p>
        </p:txBody>
      </p:sp>
      <p:sp>
        <p:nvSpPr>
          <p:cNvPr id="18" name="Shape 16"/>
          <p:cNvSpPr/>
          <p:nvPr/>
        </p:nvSpPr>
        <p:spPr>
          <a:xfrm>
            <a:off x="5824728" y="2807208"/>
            <a:ext cx="256032" cy="256032"/>
          </a:xfrm>
          <a:prstGeom prst="downArrow">
            <a:avLst/>
          </a:prstGeom>
          <a:solidFill>
            <a:srgbClr val="D5DEE8"/>
          </a:solidFill>
          <a:ln w="12700">
            <a:solidFill>
              <a:srgbClr val="D5DEE8"/>
            </a:solidFill>
            <a:prstDash val="solid"/>
          </a:ln>
        </p:spPr>
        <p:txBody>
          <a:bodyPr/>
          <a:lstStyle/>
          <a:p>
            <a:endParaRPr lang="en-US"/>
          </a:p>
        </p:txBody>
      </p:sp>
      <p:sp>
        <p:nvSpPr>
          <p:cNvPr id="19" name="Shape 17"/>
          <p:cNvSpPr/>
          <p:nvPr/>
        </p:nvSpPr>
        <p:spPr>
          <a:xfrm>
            <a:off x="5824728" y="3813048"/>
            <a:ext cx="256032" cy="256032"/>
          </a:xfrm>
          <a:prstGeom prst="downArrow">
            <a:avLst/>
          </a:prstGeom>
          <a:solidFill>
            <a:srgbClr val="D5DEE8"/>
          </a:solidFill>
          <a:ln w="12700">
            <a:solidFill>
              <a:srgbClr val="D5DEE8"/>
            </a:solidFill>
            <a:prstDash val="solid"/>
          </a:ln>
        </p:spPr>
        <p:txBody>
          <a:bodyPr/>
          <a:lstStyle/>
          <a:p>
            <a:endParaRPr lang="en-US"/>
          </a:p>
        </p:txBody>
      </p:sp>
      <p:sp>
        <p:nvSpPr>
          <p:cNvPr id="20" name="Shape 18"/>
          <p:cNvSpPr/>
          <p:nvPr/>
        </p:nvSpPr>
        <p:spPr>
          <a:xfrm>
            <a:off x="594360" y="1225296"/>
            <a:ext cx="2148840" cy="3383280"/>
          </a:xfrm>
          <a:prstGeom prst="roundRect">
            <a:avLst>
              <a:gd name="adj" fmla="val 3404"/>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21" name="Shape 19"/>
          <p:cNvSpPr/>
          <p:nvPr/>
        </p:nvSpPr>
        <p:spPr>
          <a:xfrm>
            <a:off x="594360" y="1225296"/>
            <a:ext cx="73152" cy="3383280"/>
          </a:xfrm>
          <a:prstGeom prst="rect">
            <a:avLst/>
          </a:prstGeom>
          <a:solidFill>
            <a:srgbClr val="F0B429"/>
          </a:solidFill>
          <a:ln w="12700">
            <a:solidFill>
              <a:srgbClr val="F0B429"/>
            </a:solidFill>
            <a:prstDash val="solid"/>
          </a:ln>
        </p:spPr>
        <p:txBody>
          <a:bodyPr/>
          <a:lstStyle/>
          <a:p>
            <a:endParaRPr lang="en-US"/>
          </a:p>
        </p:txBody>
      </p:sp>
      <p:sp>
        <p:nvSpPr>
          <p:cNvPr id="22" name="Text 20"/>
          <p:cNvSpPr/>
          <p:nvPr/>
        </p:nvSpPr>
        <p:spPr>
          <a:xfrm>
            <a:off x="795528" y="1362456"/>
            <a:ext cx="181965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Oversight cadence</a:t>
            </a:r>
            <a:endParaRPr lang="en-US" sz="1400" dirty="0"/>
          </a:p>
        </p:txBody>
      </p:sp>
      <p:sp>
        <p:nvSpPr>
          <p:cNvPr id="23" name="Text 21"/>
          <p:cNvSpPr/>
          <p:nvPr/>
        </p:nvSpPr>
        <p:spPr>
          <a:xfrm>
            <a:off x="795528" y="1664208"/>
            <a:ext cx="1819656" cy="281635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 Intake review weekly</a:t>
            </a:r>
            <a:endParaRPr lang="en-US" sz="1100" dirty="0"/>
          </a:p>
          <a:p>
            <a:pPr marL="0" indent="0">
              <a:buNone/>
            </a:pPr>
            <a:r>
              <a:rPr lang="en-US" sz="1100" dirty="0">
                <a:solidFill>
                  <a:srgbClr val="172033"/>
                </a:solidFill>
              </a:rPr>
              <a:t>• RAI Board biweekly</a:t>
            </a:r>
            <a:endParaRPr lang="en-US" sz="1100" dirty="0"/>
          </a:p>
          <a:p>
            <a:pPr marL="0" indent="0">
              <a:buNone/>
            </a:pPr>
            <a:r>
              <a:rPr lang="en-US" sz="1100" dirty="0">
                <a:solidFill>
                  <a:srgbClr val="172033"/>
                </a:solidFill>
              </a:rPr>
              <a:t>• Launch gate before release</a:t>
            </a:r>
            <a:endParaRPr lang="en-US" sz="1100" dirty="0"/>
          </a:p>
          <a:p>
            <a:pPr marL="0" indent="0">
              <a:buNone/>
            </a:pPr>
            <a:r>
              <a:rPr lang="en-US" sz="1100" dirty="0">
                <a:solidFill>
                  <a:srgbClr val="172033"/>
                </a:solidFill>
              </a:rPr>
              <a:t>• Monthly model review</a:t>
            </a:r>
            <a:endParaRPr lang="en-US" sz="1100" dirty="0"/>
          </a:p>
          <a:p>
            <a:pPr marL="0" indent="0">
              <a:buNone/>
            </a:pPr>
            <a:r>
              <a:rPr lang="en-US" sz="1100" dirty="0">
                <a:solidFill>
                  <a:srgbClr val="172033"/>
                </a:solidFill>
              </a:rPr>
              <a:t>• Quarterly audit report</a:t>
            </a:r>
            <a:endParaRPr lang="en-US" sz="1100" dirty="0"/>
          </a:p>
          <a:p>
            <a:pPr marL="0" indent="0">
              <a:buNone/>
            </a:pPr>
            <a:r>
              <a:rPr lang="en-US" sz="1100" dirty="0">
                <a:solidFill>
                  <a:srgbClr val="172033"/>
                </a:solidFill>
              </a:rPr>
              <a:t>• Annual policy refresh</a:t>
            </a:r>
            <a:endParaRPr lang="en-US" sz="1100" dirty="0"/>
          </a:p>
        </p:txBody>
      </p:sp>
      <p:sp>
        <p:nvSpPr>
          <p:cNvPr id="24" name="Shape 22"/>
          <p:cNvSpPr/>
          <p:nvPr/>
        </p:nvSpPr>
        <p:spPr>
          <a:xfrm>
            <a:off x="9555480" y="1225296"/>
            <a:ext cx="2148840" cy="3383280"/>
          </a:xfrm>
          <a:prstGeom prst="roundRect">
            <a:avLst>
              <a:gd name="adj" fmla="val 3404"/>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25" name="Shape 23"/>
          <p:cNvSpPr/>
          <p:nvPr/>
        </p:nvSpPr>
        <p:spPr>
          <a:xfrm>
            <a:off x="9555480" y="1225296"/>
            <a:ext cx="73152" cy="3383280"/>
          </a:xfrm>
          <a:prstGeom prst="rect">
            <a:avLst/>
          </a:prstGeom>
          <a:solidFill>
            <a:srgbClr val="2E7D32"/>
          </a:solidFill>
          <a:ln w="12700">
            <a:solidFill>
              <a:srgbClr val="2E7D32"/>
            </a:solidFill>
            <a:prstDash val="solid"/>
          </a:ln>
        </p:spPr>
        <p:txBody>
          <a:bodyPr/>
          <a:lstStyle/>
          <a:p>
            <a:endParaRPr lang="en-US"/>
          </a:p>
        </p:txBody>
      </p:sp>
      <p:sp>
        <p:nvSpPr>
          <p:cNvPr id="26" name="Text 24"/>
          <p:cNvSpPr/>
          <p:nvPr/>
        </p:nvSpPr>
        <p:spPr>
          <a:xfrm>
            <a:off x="9756648" y="1362456"/>
            <a:ext cx="181965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Decision gates</a:t>
            </a:r>
            <a:endParaRPr lang="en-US" sz="1400" dirty="0"/>
          </a:p>
        </p:txBody>
      </p:sp>
      <p:sp>
        <p:nvSpPr>
          <p:cNvPr id="27" name="Text 25"/>
          <p:cNvSpPr/>
          <p:nvPr/>
        </p:nvSpPr>
        <p:spPr>
          <a:xfrm>
            <a:off x="9756648" y="1664208"/>
            <a:ext cx="1819656" cy="281635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 Use-case approval</a:t>
            </a:r>
            <a:endParaRPr lang="en-US" sz="1100" dirty="0"/>
          </a:p>
          <a:p>
            <a:pPr marL="0" indent="0">
              <a:buNone/>
            </a:pPr>
            <a:r>
              <a:rPr lang="en-US" sz="1100" dirty="0">
                <a:solidFill>
                  <a:srgbClr val="172033"/>
                </a:solidFill>
              </a:rPr>
              <a:t>• Data approval</a:t>
            </a:r>
            <a:endParaRPr lang="en-US" sz="1100" dirty="0"/>
          </a:p>
          <a:p>
            <a:pPr marL="0" indent="0">
              <a:buNone/>
            </a:pPr>
            <a:r>
              <a:rPr lang="en-US" sz="1100" dirty="0">
                <a:solidFill>
                  <a:srgbClr val="172033"/>
                </a:solidFill>
              </a:rPr>
              <a:t>• Model validation</a:t>
            </a:r>
            <a:endParaRPr lang="en-US" sz="1100" dirty="0"/>
          </a:p>
          <a:p>
            <a:pPr marL="0" indent="0">
              <a:buNone/>
            </a:pPr>
            <a:r>
              <a:rPr lang="en-US" sz="1100" dirty="0">
                <a:solidFill>
                  <a:srgbClr val="172033"/>
                </a:solidFill>
              </a:rPr>
              <a:t>• Security/privacy approval</a:t>
            </a:r>
            <a:endParaRPr lang="en-US" sz="1100" dirty="0"/>
          </a:p>
          <a:p>
            <a:pPr marL="0" indent="0">
              <a:buNone/>
            </a:pPr>
            <a:r>
              <a:rPr lang="en-US" sz="1100" dirty="0">
                <a:solidFill>
                  <a:srgbClr val="172033"/>
                </a:solidFill>
              </a:rPr>
              <a:t>• User disclosure review</a:t>
            </a:r>
            <a:endParaRPr lang="en-US" sz="1100" dirty="0"/>
          </a:p>
          <a:p>
            <a:pPr marL="0" indent="0">
              <a:buNone/>
            </a:pPr>
            <a:r>
              <a:rPr lang="en-US" sz="1100" dirty="0">
                <a:solidFill>
                  <a:srgbClr val="172033"/>
                </a:solidFill>
              </a:rPr>
              <a:t>• Disposition approval</a:t>
            </a:r>
            <a:endParaRPr lang="en-US" sz="1100" dirty="0"/>
          </a:p>
        </p:txBody>
      </p:sp>
      <p:sp>
        <p:nvSpPr>
          <p:cNvPr id="28" name="Slide Number Placeholder 0"/>
          <p:cNvSpPr>
            <a:spLocks noGrp="1"/>
          </p:cNvSpPr>
          <p:nvPr>
            <p:ph type="sldNum" sz="quarter" idx="4294967295"/>
          </p:nvPr>
        </p:nvSpPr>
        <p:spPr>
          <a:xfrm>
            <a:off x="11475720" y="662940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237744"/>
            <a:ext cx="5303520" cy="201168"/>
          </a:xfrm>
          <a:prstGeom prst="rect">
            <a:avLst/>
          </a:prstGeom>
          <a:noFill/>
          <a:ln/>
        </p:spPr>
        <p:txBody>
          <a:bodyPr wrap="square" lIns="0" tIns="0" rIns="0" bIns="0" rtlCol="0" anchor="ctr"/>
          <a:lstStyle/>
          <a:p>
            <a:pPr marL="0" indent="0">
              <a:buNone/>
            </a:pPr>
            <a:r>
              <a:rPr lang="en-US" sz="800" b="1" dirty="0">
                <a:solidFill>
                  <a:srgbClr val="1E5BFF"/>
                </a:solidFill>
                <a:latin typeface="Aptos" pitchFamily="34" charset="0"/>
                <a:ea typeface="Aptos" pitchFamily="34" charset="-122"/>
                <a:cs typeface="Aptos" pitchFamily="34" charset="-120"/>
              </a:rPr>
              <a:t>CLEAR OWNERSHIP PREVENTS GAPS</a:t>
            </a:r>
            <a:endParaRPr lang="en-US" sz="800" dirty="0"/>
          </a:p>
        </p:txBody>
      </p:sp>
      <p:sp>
        <p:nvSpPr>
          <p:cNvPr id="3" name="Text 1"/>
          <p:cNvSpPr/>
          <p:nvPr/>
        </p:nvSpPr>
        <p:spPr>
          <a:xfrm>
            <a:off x="594360" y="502920"/>
            <a:ext cx="10789920" cy="411480"/>
          </a:xfrm>
          <a:prstGeom prst="rect">
            <a:avLst/>
          </a:prstGeom>
          <a:noFill/>
          <a:ln/>
        </p:spPr>
        <p:txBody>
          <a:bodyPr wrap="square" lIns="0" tIns="0" rIns="0" bIns="0" rtlCol="0" anchor="ctr">
            <a:normAutofit/>
          </a:bodyP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Key roles and responsibilities</a:t>
            </a:r>
            <a:endParaRPr lang="en-US" sz="3000" dirty="0"/>
          </a:p>
        </p:txBody>
      </p:sp>
      <p:sp>
        <p:nvSpPr>
          <p:cNvPr id="4" name="Text 2"/>
          <p:cNvSpPr/>
          <p:nvPr/>
        </p:nvSpPr>
        <p:spPr>
          <a:xfrm>
            <a:off x="594360" y="6611112"/>
            <a:ext cx="5669280" cy="146304"/>
          </a:xfrm>
          <a:prstGeom prst="rect">
            <a:avLst/>
          </a:prstGeom>
          <a:noFill/>
          <a:ln/>
        </p:spPr>
        <p:txBody>
          <a:bodyPr wrap="square" lIns="0" tIns="0" rIns="0" bIns="0" rtlCol="0" anchor="ctr"/>
          <a:lstStyle/>
          <a:p>
            <a:pPr marL="0" indent="0">
              <a:buNone/>
            </a:pPr>
            <a:r>
              <a:rPr lang="en-US" sz="680" dirty="0">
                <a:solidFill>
                  <a:srgbClr val="5D6B82"/>
                </a:solidFill>
              </a:rPr>
              <a:t>Responsible AI Framework  •  NeuroVerse Inc. / NeuroCreate</a:t>
            </a:r>
            <a:endParaRPr lang="en-US" sz="680" dirty="0"/>
          </a:p>
        </p:txBody>
      </p:sp>
      <p:sp>
        <p:nvSpPr>
          <p:cNvPr id="5" name="Shape 3"/>
          <p:cNvSpPr/>
          <p:nvPr/>
        </p:nvSpPr>
        <p:spPr>
          <a:xfrm>
            <a:off x="594360" y="1051560"/>
            <a:ext cx="5166360" cy="786384"/>
          </a:xfrm>
          <a:prstGeom prst="roundRect">
            <a:avLst>
              <a:gd name="adj" fmla="val 9302"/>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6" name="Shape 4"/>
          <p:cNvSpPr/>
          <p:nvPr/>
        </p:nvSpPr>
        <p:spPr>
          <a:xfrm>
            <a:off x="594360" y="1051560"/>
            <a:ext cx="73152" cy="786384"/>
          </a:xfrm>
          <a:prstGeom prst="rect">
            <a:avLst/>
          </a:prstGeom>
          <a:solidFill>
            <a:srgbClr val="1E5BFF"/>
          </a:solidFill>
          <a:ln w="12700">
            <a:solidFill>
              <a:srgbClr val="1E5BFF"/>
            </a:solidFill>
            <a:prstDash val="solid"/>
          </a:ln>
        </p:spPr>
        <p:txBody>
          <a:bodyPr/>
          <a:lstStyle/>
          <a:p>
            <a:endParaRPr lang="en-US"/>
          </a:p>
        </p:txBody>
      </p:sp>
      <p:sp>
        <p:nvSpPr>
          <p:cNvPr id="7" name="Text 5"/>
          <p:cNvSpPr/>
          <p:nvPr/>
        </p:nvSpPr>
        <p:spPr>
          <a:xfrm>
            <a:off x="795528" y="1188720"/>
            <a:ext cx="483717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Executive Sponsor</a:t>
            </a:r>
            <a:endParaRPr lang="en-US" sz="1400" dirty="0"/>
          </a:p>
        </p:txBody>
      </p:sp>
      <p:sp>
        <p:nvSpPr>
          <p:cNvPr id="8" name="Text 6"/>
          <p:cNvSpPr/>
          <p:nvPr/>
        </p:nvSpPr>
        <p:spPr>
          <a:xfrm>
            <a:off x="795528" y="1490472"/>
            <a:ext cx="4837176" cy="219456"/>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Funds RAI roadmap; approves risk appetite and escalations.</a:t>
            </a:r>
            <a:endParaRPr lang="en-US" sz="1100" dirty="0"/>
          </a:p>
        </p:txBody>
      </p:sp>
      <p:sp>
        <p:nvSpPr>
          <p:cNvPr id="9" name="Shape 7"/>
          <p:cNvSpPr/>
          <p:nvPr/>
        </p:nvSpPr>
        <p:spPr>
          <a:xfrm>
            <a:off x="6172200" y="1051560"/>
            <a:ext cx="5166360" cy="786384"/>
          </a:xfrm>
          <a:prstGeom prst="roundRect">
            <a:avLst>
              <a:gd name="adj" fmla="val 9302"/>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10" name="Shape 8"/>
          <p:cNvSpPr/>
          <p:nvPr/>
        </p:nvSpPr>
        <p:spPr>
          <a:xfrm>
            <a:off x="6172200" y="1051560"/>
            <a:ext cx="73152" cy="786384"/>
          </a:xfrm>
          <a:prstGeom prst="rect">
            <a:avLst/>
          </a:prstGeom>
          <a:solidFill>
            <a:srgbClr val="16A3A3"/>
          </a:solidFill>
          <a:ln w="12700">
            <a:solidFill>
              <a:srgbClr val="16A3A3"/>
            </a:solidFill>
            <a:prstDash val="solid"/>
          </a:ln>
        </p:spPr>
        <p:txBody>
          <a:bodyPr/>
          <a:lstStyle/>
          <a:p>
            <a:endParaRPr lang="en-US"/>
          </a:p>
        </p:txBody>
      </p:sp>
      <p:sp>
        <p:nvSpPr>
          <p:cNvPr id="11" name="Text 9"/>
          <p:cNvSpPr/>
          <p:nvPr/>
        </p:nvSpPr>
        <p:spPr>
          <a:xfrm>
            <a:off x="6373368" y="1188720"/>
            <a:ext cx="483717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Chief AI Ethics Officer</a:t>
            </a:r>
            <a:endParaRPr lang="en-US" sz="1400" dirty="0"/>
          </a:p>
        </p:txBody>
      </p:sp>
      <p:sp>
        <p:nvSpPr>
          <p:cNvPr id="12" name="Text 10"/>
          <p:cNvSpPr/>
          <p:nvPr/>
        </p:nvSpPr>
        <p:spPr>
          <a:xfrm>
            <a:off x="6373368" y="1490472"/>
            <a:ext cx="4837176" cy="219456"/>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Policy owner; chairs RAI Board; accountable for ethics evidence.</a:t>
            </a:r>
            <a:endParaRPr lang="en-US" sz="1100" dirty="0"/>
          </a:p>
        </p:txBody>
      </p:sp>
      <p:sp>
        <p:nvSpPr>
          <p:cNvPr id="13" name="Shape 11"/>
          <p:cNvSpPr/>
          <p:nvPr/>
        </p:nvSpPr>
        <p:spPr>
          <a:xfrm>
            <a:off x="594360" y="2020824"/>
            <a:ext cx="5166360" cy="786384"/>
          </a:xfrm>
          <a:prstGeom prst="roundRect">
            <a:avLst>
              <a:gd name="adj" fmla="val 9302"/>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14" name="Shape 12"/>
          <p:cNvSpPr/>
          <p:nvPr/>
        </p:nvSpPr>
        <p:spPr>
          <a:xfrm>
            <a:off x="594360" y="2020824"/>
            <a:ext cx="73152" cy="786384"/>
          </a:xfrm>
          <a:prstGeom prst="rect">
            <a:avLst/>
          </a:prstGeom>
          <a:solidFill>
            <a:srgbClr val="6D5DF5"/>
          </a:solidFill>
          <a:ln w="12700">
            <a:solidFill>
              <a:srgbClr val="6D5DF5"/>
            </a:solidFill>
            <a:prstDash val="solid"/>
          </a:ln>
        </p:spPr>
        <p:txBody>
          <a:bodyPr/>
          <a:lstStyle/>
          <a:p>
            <a:endParaRPr lang="en-US"/>
          </a:p>
        </p:txBody>
      </p:sp>
      <p:sp>
        <p:nvSpPr>
          <p:cNvPr id="15" name="Text 13"/>
          <p:cNvSpPr/>
          <p:nvPr/>
        </p:nvSpPr>
        <p:spPr>
          <a:xfrm>
            <a:off x="795528" y="2157984"/>
            <a:ext cx="483717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Product Owner</a:t>
            </a:r>
            <a:endParaRPr lang="en-US" sz="1400" dirty="0"/>
          </a:p>
        </p:txBody>
      </p:sp>
      <p:sp>
        <p:nvSpPr>
          <p:cNvPr id="16" name="Text 14"/>
          <p:cNvSpPr/>
          <p:nvPr/>
        </p:nvSpPr>
        <p:spPr>
          <a:xfrm>
            <a:off x="795528" y="2459736"/>
            <a:ext cx="4837176" cy="219456"/>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Defines use case, user impact, requirements, and product-level controls.</a:t>
            </a:r>
            <a:endParaRPr lang="en-US" sz="1100" dirty="0"/>
          </a:p>
        </p:txBody>
      </p:sp>
      <p:sp>
        <p:nvSpPr>
          <p:cNvPr id="17" name="Shape 15"/>
          <p:cNvSpPr/>
          <p:nvPr/>
        </p:nvSpPr>
        <p:spPr>
          <a:xfrm>
            <a:off x="6172200" y="2020824"/>
            <a:ext cx="5166360" cy="786384"/>
          </a:xfrm>
          <a:prstGeom prst="roundRect">
            <a:avLst>
              <a:gd name="adj" fmla="val 9302"/>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18" name="Shape 16"/>
          <p:cNvSpPr/>
          <p:nvPr/>
        </p:nvSpPr>
        <p:spPr>
          <a:xfrm>
            <a:off x="6172200" y="2020824"/>
            <a:ext cx="73152" cy="786384"/>
          </a:xfrm>
          <a:prstGeom prst="rect">
            <a:avLst/>
          </a:prstGeom>
          <a:solidFill>
            <a:srgbClr val="2E7D32"/>
          </a:solidFill>
          <a:ln w="12700">
            <a:solidFill>
              <a:srgbClr val="2E7D32"/>
            </a:solidFill>
            <a:prstDash val="solid"/>
          </a:ln>
        </p:spPr>
        <p:txBody>
          <a:bodyPr/>
          <a:lstStyle/>
          <a:p>
            <a:endParaRPr lang="en-US"/>
          </a:p>
        </p:txBody>
      </p:sp>
      <p:sp>
        <p:nvSpPr>
          <p:cNvPr id="19" name="Text 17"/>
          <p:cNvSpPr/>
          <p:nvPr/>
        </p:nvSpPr>
        <p:spPr>
          <a:xfrm>
            <a:off x="6373368" y="2157984"/>
            <a:ext cx="483717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Data Science / AI Engineering</a:t>
            </a:r>
            <a:endParaRPr lang="en-US" sz="1400" dirty="0"/>
          </a:p>
        </p:txBody>
      </p:sp>
      <p:sp>
        <p:nvSpPr>
          <p:cNvPr id="20" name="Text 18"/>
          <p:cNvSpPr/>
          <p:nvPr/>
        </p:nvSpPr>
        <p:spPr>
          <a:xfrm>
            <a:off x="6373368" y="2459736"/>
            <a:ext cx="4837176" cy="219456"/>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Builds models, tests performance, documents limitations.</a:t>
            </a:r>
            <a:endParaRPr lang="en-US" sz="1100" dirty="0"/>
          </a:p>
        </p:txBody>
      </p:sp>
      <p:sp>
        <p:nvSpPr>
          <p:cNvPr id="21" name="Shape 19"/>
          <p:cNvSpPr/>
          <p:nvPr/>
        </p:nvSpPr>
        <p:spPr>
          <a:xfrm>
            <a:off x="594360" y="2990088"/>
            <a:ext cx="5166360" cy="786384"/>
          </a:xfrm>
          <a:prstGeom prst="roundRect">
            <a:avLst>
              <a:gd name="adj" fmla="val 9302"/>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22" name="Shape 20"/>
          <p:cNvSpPr/>
          <p:nvPr/>
        </p:nvSpPr>
        <p:spPr>
          <a:xfrm>
            <a:off x="594360" y="2990088"/>
            <a:ext cx="73152" cy="786384"/>
          </a:xfrm>
          <a:prstGeom prst="rect">
            <a:avLst/>
          </a:prstGeom>
          <a:solidFill>
            <a:srgbClr val="F0B429"/>
          </a:solidFill>
          <a:ln w="12700">
            <a:solidFill>
              <a:srgbClr val="F0B429"/>
            </a:solidFill>
            <a:prstDash val="solid"/>
          </a:ln>
        </p:spPr>
        <p:txBody>
          <a:bodyPr/>
          <a:lstStyle/>
          <a:p>
            <a:endParaRPr lang="en-US"/>
          </a:p>
        </p:txBody>
      </p:sp>
      <p:sp>
        <p:nvSpPr>
          <p:cNvPr id="23" name="Text 21"/>
          <p:cNvSpPr/>
          <p:nvPr/>
        </p:nvSpPr>
        <p:spPr>
          <a:xfrm>
            <a:off x="795528" y="3127248"/>
            <a:ext cx="483717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Data Steward</a:t>
            </a:r>
            <a:endParaRPr lang="en-US" sz="1400" dirty="0"/>
          </a:p>
        </p:txBody>
      </p:sp>
      <p:sp>
        <p:nvSpPr>
          <p:cNvPr id="24" name="Text 22"/>
          <p:cNvSpPr/>
          <p:nvPr/>
        </p:nvSpPr>
        <p:spPr>
          <a:xfrm>
            <a:off x="795528" y="3429000"/>
            <a:ext cx="4837176" cy="219456"/>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Confirms source legitimacy, quality, minimization, consent, retention.</a:t>
            </a:r>
            <a:endParaRPr lang="en-US" sz="1100" dirty="0"/>
          </a:p>
        </p:txBody>
      </p:sp>
      <p:sp>
        <p:nvSpPr>
          <p:cNvPr id="25" name="Shape 23"/>
          <p:cNvSpPr/>
          <p:nvPr/>
        </p:nvSpPr>
        <p:spPr>
          <a:xfrm>
            <a:off x="6172200" y="2990088"/>
            <a:ext cx="5166360" cy="786384"/>
          </a:xfrm>
          <a:prstGeom prst="roundRect">
            <a:avLst>
              <a:gd name="adj" fmla="val 9302"/>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26" name="Shape 24"/>
          <p:cNvSpPr/>
          <p:nvPr/>
        </p:nvSpPr>
        <p:spPr>
          <a:xfrm>
            <a:off x="6172200" y="2990088"/>
            <a:ext cx="73152" cy="786384"/>
          </a:xfrm>
          <a:prstGeom prst="rect">
            <a:avLst/>
          </a:prstGeom>
          <a:solidFill>
            <a:srgbClr val="1E5BFF"/>
          </a:solidFill>
          <a:ln w="12700">
            <a:solidFill>
              <a:srgbClr val="1E5BFF"/>
            </a:solidFill>
            <a:prstDash val="solid"/>
          </a:ln>
        </p:spPr>
        <p:txBody>
          <a:bodyPr/>
          <a:lstStyle/>
          <a:p>
            <a:endParaRPr lang="en-US"/>
          </a:p>
        </p:txBody>
      </p:sp>
      <p:sp>
        <p:nvSpPr>
          <p:cNvPr id="27" name="Text 25"/>
          <p:cNvSpPr/>
          <p:nvPr/>
        </p:nvSpPr>
        <p:spPr>
          <a:xfrm>
            <a:off x="6373368" y="3127248"/>
            <a:ext cx="483717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Privacy &amp; Security</a:t>
            </a:r>
            <a:endParaRPr lang="en-US" sz="1400" dirty="0"/>
          </a:p>
        </p:txBody>
      </p:sp>
      <p:sp>
        <p:nvSpPr>
          <p:cNvPr id="28" name="Text 26"/>
          <p:cNvSpPr/>
          <p:nvPr/>
        </p:nvSpPr>
        <p:spPr>
          <a:xfrm>
            <a:off x="6373368" y="3429000"/>
            <a:ext cx="4837176" cy="219456"/>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DPIA, threat modeling, access controls, incident response.</a:t>
            </a:r>
            <a:endParaRPr lang="en-US" sz="1100" dirty="0"/>
          </a:p>
        </p:txBody>
      </p:sp>
      <p:sp>
        <p:nvSpPr>
          <p:cNvPr id="29" name="Shape 27"/>
          <p:cNvSpPr/>
          <p:nvPr/>
        </p:nvSpPr>
        <p:spPr>
          <a:xfrm>
            <a:off x="594360" y="3959352"/>
            <a:ext cx="5166360" cy="786384"/>
          </a:xfrm>
          <a:prstGeom prst="roundRect">
            <a:avLst>
              <a:gd name="adj" fmla="val 9302"/>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30" name="Shape 28"/>
          <p:cNvSpPr/>
          <p:nvPr/>
        </p:nvSpPr>
        <p:spPr>
          <a:xfrm>
            <a:off x="594360" y="3959352"/>
            <a:ext cx="73152" cy="786384"/>
          </a:xfrm>
          <a:prstGeom prst="rect">
            <a:avLst/>
          </a:prstGeom>
          <a:solidFill>
            <a:srgbClr val="16A3A3"/>
          </a:solidFill>
          <a:ln w="12700">
            <a:solidFill>
              <a:srgbClr val="16A3A3"/>
            </a:solidFill>
            <a:prstDash val="solid"/>
          </a:ln>
        </p:spPr>
        <p:txBody>
          <a:bodyPr/>
          <a:lstStyle/>
          <a:p>
            <a:endParaRPr lang="en-US"/>
          </a:p>
        </p:txBody>
      </p:sp>
      <p:sp>
        <p:nvSpPr>
          <p:cNvPr id="31" name="Text 29"/>
          <p:cNvSpPr/>
          <p:nvPr/>
        </p:nvSpPr>
        <p:spPr>
          <a:xfrm>
            <a:off x="795528" y="4096512"/>
            <a:ext cx="483717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Legal / Compliance</a:t>
            </a:r>
            <a:endParaRPr lang="en-US" sz="1400" dirty="0"/>
          </a:p>
        </p:txBody>
      </p:sp>
      <p:sp>
        <p:nvSpPr>
          <p:cNvPr id="32" name="Text 30"/>
          <p:cNvSpPr/>
          <p:nvPr/>
        </p:nvSpPr>
        <p:spPr>
          <a:xfrm>
            <a:off x="795528" y="4398264"/>
            <a:ext cx="4837176" cy="219456"/>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Regulatory mapping, contracts, IP, vendor obligations.</a:t>
            </a:r>
            <a:endParaRPr lang="en-US" sz="1100" dirty="0"/>
          </a:p>
        </p:txBody>
      </p:sp>
      <p:sp>
        <p:nvSpPr>
          <p:cNvPr id="33" name="Shape 31"/>
          <p:cNvSpPr/>
          <p:nvPr/>
        </p:nvSpPr>
        <p:spPr>
          <a:xfrm>
            <a:off x="6172200" y="3959352"/>
            <a:ext cx="5166360" cy="786384"/>
          </a:xfrm>
          <a:prstGeom prst="roundRect">
            <a:avLst>
              <a:gd name="adj" fmla="val 9302"/>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34" name="Shape 32"/>
          <p:cNvSpPr/>
          <p:nvPr/>
        </p:nvSpPr>
        <p:spPr>
          <a:xfrm>
            <a:off x="6172200" y="3959352"/>
            <a:ext cx="73152" cy="786384"/>
          </a:xfrm>
          <a:prstGeom prst="rect">
            <a:avLst/>
          </a:prstGeom>
          <a:solidFill>
            <a:srgbClr val="6D5DF5"/>
          </a:solidFill>
          <a:ln w="12700">
            <a:solidFill>
              <a:srgbClr val="6D5DF5"/>
            </a:solidFill>
            <a:prstDash val="solid"/>
          </a:ln>
        </p:spPr>
        <p:txBody>
          <a:bodyPr/>
          <a:lstStyle/>
          <a:p>
            <a:endParaRPr lang="en-US"/>
          </a:p>
        </p:txBody>
      </p:sp>
      <p:sp>
        <p:nvSpPr>
          <p:cNvPr id="35" name="Text 33"/>
          <p:cNvSpPr/>
          <p:nvPr/>
        </p:nvSpPr>
        <p:spPr>
          <a:xfrm>
            <a:off x="6373368" y="4096512"/>
            <a:ext cx="483717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AI Auditor</a:t>
            </a:r>
            <a:endParaRPr lang="en-US" sz="1400" dirty="0"/>
          </a:p>
        </p:txBody>
      </p:sp>
      <p:sp>
        <p:nvSpPr>
          <p:cNvPr id="36" name="Text 34"/>
          <p:cNvSpPr/>
          <p:nvPr/>
        </p:nvSpPr>
        <p:spPr>
          <a:xfrm>
            <a:off x="6373368" y="4398264"/>
            <a:ext cx="4837176" cy="219456"/>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Independent testing for fairness, explainability, drift, and controls.</a:t>
            </a:r>
            <a:endParaRPr lang="en-US" sz="1100" dirty="0"/>
          </a:p>
        </p:txBody>
      </p:sp>
      <p:sp>
        <p:nvSpPr>
          <p:cNvPr id="37" name="Shape 35"/>
          <p:cNvSpPr/>
          <p:nvPr/>
        </p:nvSpPr>
        <p:spPr>
          <a:xfrm>
            <a:off x="594360" y="4928616"/>
            <a:ext cx="5166360" cy="786384"/>
          </a:xfrm>
          <a:prstGeom prst="roundRect">
            <a:avLst>
              <a:gd name="adj" fmla="val 9302"/>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38" name="Shape 36"/>
          <p:cNvSpPr/>
          <p:nvPr/>
        </p:nvSpPr>
        <p:spPr>
          <a:xfrm>
            <a:off x="594360" y="4928616"/>
            <a:ext cx="73152" cy="786384"/>
          </a:xfrm>
          <a:prstGeom prst="rect">
            <a:avLst/>
          </a:prstGeom>
          <a:solidFill>
            <a:srgbClr val="2E7D32"/>
          </a:solidFill>
          <a:ln w="12700">
            <a:solidFill>
              <a:srgbClr val="2E7D32"/>
            </a:solidFill>
            <a:prstDash val="solid"/>
          </a:ln>
        </p:spPr>
        <p:txBody>
          <a:bodyPr/>
          <a:lstStyle/>
          <a:p>
            <a:endParaRPr lang="en-US"/>
          </a:p>
        </p:txBody>
      </p:sp>
      <p:sp>
        <p:nvSpPr>
          <p:cNvPr id="39" name="Text 37"/>
          <p:cNvSpPr/>
          <p:nvPr/>
        </p:nvSpPr>
        <p:spPr>
          <a:xfrm>
            <a:off x="795528" y="5065776"/>
            <a:ext cx="483717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HR / Training Lead</a:t>
            </a:r>
            <a:endParaRPr lang="en-US" sz="1400" dirty="0"/>
          </a:p>
        </p:txBody>
      </p:sp>
      <p:sp>
        <p:nvSpPr>
          <p:cNvPr id="40" name="Text 38"/>
          <p:cNvSpPr/>
          <p:nvPr/>
        </p:nvSpPr>
        <p:spPr>
          <a:xfrm>
            <a:off x="795528" y="5367528"/>
            <a:ext cx="4837176" cy="219456"/>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Role-based training and employee impact review.</a:t>
            </a:r>
            <a:endParaRPr lang="en-US" sz="1100" dirty="0"/>
          </a:p>
        </p:txBody>
      </p:sp>
      <p:sp>
        <p:nvSpPr>
          <p:cNvPr id="41" name="Shape 39"/>
          <p:cNvSpPr/>
          <p:nvPr/>
        </p:nvSpPr>
        <p:spPr>
          <a:xfrm>
            <a:off x="6172200" y="4928616"/>
            <a:ext cx="5166360" cy="786384"/>
          </a:xfrm>
          <a:prstGeom prst="roundRect">
            <a:avLst>
              <a:gd name="adj" fmla="val 9302"/>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42" name="Shape 40"/>
          <p:cNvSpPr/>
          <p:nvPr/>
        </p:nvSpPr>
        <p:spPr>
          <a:xfrm>
            <a:off x="6172200" y="4928616"/>
            <a:ext cx="73152" cy="786384"/>
          </a:xfrm>
          <a:prstGeom prst="rect">
            <a:avLst/>
          </a:prstGeom>
          <a:solidFill>
            <a:srgbClr val="F0B429"/>
          </a:solidFill>
          <a:ln w="12700">
            <a:solidFill>
              <a:srgbClr val="F0B429"/>
            </a:solidFill>
            <a:prstDash val="solid"/>
          </a:ln>
        </p:spPr>
        <p:txBody>
          <a:bodyPr/>
          <a:lstStyle/>
          <a:p>
            <a:endParaRPr lang="en-US"/>
          </a:p>
        </p:txBody>
      </p:sp>
      <p:sp>
        <p:nvSpPr>
          <p:cNvPr id="43" name="Text 41"/>
          <p:cNvSpPr/>
          <p:nvPr/>
        </p:nvSpPr>
        <p:spPr>
          <a:xfrm>
            <a:off x="6373368" y="5065776"/>
            <a:ext cx="483717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Customer Success</a:t>
            </a:r>
            <a:endParaRPr lang="en-US" sz="1400" dirty="0"/>
          </a:p>
        </p:txBody>
      </p:sp>
      <p:sp>
        <p:nvSpPr>
          <p:cNvPr id="44" name="Text 42"/>
          <p:cNvSpPr/>
          <p:nvPr/>
        </p:nvSpPr>
        <p:spPr>
          <a:xfrm>
            <a:off x="6373368" y="5367528"/>
            <a:ext cx="4837176" cy="219456"/>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User education, feedback, complaints, appeals, and monitoring signals.</a:t>
            </a:r>
            <a:endParaRPr lang="en-US" sz="1100" dirty="0"/>
          </a:p>
        </p:txBody>
      </p:sp>
      <p:sp>
        <p:nvSpPr>
          <p:cNvPr id="45" name="Slide Number Placeholder 0"/>
          <p:cNvSpPr>
            <a:spLocks noGrp="1"/>
          </p:cNvSpPr>
          <p:nvPr>
            <p:ph type="sldNum" sz="quarter" idx="4294967295"/>
          </p:nvPr>
        </p:nvSpPr>
        <p:spPr>
          <a:xfrm>
            <a:off x="11475720" y="662940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237744"/>
            <a:ext cx="5303520" cy="201168"/>
          </a:xfrm>
          <a:prstGeom prst="rect">
            <a:avLst/>
          </a:prstGeom>
          <a:noFill/>
          <a:ln/>
        </p:spPr>
        <p:txBody>
          <a:bodyPr wrap="square" lIns="0" tIns="0" rIns="0" bIns="0" rtlCol="0" anchor="ctr"/>
          <a:lstStyle/>
          <a:p>
            <a:pPr marL="0" indent="0">
              <a:buNone/>
            </a:pPr>
            <a:r>
              <a:rPr lang="en-US" sz="800" b="1" dirty="0">
                <a:solidFill>
                  <a:srgbClr val="1E5BFF"/>
                </a:solidFill>
                <a:latin typeface="Aptos" pitchFamily="34" charset="0"/>
                <a:ea typeface="Aptos" pitchFamily="34" charset="-122"/>
                <a:cs typeface="Aptos" pitchFamily="34" charset="-120"/>
              </a:rPr>
              <a:t>12-MONTH IMPLEMENTATION ROADMAP</a:t>
            </a:r>
            <a:endParaRPr lang="en-US" sz="800" dirty="0"/>
          </a:p>
        </p:txBody>
      </p:sp>
      <p:sp>
        <p:nvSpPr>
          <p:cNvPr id="3" name="Text 1"/>
          <p:cNvSpPr/>
          <p:nvPr/>
        </p:nvSpPr>
        <p:spPr>
          <a:xfrm>
            <a:off x="594360" y="502920"/>
            <a:ext cx="10789920" cy="411480"/>
          </a:xfrm>
          <a:prstGeom prst="rect">
            <a:avLst/>
          </a:prstGeom>
          <a:noFill/>
          <a:ln/>
        </p:spPr>
        <p:txBody>
          <a:bodyPr wrap="square" lIns="0" tIns="0" rIns="0" bIns="0" rtlCol="0" anchor="ctr">
            <a:normAutofit/>
          </a:bodyP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Timeline for standing up RAI accountability</a:t>
            </a:r>
            <a:endParaRPr lang="en-US" sz="3000" dirty="0"/>
          </a:p>
        </p:txBody>
      </p:sp>
      <p:sp>
        <p:nvSpPr>
          <p:cNvPr id="4" name="Text 2"/>
          <p:cNvSpPr/>
          <p:nvPr/>
        </p:nvSpPr>
        <p:spPr>
          <a:xfrm>
            <a:off x="594360" y="6611112"/>
            <a:ext cx="5669280" cy="146304"/>
          </a:xfrm>
          <a:prstGeom prst="rect">
            <a:avLst/>
          </a:prstGeom>
          <a:noFill/>
          <a:ln/>
        </p:spPr>
        <p:txBody>
          <a:bodyPr wrap="square" lIns="0" tIns="0" rIns="0" bIns="0" rtlCol="0" anchor="ctr"/>
          <a:lstStyle/>
          <a:p>
            <a:pPr marL="0" indent="0">
              <a:buNone/>
            </a:pPr>
            <a:r>
              <a:rPr lang="en-US" sz="680" dirty="0">
                <a:solidFill>
                  <a:srgbClr val="5D6B82"/>
                </a:solidFill>
              </a:rPr>
              <a:t>Responsible AI Framework  •  NeuroVerse Inc. / NeuroCreate</a:t>
            </a:r>
            <a:endParaRPr lang="en-US" sz="680" dirty="0"/>
          </a:p>
        </p:txBody>
      </p:sp>
      <p:sp>
        <p:nvSpPr>
          <p:cNvPr id="5" name="Shape 3"/>
          <p:cNvSpPr/>
          <p:nvPr/>
        </p:nvSpPr>
        <p:spPr>
          <a:xfrm>
            <a:off x="1325880" y="1828800"/>
            <a:ext cx="914400" cy="0"/>
          </a:xfrm>
          <a:prstGeom prst="line">
            <a:avLst/>
          </a:prstGeom>
          <a:noFill/>
          <a:ln w="25400">
            <a:solidFill>
              <a:srgbClr val="D5DEE8"/>
            </a:solidFill>
            <a:prstDash val="solid"/>
          </a:ln>
        </p:spPr>
        <p:txBody>
          <a:bodyPr/>
          <a:lstStyle/>
          <a:p>
            <a:endParaRPr lang="en-US"/>
          </a:p>
        </p:txBody>
      </p:sp>
      <p:sp>
        <p:nvSpPr>
          <p:cNvPr id="6" name="Shape 4"/>
          <p:cNvSpPr/>
          <p:nvPr/>
        </p:nvSpPr>
        <p:spPr>
          <a:xfrm>
            <a:off x="1143000" y="1572768"/>
            <a:ext cx="438912" cy="438912"/>
          </a:xfrm>
          <a:prstGeom prst="ellipse">
            <a:avLst/>
          </a:prstGeom>
          <a:solidFill>
            <a:srgbClr val="1E5BFF"/>
          </a:solidFill>
          <a:ln w="12700">
            <a:solidFill>
              <a:srgbClr val="1E5BFF"/>
            </a:solidFill>
            <a:prstDash val="solid"/>
          </a:ln>
        </p:spPr>
        <p:txBody>
          <a:bodyPr/>
          <a:lstStyle/>
          <a:p>
            <a:endParaRPr lang="en-US"/>
          </a:p>
        </p:txBody>
      </p:sp>
      <p:sp>
        <p:nvSpPr>
          <p:cNvPr id="7" name="Text 5"/>
          <p:cNvSpPr/>
          <p:nvPr/>
        </p:nvSpPr>
        <p:spPr>
          <a:xfrm>
            <a:off x="1143000" y="1700784"/>
            <a:ext cx="438912" cy="73152"/>
          </a:xfrm>
          <a:prstGeom prst="rect">
            <a:avLst/>
          </a:prstGeom>
          <a:noFill/>
          <a:ln/>
        </p:spPr>
        <p:txBody>
          <a:bodyPr wrap="square" lIns="0" tIns="0" rIns="0" bIns="0" rtlCol="0" anchor="ctr"/>
          <a:lstStyle/>
          <a:p>
            <a:pPr marL="0" indent="0" algn="ctr">
              <a:buNone/>
            </a:pPr>
            <a:r>
              <a:rPr lang="en-US" sz="800" b="1" dirty="0">
                <a:solidFill>
                  <a:srgbClr val="FFFFFF"/>
                </a:solidFill>
              </a:rPr>
              <a:t>1</a:t>
            </a:r>
            <a:endParaRPr lang="en-US" sz="800" dirty="0"/>
          </a:p>
        </p:txBody>
      </p:sp>
      <p:sp>
        <p:nvSpPr>
          <p:cNvPr id="8" name="Shape 6"/>
          <p:cNvSpPr/>
          <p:nvPr/>
        </p:nvSpPr>
        <p:spPr>
          <a:xfrm>
            <a:off x="640080" y="2240280"/>
            <a:ext cx="1417320" cy="2240280"/>
          </a:xfrm>
          <a:prstGeom prst="roundRect">
            <a:avLst>
              <a:gd name="adj" fmla="val 5161"/>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9" name="Shape 7"/>
          <p:cNvSpPr/>
          <p:nvPr/>
        </p:nvSpPr>
        <p:spPr>
          <a:xfrm>
            <a:off x="640080" y="2240280"/>
            <a:ext cx="73152" cy="2240280"/>
          </a:xfrm>
          <a:prstGeom prst="rect">
            <a:avLst/>
          </a:prstGeom>
          <a:solidFill>
            <a:srgbClr val="1E5BFF"/>
          </a:solidFill>
          <a:ln w="12700">
            <a:solidFill>
              <a:srgbClr val="1E5BFF"/>
            </a:solidFill>
            <a:prstDash val="solid"/>
          </a:ln>
        </p:spPr>
        <p:txBody>
          <a:bodyPr/>
          <a:lstStyle/>
          <a:p>
            <a:endParaRPr lang="en-US"/>
          </a:p>
        </p:txBody>
      </p:sp>
      <p:sp>
        <p:nvSpPr>
          <p:cNvPr id="10" name="Text 8"/>
          <p:cNvSpPr/>
          <p:nvPr/>
        </p:nvSpPr>
        <p:spPr>
          <a:xfrm>
            <a:off x="841248" y="2377440"/>
            <a:ext cx="108813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Months 1–2</a:t>
            </a:r>
            <a:endParaRPr lang="en-US" sz="1400" dirty="0"/>
          </a:p>
          <a:p>
            <a:pPr marL="0" indent="0">
              <a:buNone/>
            </a:pPr>
            <a:r>
              <a:rPr lang="en-US" sz="1400" b="1" dirty="0">
                <a:solidFill>
                  <a:srgbClr val="0B1F3A"/>
                </a:solidFill>
              </a:rPr>
              <a:t>Foundation</a:t>
            </a:r>
            <a:endParaRPr lang="en-US" sz="1400" dirty="0"/>
          </a:p>
        </p:txBody>
      </p:sp>
      <p:sp>
        <p:nvSpPr>
          <p:cNvPr id="11" name="Text 9"/>
          <p:cNvSpPr/>
          <p:nvPr/>
        </p:nvSpPr>
        <p:spPr>
          <a:xfrm>
            <a:off x="841248" y="2679192"/>
            <a:ext cx="1088136" cy="167335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Finalize principles, risk taxonomy, model registry, AI use-case intake form.</a:t>
            </a:r>
            <a:endParaRPr lang="en-US" sz="1100" dirty="0"/>
          </a:p>
        </p:txBody>
      </p:sp>
      <p:sp>
        <p:nvSpPr>
          <p:cNvPr id="12" name="Shape 10"/>
          <p:cNvSpPr/>
          <p:nvPr/>
        </p:nvSpPr>
        <p:spPr>
          <a:xfrm>
            <a:off x="2953512" y="1828800"/>
            <a:ext cx="914400" cy="0"/>
          </a:xfrm>
          <a:prstGeom prst="line">
            <a:avLst/>
          </a:prstGeom>
          <a:noFill/>
          <a:ln w="25400">
            <a:solidFill>
              <a:srgbClr val="D5DEE8"/>
            </a:solidFill>
            <a:prstDash val="solid"/>
          </a:ln>
        </p:spPr>
        <p:txBody>
          <a:bodyPr/>
          <a:lstStyle/>
          <a:p>
            <a:endParaRPr lang="en-US"/>
          </a:p>
        </p:txBody>
      </p:sp>
      <p:sp>
        <p:nvSpPr>
          <p:cNvPr id="13" name="Shape 11"/>
          <p:cNvSpPr/>
          <p:nvPr/>
        </p:nvSpPr>
        <p:spPr>
          <a:xfrm>
            <a:off x="2770632" y="1572768"/>
            <a:ext cx="438912" cy="438912"/>
          </a:xfrm>
          <a:prstGeom prst="ellipse">
            <a:avLst/>
          </a:prstGeom>
          <a:solidFill>
            <a:srgbClr val="16A3A3"/>
          </a:solidFill>
          <a:ln w="12700">
            <a:solidFill>
              <a:srgbClr val="16A3A3"/>
            </a:solidFill>
            <a:prstDash val="solid"/>
          </a:ln>
        </p:spPr>
        <p:txBody>
          <a:bodyPr/>
          <a:lstStyle/>
          <a:p>
            <a:endParaRPr lang="en-US"/>
          </a:p>
        </p:txBody>
      </p:sp>
      <p:sp>
        <p:nvSpPr>
          <p:cNvPr id="14" name="Text 12"/>
          <p:cNvSpPr/>
          <p:nvPr/>
        </p:nvSpPr>
        <p:spPr>
          <a:xfrm>
            <a:off x="2770632" y="1700784"/>
            <a:ext cx="438912" cy="73152"/>
          </a:xfrm>
          <a:prstGeom prst="rect">
            <a:avLst/>
          </a:prstGeom>
          <a:noFill/>
          <a:ln/>
        </p:spPr>
        <p:txBody>
          <a:bodyPr wrap="square" lIns="0" tIns="0" rIns="0" bIns="0" rtlCol="0" anchor="ctr"/>
          <a:lstStyle/>
          <a:p>
            <a:pPr marL="0" indent="0" algn="ctr">
              <a:buNone/>
            </a:pPr>
            <a:r>
              <a:rPr lang="en-US" sz="800" b="1" dirty="0">
                <a:solidFill>
                  <a:srgbClr val="FFFFFF"/>
                </a:solidFill>
              </a:rPr>
              <a:t>2</a:t>
            </a:r>
            <a:endParaRPr lang="en-US" sz="800" dirty="0"/>
          </a:p>
        </p:txBody>
      </p:sp>
      <p:sp>
        <p:nvSpPr>
          <p:cNvPr id="15" name="Shape 13"/>
          <p:cNvSpPr/>
          <p:nvPr/>
        </p:nvSpPr>
        <p:spPr>
          <a:xfrm>
            <a:off x="2267712" y="2240280"/>
            <a:ext cx="1417320" cy="2240280"/>
          </a:xfrm>
          <a:prstGeom prst="roundRect">
            <a:avLst>
              <a:gd name="adj" fmla="val 5161"/>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16" name="Shape 14"/>
          <p:cNvSpPr/>
          <p:nvPr/>
        </p:nvSpPr>
        <p:spPr>
          <a:xfrm>
            <a:off x="2267712" y="2240280"/>
            <a:ext cx="73152" cy="2240280"/>
          </a:xfrm>
          <a:prstGeom prst="rect">
            <a:avLst/>
          </a:prstGeom>
          <a:solidFill>
            <a:srgbClr val="16A3A3"/>
          </a:solidFill>
          <a:ln w="12700">
            <a:solidFill>
              <a:srgbClr val="16A3A3"/>
            </a:solidFill>
            <a:prstDash val="solid"/>
          </a:ln>
        </p:spPr>
        <p:txBody>
          <a:bodyPr/>
          <a:lstStyle/>
          <a:p>
            <a:endParaRPr lang="en-US"/>
          </a:p>
        </p:txBody>
      </p:sp>
      <p:sp>
        <p:nvSpPr>
          <p:cNvPr id="17" name="Text 15"/>
          <p:cNvSpPr/>
          <p:nvPr/>
        </p:nvSpPr>
        <p:spPr>
          <a:xfrm>
            <a:off x="2468880" y="2377440"/>
            <a:ext cx="108813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Months 3–4</a:t>
            </a:r>
            <a:endParaRPr lang="en-US" sz="1400" dirty="0"/>
          </a:p>
          <a:p>
            <a:pPr marL="0" indent="0">
              <a:buNone/>
            </a:pPr>
            <a:r>
              <a:rPr lang="en-US" sz="1400" b="1" dirty="0">
                <a:solidFill>
                  <a:srgbClr val="0B1F3A"/>
                </a:solidFill>
              </a:rPr>
              <a:t>Governance</a:t>
            </a:r>
            <a:endParaRPr lang="en-US" sz="1400" dirty="0"/>
          </a:p>
        </p:txBody>
      </p:sp>
      <p:sp>
        <p:nvSpPr>
          <p:cNvPr id="18" name="Text 16"/>
          <p:cNvSpPr/>
          <p:nvPr/>
        </p:nvSpPr>
        <p:spPr>
          <a:xfrm>
            <a:off x="2468880" y="2679192"/>
            <a:ext cx="1088136" cy="167335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Name CAIEO, launch RAI Board, define approval matrix and escalation path.</a:t>
            </a:r>
            <a:endParaRPr lang="en-US" sz="1100" dirty="0"/>
          </a:p>
        </p:txBody>
      </p:sp>
      <p:sp>
        <p:nvSpPr>
          <p:cNvPr id="19" name="Shape 17"/>
          <p:cNvSpPr/>
          <p:nvPr/>
        </p:nvSpPr>
        <p:spPr>
          <a:xfrm>
            <a:off x="4581144" y="1828800"/>
            <a:ext cx="914400" cy="0"/>
          </a:xfrm>
          <a:prstGeom prst="line">
            <a:avLst/>
          </a:prstGeom>
          <a:noFill/>
          <a:ln w="25400">
            <a:solidFill>
              <a:srgbClr val="D5DEE8"/>
            </a:solidFill>
            <a:prstDash val="solid"/>
          </a:ln>
        </p:spPr>
        <p:txBody>
          <a:bodyPr/>
          <a:lstStyle/>
          <a:p>
            <a:endParaRPr lang="en-US"/>
          </a:p>
        </p:txBody>
      </p:sp>
      <p:sp>
        <p:nvSpPr>
          <p:cNvPr id="20" name="Shape 18"/>
          <p:cNvSpPr/>
          <p:nvPr/>
        </p:nvSpPr>
        <p:spPr>
          <a:xfrm>
            <a:off x="4398264" y="1572768"/>
            <a:ext cx="438912" cy="438912"/>
          </a:xfrm>
          <a:prstGeom prst="ellipse">
            <a:avLst/>
          </a:prstGeom>
          <a:solidFill>
            <a:srgbClr val="6D5DF5"/>
          </a:solidFill>
          <a:ln w="12700">
            <a:solidFill>
              <a:srgbClr val="6D5DF5"/>
            </a:solidFill>
            <a:prstDash val="solid"/>
          </a:ln>
        </p:spPr>
        <p:txBody>
          <a:bodyPr/>
          <a:lstStyle/>
          <a:p>
            <a:endParaRPr lang="en-US"/>
          </a:p>
        </p:txBody>
      </p:sp>
      <p:sp>
        <p:nvSpPr>
          <p:cNvPr id="21" name="Text 19"/>
          <p:cNvSpPr/>
          <p:nvPr/>
        </p:nvSpPr>
        <p:spPr>
          <a:xfrm>
            <a:off x="4398264" y="1700784"/>
            <a:ext cx="438912" cy="73152"/>
          </a:xfrm>
          <a:prstGeom prst="rect">
            <a:avLst/>
          </a:prstGeom>
          <a:noFill/>
          <a:ln/>
        </p:spPr>
        <p:txBody>
          <a:bodyPr wrap="square" lIns="0" tIns="0" rIns="0" bIns="0" rtlCol="0" anchor="ctr"/>
          <a:lstStyle/>
          <a:p>
            <a:pPr marL="0" indent="0" algn="ctr">
              <a:buNone/>
            </a:pPr>
            <a:r>
              <a:rPr lang="en-US" sz="800" b="1" dirty="0">
                <a:solidFill>
                  <a:srgbClr val="FFFFFF"/>
                </a:solidFill>
              </a:rPr>
              <a:t>3</a:t>
            </a:r>
            <a:endParaRPr lang="en-US" sz="800" dirty="0"/>
          </a:p>
        </p:txBody>
      </p:sp>
      <p:sp>
        <p:nvSpPr>
          <p:cNvPr id="22" name="Shape 20"/>
          <p:cNvSpPr/>
          <p:nvPr/>
        </p:nvSpPr>
        <p:spPr>
          <a:xfrm>
            <a:off x="3895344" y="2240280"/>
            <a:ext cx="1417320" cy="2240280"/>
          </a:xfrm>
          <a:prstGeom prst="roundRect">
            <a:avLst>
              <a:gd name="adj" fmla="val 5161"/>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23" name="Shape 21"/>
          <p:cNvSpPr/>
          <p:nvPr/>
        </p:nvSpPr>
        <p:spPr>
          <a:xfrm>
            <a:off x="3895344" y="2240280"/>
            <a:ext cx="73152" cy="2240280"/>
          </a:xfrm>
          <a:prstGeom prst="rect">
            <a:avLst/>
          </a:prstGeom>
          <a:solidFill>
            <a:srgbClr val="6D5DF5"/>
          </a:solidFill>
          <a:ln w="12700">
            <a:solidFill>
              <a:srgbClr val="6D5DF5"/>
            </a:solidFill>
            <a:prstDash val="solid"/>
          </a:ln>
        </p:spPr>
        <p:txBody>
          <a:bodyPr/>
          <a:lstStyle/>
          <a:p>
            <a:endParaRPr lang="en-US"/>
          </a:p>
        </p:txBody>
      </p:sp>
      <p:sp>
        <p:nvSpPr>
          <p:cNvPr id="24" name="Text 22"/>
          <p:cNvSpPr/>
          <p:nvPr/>
        </p:nvSpPr>
        <p:spPr>
          <a:xfrm>
            <a:off x="4096512" y="2377440"/>
            <a:ext cx="108813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Months 5–6</a:t>
            </a:r>
            <a:endParaRPr lang="en-US" sz="1400" dirty="0"/>
          </a:p>
          <a:p>
            <a:pPr marL="0" indent="0">
              <a:buNone/>
            </a:pPr>
            <a:r>
              <a:rPr lang="en-US" sz="1400" b="1" dirty="0">
                <a:solidFill>
                  <a:srgbClr val="0B1F3A"/>
                </a:solidFill>
              </a:rPr>
              <a:t>Controls</a:t>
            </a:r>
            <a:endParaRPr lang="en-US" sz="1400" dirty="0"/>
          </a:p>
        </p:txBody>
      </p:sp>
      <p:sp>
        <p:nvSpPr>
          <p:cNvPr id="25" name="Text 23"/>
          <p:cNvSpPr/>
          <p:nvPr/>
        </p:nvSpPr>
        <p:spPr>
          <a:xfrm>
            <a:off x="4096512" y="2679192"/>
            <a:ext cx="1088136" cy="167335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Build templates: data sheet, model card, privacy review, bias report, vendor checklist.</a:t>
            </a:r>
            <a:endParaRPr lang="en-US" sz="1100" dirty="0"/>
          </a:p>
        </p:txBody>
      </p:sp>
      <p:sp>
        <p:nvSpPr>
          <p:cNvPr id="26" name="Shape 24"/>
          <p:cNvSpPr/>
          <p:nvPr/>
        </p:nvSpPr>
        <p:spPr>
          <a:xfrm>
            <a:off x="6208776" y="1828800"/>
            <a:ext cx="914400" cy="0"/>
          </a:xfrm>
          <a:prstGeom prst="line">
            <a:avLst/>
          </a:prstGeom>
          <a:noFill/>
          <a:ln w="25400">
            <a:solidFill>
              <a:srgbClr val="D5DEE8"/>
            </a:solidFill>
            <a:prstDash val="solid"/>
          </a:ln>
        </p:spPr>
        <p:txBody>
          <a:bodyPr/>
          <a:lstStyle/>
          <a:p>
            <a:endParaRPr lang="en-US"/>
          </a:p>
        </p:txBody>
      </p:sp>
      <p:sp>
        <p:nvSpPr>
          <p:cNvPr id="27" name="Shape 25"/>
          <p:cNvSpPr/>
          <p:nvPr/>
        </p:nvSpPr>
        <p:spPr>
          <a:xfrm>
            <a:off x="6025896" y="1572768"/>
            <a:ext cx="438912" cy="438912"/>
          </a:xfrm>
          <a:prstGeom prst="ellipse">
            <a:avLst/>
          </a:prstGeom>
          <a:solidFill>
            <a:srgbClr val="2E7D32"/>
          </a:solidFill>
          <a:ln w="12700">
            <a:solidFill>
              <a:srgbClr val="2E7D32"/>
            </a:solidFill>
            <a:prstDash val="solid"/>
          </a:ln>
        </p:spPr>
        <p:txBody>
          <a:bodyPr/>
          <a:lstStyle/>
          <a:p>
            <a:endParaRPr lang="en-US"/>
          </a:p>
        </p:txBody>
      </p:sp>
      <p:sp>
        <p:nvSpPr>
          <p:cNvPr id="28" name="Text 26"/>
          <p:cNvSpPr/>
          <p:nvPr/>
        </p:nvSpPr>
        <p:spPr>
          <a:xfrm>
            <a:off x="6025896" y="1700784"/>
            <a:ext cx="438912" cy="73152"/>
          </a:xfrm>
          <a:prstGeom prst="rect">
            <a:avLst/>
          </a:prstGeom>
          <a:noFill/>
          <a:ln/>
        </p:spPr>
        <p:txBody>
          <a:bodyPr wrap="square" lIns="0" tIns="0" rIns="0" bIns="0" rtlCol="0" anchor="ctr"/>
          <a:lstStyle/>
          <a:p>
            <a:pPr marL="0" indent="0" algn="ctr">
              <a:buNone/>
            </a:pPr>
            <a:r>
              <a:rPr lang="en-US" sz="800" b="1" dirty="0">
                <a:solidFill>
                  <a:srgbClr val="FFFFFF"/>
                </a:solidFill>
              </a:rPr>
              <a:t>4</a:t>
            </a:r>
            <a:endParaRPr lang="en-US" sz="800" dirty="0"/>
          </a:p>
        </p:txBody>
      </p:sp>
      <p:sp>
        <p:nvSpPr>
          <p:cNvPr id="29" name="Shape 27"/>
          <p:cNvSpPr/>
          <p:nvPr/>
        </p:nvSpPr>
        <p:spPr>
          <a:xfrm>
            <a:off x="5522976" y="2240280"/>
            <a:ext cx="1417320" cy="2240280"/>
          </a:xfrm>
          <a:prstGeom prst="roundRect">
            <a:avLst>
              <a:gd name="adj" fmla="val 5161"/>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30" name="Shape 28"/>
          <p:cNvSpPr/>
          <p:nvPr/>
        </p:nvSpPr>
        <p:spPr>
          <a:xfrm>
            <a:off x="5522976" y="2240280"/>
            <a:ext cx="73152" cy="2240280"/>
          </a:xfrm>
          <a:prstGeom prst="rect">
            <a:avLst/>
          </a:prstGeom>
          <a:solidFill>
            <a:srgbClr val="2E7D32"/>
          </a:solidFill>
          <a:ln w="12700">
            <a:solidFill>
              <a:srgbClr val="2E7D32"/>
            </a:solidFill>
            <a:prstDash val="solid"/>
          </a:ln>
        </p:spPr>
        <p:txBody>
          <a:bodyPr/>
          <a:lstStyle/>
          <a:p>
            <a:endParaRPr lang="en-US"/>
          </a:p>
        </p:txBody>
      </p:sp>
      <p:sp>
        <p:nvSpPr>
          <p:cNvPr id="31" name="Text 29"/>
          <p:cNvSpPr/>
          <p:nvPr/>
        </p:nvSpPr>
        <p:spPr>
          <a:xfrm>
            <a:off x="5724144" y="2377440"/>
            <a:ext cx="108813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Months 7–8</a:t>
            </a:r>
            <a:endParaRPr lang="en-US" sz="1400" dirty="0"/>
          </a:p>
          <a:p>
            <a:pPr marL="0" indent="0">
              <a:buNone/>
            </a:pPr>
            <a:r>
              <a:rPr lang="en-US" sz="1400" b="1" dirty="0">
                <a:solidFill>
                  <a:srgbClr val="0B1F3A"/>
                </a:solidFill>
              </a:rPr>
              <a:t>Tooling</a:t>
            </a:r>
            <a:endParaRPr lang="en-US" sz="1400" dirty="0"/>
          </a:p>
        </p:txBody>
      </p:sp>
      <p:sp>
        <p:nvSpPr>
          <p:cNvPr id="32" name="Text 30"/>
          <p:cNvSpPr/>
          <p:nvPr/>
        </p:nvSpPr>
        <p:spPr>
          <a:xfrm>
            <a:off x="5724144" y="2679192"/>
            <a:ext cx="1088136" cy="167335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Implement monitoring dashboards, incident log, fairness/explainability workflows.</a:t>
            </a:r>
            <a:endParaRPr lang="en-US" sz="1100" dirty="0"/>
          </a:p>
        </p:txBody>
      </p:sp>
      <p:sp>
        <p:nvSpPr>
          <p:cNvPr id="33" name="Shape 31"/>
          <p:cNvSpPr/>
          <p:nvPr/>
        </p:nvSpPr>
        <p:spPr>
          <a:xfrm>
            <a:off x="7836408" y="1828800"/>
            <a:ext cx="914400" cy="0"/>
          </a:xfrm>
          <a:prstGeom prst="line">
            <a:avLst/>
          </a:prstGeom>
          <a:noFill/>
          <a:ln w="25400">
            <a:solidFill>
              <a:srgbClr val="D5DEE8"/>
            </a:solidFill>
            <a:prstDash val="solid"/>
          </a:ln>
        </p:spPr>
        <p:txBody>
          <a:bodyPr/>
          <a:lstStyle/>
          <a:p>
            <a:endParaRPr lang="en-US"/>
          </a:p>
        </p:txBody>
      </p:sp>
      <p:sp>
        <p:nvSpPr>
          <p:cNvPr id="34" name="Shape 32"/>
          <p:cNvSpPr/>
          <p:nvPr/>
        </p:nvSpPr>
        <p:spPr>
          <a:xfrm>
            <a:off x="7653528" y="1572768"/>
            <a:ext cx="438912" cy="438912"/>
          </a:xfrm>
          <a:prstGeom prst="ellipse">
            <a:avLst/>
          </a:prstGeom>
          <a:solidFill>
            <a:srgbClr val="F0B429"/>
          </a:solidFill>
          <a:ln w="12700">
            <a:solidFill>
              <a:srgbClr val="F0B429"/>
            </a:solidFill>
            <a:prstDash val="solid"/>
          </a:ln>
        </p:spPr>
        <p:txBody>
          <a:bodyPr/>
          <a:lstStyle/>
          <a:p>
            <a:endParaRPr lang="en-US"/>
          </a:p>
        </p:txBody>
      </p:sp>
      <p:sp>
        <p:nvSpPr>
          <p:cNvPr id="35" name="Text 33"/>
          <p:cNvSpPr/>
          <p:nvPr/>
        </p:nvSpPr>
        <p:spPr>
          <a:xfrm>
            <a:off x="7653528" y="1700784"/>
            <a:ext cx="438912" cy="73152"/>
          </a:xfrm>
          <a:prstGeom prst="rect">
            <a:avLst/>
          </a:prstGeom>
          <a:noFill/>
          <a:ln/>
        </p:spPr>
        <p:txBody>
          <a:bodyPr wrap="square" lIns="0" tIns="0" rIns="0" bIns="0" rtlCol="0" anchor="ctr"/>
          <a:lstStyle/>
          <a:p>
            <a:pPr marL="0" indent="0" algn="ctr">
              <a:buNone/>
            </a:pPr>
            <a:r>
              <a:rPr lang="en-US" sz="800" b="1" dirty="0">
                <a:solidFill>
                  <a:srgbClr val="FFFFFF"/>
                </a:solidFill>
              </a:rPr>
              <a:t>5</a:t>
            </a:r>
            <a:endParaRPr lang="en-US" sz="800" dirty="0"/>
          </a:p>
        </p:txBody>
      </p:sp>
      <p:sp>
        <p:nvSpPr>
          <p:cNvPr id="36" name="Shape 34"/>
          <p:cNvSpPr/>
          <p:nvPr/>
        </p:nvSpPr>
        <p:spPr>
          <a:xfrm>
            <a:off x="7150608" y="2240280"/>
            <a:ext cx="1417320" cy="2240280"/>
          </a:xfrm>
          <a:prstGeom prst="roundRect">
            <a:avLst>
              <a:gd name="adj" fmla="val 5161"/>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37" name="Shape 35"/>
          <p:cNvSpPr/>
          <p:nvPr/>
        </p:nvSpPr>
        <p:spPr>
          <a:xfrm>
            <a:off x="7150608" y="2240280"/>
            <a:ext cx="73152" cy="2240280"/>
          </a:xfrm>
          <a:prstGeom prst="rect">
            <a:avLst/>
          </a:prstGeom>
          <a:solidFill>
            <a:srgbClr val="F0B429"/>
          </a:solidFill>
          <a:ln w="12700">
            <a:solidFill>
              <a:srgbClr val="F0B429"/>
            </a:solidFill>
            <a:prstDash val="solid"/>
          </a:ln>
        </p:spPr>
        <p:txBody>
          <a:bodyPr/>
          <a:lstStyle/>
          <a:p>
            <a:endParaRPr lang="en-US"/>
          </a:p>
        </p:txBody>
      </p:sp>
      <p:sp>
        <p:nvSpPr>
          <p:cNvPr id="38" name="Text 36"/>
          <p:cNvSpPr/>
          <p:nvPr/>
        </p:nvSpPr>
        <p:spPr>
          <a:xfrm>
            <a:off x="7351776" y="2377440"/>
            <a:ext cx="108813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Months 9–10</a:t>
            </a:r>
            <a:endParaRPr lang="en-US" sz="1400" dirty="0"/>
          </a:p>
          <a:p>
            <a:pPr marL="0" indent="0">
              <a:buNone/>
            </a:pPr>
            <a:r>
              <a:rPr lang="en-US" sz="1400" b="1" dirty="0">
                <a:solidFill>
                  <a:srgbClr val="0B1F3A"/>
                </a:solidFill>
              </a:rPr>
              <a:t>Training</a:t>
            </a:r>
            <a:endParaRPr lang="en-US" sz="1400" dirty="0"/>
          </a:p>
        </p:txBody>
      </p:sp>
      <p:sp>
        <p:nvSpPr>
          <p:cNvPr id="39" name="Text 37"/>
          <p:cNvSpPr/>
          <p:nvPr/>
        </p:nvSpPr>
        <p:spPr>
          <a:xfrm>
            <a:off x="7351776" y="2679192"/>
            <a:ext cx="1088136" cy="167335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Complete all-employee RAI basics and role-specific training for builders and reviewers.</a:t>
            </a:r>
            <a:endParaRPr lang="en-US" sz="1100" dirty="0"/>
          </a:p>
        </p:txBody>
      </p:sp>
      <p:sp>
        <p:nvSpPr>
          <p:cNvPr id="40" name="Shape 38"/>
          <p:cNvSpPr/>
          <p:nvPr/>
        </p:nvSpPr>
        <p:spPr>
          <a:xfrm>
            <a:off x="9464040" y="1828800"/>
            <a:ext cx="914400" cy="0"/>
          </a:xfrm>
          <a:prstGeom prst="line">
            <a:avLst/>
          </a:prstGeom>
          <a:noFill/>
          <a:ln w="25400">
            <a:solidFill>
              <a:srgbClr val="D5DEE8"/>
            </a:solidFill>
            <a:prstDash val="solid"/>
          </a:ln>
        </p:spPr>
        <p:txBody>
          <a:bodyPr/>
          <a:lstStyle/>
          <a:p>
            <a:endParaRPr lang="en-US"/>
          </a:p>
        </p:txBody>
      </p:sp>
      <p:sp>
        <p:nvSpPr>
          <p:cNvPr id="41" name="Shape 39"/>
          <p:cNvSpPr/>
          <p:nvPr/>
        </p:nvSpPr>
        <p:spPr>
          <a:xfrm>
            <a:off x="9281160" y="1572768"/>
            <a:ext cx="438912" cy="438912"/>
          </a:xfrm>
          <a:prstGeom prst="ellipse">
            <a:avLst/>
          </a:prstGeom>
          <a:solidFill>
            <a:srgbClr val="C62828"/>
          </a:solidFill>
          <a:ln w="12700">
            <a:solidFill>
              <a:srgbClr val="C62828"/>
            </a:solidFill>
            <a:prstDash val="solid"/>
          </a:ln>
        </p:spPr>
        <p:txBody>
          <a:bodyPr/>
          <a:lstStyle/>
          <a:p>
            <a:endParaRPr lang="en-US"/>
          </a:p>
        </p:txBody>
      </p:sp>
      <p:sp>
        <p:nvSpPr>
          <p:cNvPr id="42" name="Text 40"/>
          <p:cNvSpPr/>
          <p:nvPr/>
        </p:nvSpPr>
        <p:spPr>
          <a:xfrm>
            <a:off x="9281160" y="1700784"/>
            <a:ext cx="438912" cy="73152"/>
          </a:xfrm>
          <a:prstGeom prst="rect">
            <a:avLst/>
          </a:prstGeom>
          <a:noFill/>
          <a:ln/>
        </p:spPr>
        <p:txBody>
          <a:bodyPr wrap="square" lIns="0" tIns="0" rIns="0" bIns="0" rtlCol="0" anchor="ctr"/>
          <a:lstStyle/>
          <a:p>
            <a:pPr marL="0" indent="0" algn="ctr">
              <a:buNone/>
            </a:pPr>
            <a:r>
              <a:rPr lang="en-US" sz="800" b="1" dirty="0">
                <a:solidFill>
                  <a:srgbClr val="FFFFFF"/>
                </a:solidFill>
              </a:rPr>
              <a:t>6</a:t>
            </a:r>
            <a:endParaRPr lang="en-US" sz="800" dirty="0"/>
          </a:p>
        </p:txBody>
      </p:sp>
      <p:sp>
        <p:nvSpPr>
          <p:cNvPr id="43" name="Shape 41"/>
          <p:cNvSpPr/>
          <p:nvPr/>
        </p:nvSpPr>
        <p:spPr>
          <a:xfrm>
            <a:off x="8778240" y="2240280"/>
            <a:ext cx="1417320" cy="2240280"/>
          </a:xfrm>
          <a:prstGeom prst="roundRect">
            <a:avLst>
              <a:gd name="adj" fmla="val 5161"/>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44" name="Shape 42"/>
          <p:cNvSpPr/>
          <p:nvPr/>
        </p:nvSpPr>
        <p:spPr>
          <a:xfrm>
            <a:off x="8778240" y="2240280"/>
            <a:ext cx="73152" cy="2240280"/>
          </a:xfrm>
          <a:prstGeom prst="rect">
            <a:avLst/>
          </a:prstGeom>
          <a:solidFill>
            <a:srgbClr val="C62828"/>
          </a:solidFill>
          <a:ln w="12700">
            <a:solidFill>
              <a:srgbClr val="C62828"/>
            </a:solidFill>
            <a:prstDash val="solid"/>
          </a:ln>
        </p:spPr>
        <p:txBody>
          <a:bodyPr/>
          <a:lstStyle/>
          <a:p>
            <a:endParaRPr lang="en-US"/>
          </a:p>
        </p:txBody>
      </p:sp>
      <p:sp>
        <p:nvSpPr>
          <p:cNvPr id="45" name="Text 43"/>
          <p:cNvSpPr/>
          <p:nvPr/>
        </p:nvSpPr>
        <p:spPr>
          <a:xfrm>
            <a:off x="8979408" y="2377440"/>
            <a:ext cx="108813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Month 11</a:t>
            </a:r>
            <a:endParaRPr lang="en-US" sz="1400" dirty="0"/>
          </a:p>
          <a:p>
            <a:pPr marL="0" indent="0">
              <a:buNone/>
            </a:pPr>
            <a:r>
              <a:rPr lang="en-US" sz="1400" b="1" dirty="0">
                <a:solidFill>
                  <a:srgbClr val="0B1F3A"/>
                </a:solidFill>
              </a:rPr>
              <a:t>Audit</a:t>
            </a:r>
            <a:endParaRPr lang="en-US" sz="1400" dirty="0"/>
          </a:p>
        </p:txBody>
      </p:sp>
      <p:sp>
        <p:nvSpPr>
          <p:cNvPr id="46" name="Text 44"/>
          <p:cNvSpPr/>
          <p:nvPr/>
        </p:nvSpPr>
        <p:spPr>
          <a:xfrm>
            <a:off x="8979408" y="2679192"/>
            <a:ext cx="1088136" cy="167335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Pilot internal audit of top-risk systems and close remediation actions.</a:t>
            </a:r>
            <a:endParaRPr lang="en-US" sz="1100" dirty="0"/>
          </a:p>
        </p:txBody>
      </p:sp>
      <p:sp>
        <p:nvSpPr>
          <p:cNvPr id="47" name="Shape 45"/>
          <p:cNvSpPr/>
          <p:nvPr/>
        </p:nvSpPr>
        <p:spPr>
          <a:xfrm>
            <a:off x="11091672" y="1828800"/>
            <a:ext cx="914400" cy="0"/>
          </a:xfrm>
          <a:prstGeom prst="line">
            <a:avLst/>
          </a:prstGeom>
          <a:noFill/>
          <a:ln w="25400">
            <a:solidFill>
              <a:srgbClr val="D5DEE8"/>
            </a:solidFill>
            <a:prstDash val="solid"/>
          </a:ln>
        </p:spPr>
        <p:txBody>
          <a:bodyPr/>
          <a:lstStyle/>
          <a:p>
            <a:endParaRPr lang="en-US"/>
          </a:p>
        </p:txBody>
      </p:sp>
      <p:sp>
        <p:nvSpPr>
          <p:cNvPr id="48" name="Shape 46"/>
          <p:cNvSpPr/>
          <p:nvPr/>
        </p:nvSpPr>
        <p:spPr>
          <a:xfrm>
            <a:off x="10908792" y="1572768"/>
            <a:ext cx="438912" cy="438912"/>
          </a:xfrm>
          <a:prstGeom prst="ellipse">
            <a:avLst/>
          </a:prstGeom>
          <a:solidFill>
            <a:srgbClr val="0B1F3A"/>
          </a:solidFill>
          <a:ln w="12700">
            <a:solidFill>
              <a:srgbClr val="0B1F3A"/>
            </a:solidFill>
            <a:prstDash val="solid"/>
          </a:ln>
        </p:spPr>
        <p:txBody>
          <a:bodyPr/>
          <a:lstStyle/>
          <a:p>
            <a:endParaRPr lang="en-US"/>
          </a:p>
        </p:txBody>
      </p:sp>
      <p:sp>
        <p:nvSpPr>
          <p:cNvPr id="49" name="Text 47"/>
          <p:cNvSpPr/>
          <p:nvPr/>
        </p:nvSpPr>
        <p:spPr>
          <a:xfrm>
            <a:off x="10908792" y="1700784"/>
            <a:ext cx="438912" cy="73152"/>
          </a:xfrm>
          <a:prstGeom prst="rect">
            <a:avLst/>
          </a:prstGeom>
          <a:noFill/>
          <a:ln/>
        </p:spPr>
        <p:txBody>
          <a:bodyPr wrap="square" lIns="0" tIns="0" rIns="0" bIns="0" rtlCol="0" anchor="ctr"/>
          <a:lstStyle/>
          <a:p>
            <a:pPr marL="0" indent="0" algn="ctr">
              <a:buNone/>
            </a:pPr>
            <a:r>
              <a:rPr lang="en-US" sz="800" b="1" dirty="0">
                <a:solidFill>
                  <a:srgbClr val="FFFFFF"/>
                </a:solidFill>
              </a:rPr>
              <a:t>7</a:t>
            </a:r>
            <a:endParaRPr lang="en-US" sz="800" dirty="0"/>
          </a:p>
        </p:txBody>
      </p:sp>
      <p:sp>
        <p:nvSpPr>
          <p:cNvPr id="50" name="Shape 48"/>
          <p:cNvSpPr/>
          <p:nvPr/>
        </p:nvSpPr>
        <p:spPr>
          <a:xfrm>
            <a:off x="10405872" y="2240280"/>
            <a:ext cx="1417320" cy="2240280"/>
          </a:xfrm>
          <a:prstGeom prst="roundRect">
            <a:avLst>
              <a:gd name="adj" fmla="val 5161"/>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51" name="Shape 49"/>
          <p:cNvSpPr/>
          <p:nvPr/>
        </p:nvSpPr>
        <p:spPr>
          <a:xfrm>
            <a:off x="10405872" y="2240280"/>
            <a:ext cx="73152" cy="2240280"/>
          </a:xfrm>
          <a:prstGeom prst="rect">
            <a:avLst/>
          </a:prstGeom>
          <a:solidFill>
            <a:srgbClr val="0B1F3A"/>
          </a:solidFill>
          <a:ln w="12700">
            <a:solidFill>
              <a:srgbClr val="0B1F3A"/>
            </a:solidFill>
            <a:prstDash val="solid"/>
          </a:ln>
        </p:spPr>
        <p:txBody>
          <a:bodyPr/>
          <a:lstStyle/>
          <a:p>
            <a:endParaRPr lang="en-US"/>
          </a:p>
        </p:txBody>
      </p:sp>
      <p:sp>
        <p:nvSpPr>
          <p:cNvPr id="52" name="Text 50"/>
          <p:cNvSpPr/>
          <p:nvPr/>
        </p:nvSpPr>
        <p:spPr>
          <a:xfrm>
            <a:off x="10607040" y="2377440"/>
            <a:ext cx="108813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Month 12</a:t>
            </a:r>
            <a:endParaRPr lang="en-US" sz="1400" dirty="0"/>
          </a:p>
          <a:p>
            <a:pPr marL="0" indent="0">
              <a:buNone/>
            </a:pPr>
            <a:r>
              <a:rPr lang="en-US" sz="1400" b="1" dirty="0">
                <a:solidFill>
                  <a:srgbClr val="0B1F3A"/>
                </a:solidFill>
              </a:rPr>
              <a:t>Launch</a:t>
            </a:r>
            <a:endParaRPr lang="en-US" sz="1400" dirty="0"/>
          </a:p>
        </p:txBody>
      </p:sp>
      <p:sp>
        <p:nvSpPr>
          <p:cNvPr id="53" name="Text 51"/>
          <p:cNvSpPr/>
          <p:nvPr/>
        </p:nvSpPr>
        <p:spPr>
          <a:xfrm>
            <a:off x="10607040" y="2679192"/>
            <a:ext cx="1088136" cy="167335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Publish RAI scorecard, formalize continuous improvement cycle, add portfolio evidence.</a:t>
            </a:r>
            <a:endParaRPr lang="en-US" sz="1100" dirty="0"/>
          </a:p>
        </p:txBody>
      </p:sp>
      <p:sp>
        <p:nvSpPr>
          <p:cNvPr id="54" name="Text 52"/>
          <p:cNvSpPr/>
          <p:nvPr/>
        </p:nvSpPr>
        <p:spPr>
          <a:xfrm>
            <a:off x="1005840" y="5257800"/>
            <a:ext cx="10149840" cy="365760"/>
          </a:xfrm>
          <a:prstGeom prst="rect">
            <a:avLst/>
          </a:prstGeom>
          <a:noFill/>
          <a:ln/>
        </p:spPr>
        <p:txBody>
          <a:bodyPr wrap="square" lIns="381" tIns="381" rIns="381" bIns="381" rtlCol="0" anchor="ctr">
            <a:normAutofit/>
          </a:bodyPr>
          <a:lstStyle/>
          <a:p>
            <a:pPr marL="0" indent="0" algn="ctr">
              <a:buNone/>
            </a:pPr>
            <a:r>
              <a:rPr lang="en-US" sz="1300" b="1" dirty="0">
                <a:solidFill>
                  <a:srgbClr val="0B1F3A"/>
                </a:solidFill>
              </a:rPr>
              <a:t>By month 12, no AI system should move to production without an owner, risk tier, documentation, human oversight plan, monitoring plan, and retirement criteria.</a:t>
            </a:r>
            <a:endParaRPr lang="en-US" sz="1300" dirty="0"/>
          </a:p>
        </p:txBody>
      </p:sp>
      <p:sp>
        <p:nvSpPr>
          <p:cNvPr id="55" name="Slide Number Placeholder 0"/>
          <p:cNvSpPr>
            <a:spLocks noGrp="1"/>
          </p:cNvSpPr>
          <p:nvPr>
            <p:ph type="sldNum" sz="quarter" idx="4294967295"/>
          </p:nvPr>
        </p:nvSpPr>
        <p:spPr>
          <a:xfrm>
            <a:off x="11475720" y="662940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237744"/>
            <a:ext cx="5303520" cy="201168"/>
          </a:xfrm>
          <a:prstGeom prst="rect">
            <a:avLst/>
          </a:prstGeom>
          <a:noFill/>
          <a:ln/>
        </p:spPr>
        <p:txBody>
          <a:bodyPr wrap="square" lIns="0" tIns="0" rIns="0" bIns="0" rtlCol="0" anchor="ctr"/>
          <a:lstStyle/>
          <a:p>
            <a:pPr marL="0" indent="0">
              <a:buNone/>
            </a:pPr>
            <a:r>
              <a:rPr lang="en-US" sz="800" b="1" dirty="0">
                <a:solidFill>
                  <a:srgbClr val="1E5BFF"/>
                </a:solidFill>
                <a:latin typeface="Aptos" pitchFamily="34" charset="0"/>
                <a:ea typeface="Aptos" pitchFamily="34" charset="-122"/>
                <a:cs typeface="Aptos" pitchFamily="34" charset="-120"/>
              </a:rPr>
              <a:t>BUILD PRACTICAL SKILLS, NOT JUST AWARENESS</a:t>
            </a:r>
            <a:endParaRPr lang="en-US" sz="800" dirty="0"/>
          </a:p>
        </p:txBody>
      </p:sp>
      <p:sp>
        <p:nvSpPr>
          <p:cNvPr id="3" name="Text 1"/>
          <p:cNvSpPr/>
          <p:nvPr/>
        </p:nvSpPr>
        <p:spPr>
          <a:xfrm>
            <a:off x="594360" y="502920"/>
            <a:ext cx="10789920" cy="411480"/>
          </a:xfrm>
          <a:prstGeom prst="rect">
            <a:avLst/>
          </a:prstGeom>
          <a:noFill/>
          <a:ln/>
        </p:spPr>
        <p:txBody>
          <a:bodyPr wrap="square" lIns="0" tIns="0" rIns="0" bIns="0" rtlCol="0" anchor="ctr">
            <a:normAutofit/>
          </a:bodyP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Employee RAI training program</a:t>
            </a:r>
            <a:endParaRPr lang="en-US" sz="3000" dirty="0"/>
          </a:p>
        </p:txBody>
      </p:sp>
      <p:sp>
        <p:nvSpPr>
          <p:cNvPr id="4" name="Text 2"/>
          <p:cNvSpPr/>
          <p:nvPr/>
        </p:nvSpPr>
        <p:spPr>
          <a:xfrm>
            <a:off x="594360" y="6611112"/>
            <a:ext cx="5669280" cy="146304"/>
          </a:xfrm>
          <a:prstGeom prst="rect">
            <a:avLst/>
          </a:prstGeom>
          <a:noFill/>
          <a:ln/>
        </p:spPr>
        <p:txBody>
          <a:bodyPr wrap="square" lIns="0" tIns="0" rIns="0" bIns="0" rtlCol="0" anchor="ctr"/>
          <a:lstStyle/>
          <a:p>
            <a:pPr marL="0" indent="0">
              <a:buNone/>
            </a:pPr>
            <a:r>
              <a:rPr lang="en-US" sz="680" dirty="0">
                <a:solidFill>
                  <a:srgbClr val="5D6B82"/>
                </a:solidFill>
              </a:rPr>
              <a:t>Responsible AI Framework  •  NeuroVerse Inc. / NeuroCreate</a:t>
            </a:r>
            <a:endParaRPr lang="en-US" sz="680" dirty="0"/>
          </a:p>
        </p:txBody>
      </p:sp>
      <p:sp>
        <p:nvSpPr>
          <p:cNvPr id="5" name="Shape 3"/>
          <p:cNvSpPr/>
          <p:nvPr/>
        </p:nvSpPr>
        <p:spPr>
          <a:xfrm>
            <a:off x="731520" y="1097280"/>
            <a:ext cx="6492240" cy="731520"/>
          </a:xfrm>
          <a:prstGeom prst="roundRect">
            <a:avLst>
              <a:gd name="adj" fmla="val 10000"/>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6" name="Shape 4"/>
          <p:cNvSpPr/>
          <p:nvPr/>
        </p:nvSpPr>
        <p:spPr>
          <a:xfrm>
            <a:off x="731520" y="1097280"/>
            <a:ext cx="73152" cy="731520"/>
          </a:xfrm>
          <a:prstGeom prst="rect">
            <a:avLst/>
          </a:prstGeom>
          <a:solidFill>
            <a:srgbClr val="1E5BFF"/>
          </a:solidFill>
          <a:ln w="12700">
            <a:solidFill>
              <a:srgbClr val="1E5BFF"/>
            </a:solidFill>
            <a:prstDash val="solid"/>
          </a:ln>
        </p:spPr>
        <p:txBody>
          <a:bodyPr/>
          <a:lstStyle/>
          <a:p>
            <a:endParaRPr lang="en-US"/>
          </a:p>
        </p:txBody>
      </p:sp>
      <p:sp>
        <p:nvSpPr>
          <p:cNvPr id="7" name="Text 5"/>
          <p:cNvSpPr/>
          <p:nvPr/>
        </p:nvSpPr>
        <p:spPr>
          <a:xfrm>
            <a:off x="932688" y="1234440"/>
            <a:ext cx="616305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All employees</a:t>
            </a:r>
            <a:endParaRPr lang="en-US" sz="1400" dirty="0"/>
          </a:p>
        </p:txBody>
      </p:sp>
      <p:sp>
        <p:nvSpPr>
          <p:cNvPr id="8" name="Text 6"/>
          <p:cNvSpPr/>
          <p:nvPr/>
        </p:nvSpPr>
        <p:spPr>
          <a:xfrm>
            <a:off x="932688" y="1536192"/>
            <a:ext cx="6163056" cy="16459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AI basics, acceptable use, data privacy, safe prompting, reporting concerns.  Frequency: Annual + onboarding</a:t>
            </a:r>
            <a:endParaRPr lang="en-US" sz="1100" dirty="0"/>
          </a:p>
        </p:txBody>
      </p:sp>
      <p:sp>
        <p:nvSpPr>
          <p:cNvPr id="9" name="Shape 7"/>
          <p:cNvSpPr/>
          <p:nvPr/>
        </p:nvSpPr>
        <p:spPr>
          <a:xfrm>
            <a:off x="731520" y="2029968"/>
            <a:ext cx="6492240" cy="731520"/>
          </a:xfrm>
          <a:prstGeom prst="roundRect">
            <a:avLst>
              <a:gd name="adj" fmla="val 10000"/>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10" name="Shape 8"/>
          <p:cNvSpPr/>
          <p:nvPr/>
        </p:nvSpPr>
        <p:spPr>
          <a:xfrm>
            <a:off x="731520" y="2029968"/>
            <a:ext cx="73152" cy="731520"/>
          </a:xfrm>
          <a:prstGeom prst="rect">
            <a:avLst/>
          </a:prstGeom>
          <a:solidFill>
            <a:srgbClr val="16A3A3"/>
          </a:solidFill>
          <a:ln w="12700">
            <a:solidFill>
              <a:srgbClr val="16A3A3"/>
            </a:solidFill>
            <a:prstDash val="solid"/>
          </a:ln>
        </p:spPr>
        <p:txBody>
          <a:bodyPr/>
          <a:lstStyle/>
          <a:p>
            <a:endParaRPr lang="en-US"/>
          </a:p>
        </p:txBody>
      </p:sp>
      <p:sp>
        <p:nvSpPr>
          <p:cNvPr id="11" name="Text 9"/>
          <p:cNvSpPr/>
          <p:nvPr/>
        </p:nvSpPr>
        <p:spPr>
          <a:xfrm>
            <a:off x="932688" y="2167128"/>
            <a:ext cx="616305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AI builders</a:t>
            </a:r>
            <a:endParaRPr lang="en-US" sz="1400" dirty="0"/>
          </a:p>
        </p:txBody>
      </p:sp>
      <p:sp>
        <p:nvSpPr>
          <p:cNvPr id="12" name="Text 10"/>
          <p:cNvSpPr/>
          <p:nvPr/>
        </p:nvSpPr>
        <p:spPr>
          <a:xfrm>
            <a:off x="932688" y="2468880"/>
            <a:ext cx="6163056" cy="16459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Bias testing, explainability, eval design, model cards, secure development.  Frequency: Quarterly labs</a:t>
            </a:r>
            <a:endParaRPr lang="en-US" sz="1100" dirty="0"/>
          </a:p>
        </p:txBody>
      </p:sp>
      <p:sp>
        <p:nvSpPr>
          <p:cNvPr id="13" name="Shape 11"/>
          <p:cNvSpPr/>
          <p:nvPr/>
        </p:nvSpPr>
        <p:spPr>
          <a:xfrm>
            <a:off x="731520" y="2962656"/>
            <a:ext cx="6492240" cy="731520"/>
          </a:xfrm>
          <a:prstGeom prst="roundRect">
            <a:avLst>
              <a:gd name="adj" fmla="val 10000"/>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14" name="Shape 12"/>
          <p:cNvSpPr/>
          <p:nvPr/>
        </p:nvSpPr>
        <p:spPr>
          <a:xfrm>
            <a:off x="731520" y="2962656"/>
            <a:ext cx="73152" cy="731520"/>
          </a:xfrm>
          <a:prstGeom prst="rect">
            <a:avLst/>
          </a:prstGeom>
          <a:solidFill>
            <a:srgbClr val="6D5DF5"/>
          </a:solidFill>
          <a:ln w="12700">
            <a:solidFill>
              <a:srgbClr val="6D5DF5"/>
            </a:solidFill>
            <a:prstDash val="solid"/>
          </a:ln>
        </p:spPr>
        <p:txBody>
          <a:bodyPr/>
          <a:lstStyle/>
          <a:p>
            <a:endParaRPr lang="en-US"/>
          </a:p>
        </p:txBody>
      </p:sp>
      <p:sp>
        <p:nvSpPr>
          <p:cNvPr id="15" name="Text 13"/>
          <p:cNvSpPr/>
          <p:nvPr/>
        </p:nvSpPr>
        <p:spPr>
          <a:xfrm>
            <a:off x="932688" y="3099816"/>
            <a:ext cx="616305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Product &amp; business owners</a:t>
            </a:r>
            <a:endParaRPr lang="en-US" sz="1400" dirty="0"/>
          </a:p>
        </p:txBody>
      </p:sp>
      <p:sp>
        <p:nvSpPr>
          <p:cNvPr id="16" name="Text 14"/>
          <p:cNvSpPr/>
          <p:nvPr/>
        </p:nvSpPr>
        <p:spPr>
          <a:xfrm>
            <a:off x="932688" y="3401568"/>
            <a:ext cx="6163056" cy="16459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Use-case intake, risk tiering, user impact, disclosures, human review design.  Frequency: Semiannual workshop</a:t>
            </a:r>
            <a:endParaRPr lang="en-US" sz="1100" dirty="0"/>
          </a:p>
        </p:txBody>
      </p:sp>
      <p:sp>
        <p:nvSpPr>
          <p:cNvPr id="17" name="Shape 15"/>
          <p:cNvSpPr/>
          <p:nvPr/>
        </p:nvSpPr>
        <p:spPr>
          <a:xfrm>
            <a:off x="731520" y="3895344"/>
            <a:ext cx="6492240" cy="731520"/>
          </a:xfrm>
          <a:prstGeom prst="roundRect">
            <a:avLst>
              <a:gd name="adj" fmla="val 10000"/>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18" name="Shape 16"/>
          <p:cNvSpPr/>
          <p:nvPr/>
        </p:nvSpPr>
        <p:spPr>
          <a:xfrm>
            <a:off x="731520" y="3895344"/>
            <a:ext cx="73152" cy="731520"/>
          </a:xfrm>
          <a:prstGeom prst="rect">
            <a:avLst/>
          </a:prstGeom>
          <a:solidFill>
            <a:srgbClr val="2E7D32"/>
          </a:solidFill>
          <a:ln w="12700">
            <a:solidFill>
              <a:srgbClr val="2E7D32"/>
            </a:solidFill>
            <a:prstDash val="solid"/>
          </a:ln>
        </p:spPr>
        <p:txBody>
          <a:bodyPr/>
          <a:lstStyle/>
          <a:p>
            <a:endParaRPr lang="en-US"/>
          </a:p>
        </p:txBody>
      </p:sp>
      <p:sp>
        <p:nvSpPr>
          <p:cNvPr id="19" name="Text 17"/>
          <p:cNvSpPr/>
          <p:nvPr/>
        </p:nvSpPr>
        <p:spPr>
          <a:xfrm>
            <a:off x="932688" y="4032504"/>
            <a:ext cx="616305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Legal / Compliance / Security</a:t>
            </a:r>
            <a:endParaRPr lang="en-US" sz="1400" dirty="0"/>
          </a:p>
        </p:txBody>
      </p:sp>
      <p:sp>
        <p:nvSpPr>
          <p:cNvPr id="20" name="Text 18"/>
          <p:cNvSpPr/>
          <p:nvPr/>
        </p:nvSpPr>
        <p:spPr>
          <a:xfrm>
            <a:off x="932688" y="4334256"/>
            <a:ext cx="6163056" cy="16459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AI Act/GDPR/FTC mapping, vendor obligations, DPIA, incident response.  Frequency: Quarterly tabletop</a:t>
            </a:r>
            <a:endParaRPr lang="en-US" sz="1100" dirty="0"/>
          </a:p>
        </p:txBody>
      </p:sp>
      <p:sp>
        <p:nvSpPr>
          <p:cNvPr id="21" name="Shape 19"/>
          <p:cNvSpPr/>
          <p:nvPr/>
        </p:nvSpPr>
        <p:spPr>
          <a:xfrm>
            <a:off x="731520" y="4828032"/>
            <a:ext cx="6492240" cy="731520"/>
          </a:xfrm>
          <a:prstGeom prst="roundRect">
            <a:avLst>
              <a:gd name="adj" fmla="val 10000"/>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22" name="Shape 20"/>
          <p:cNvSpPr/>
          <p:nvPr/>
        </p:nvSpPr>
        <p:spPr>
          <a:xfrm>
            <a:off x="731520" y="4828032"/>
            <a:ext cx="73152" cy="731520"/>
          </a:xfrm>
          <a:prstGeom prst="rect">
            <a:avLst/>
          </a:prstGeom>
          <a:solidFill>
            <a:srgbClr val="F0B429"/>
          </a:solidFill>
          <a:ln w="12700">
            <a:solidFill>
              <a:srgbClr val="F0B429"/>
            </a:solidFill>
            <a:prstDash val="solid"/>
          </a:ln>
        </p:spPr>
        <p:txBody>
          <a:bodyPr/>
          <a:lstStyle/>
          <a:p>
            <a:endParaRPr lang="en-US"/>
          </a:p>
        </p:txBody>
      </p:sp>
      <p:sp>
        <p:nvSpPr>
          <p:cNvPr id="23" name="Text 21"/>
          <p:cNvSpPr/>
          <p:nvPr/>
        </p:nvSpPr>
        <p:spPr>
          <a:xfrm>
            <a:off x="932688" y="4965192"/>
            <a:ext cx="616305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Customer-facing teams</a:t>
            </a:r>
            <a:endParaRPr lang="en-US" sz="1400" dirty="0"/>
          </a:p>
        </p:txBody>
      </p:sp>
      <p:sp>
        <p:nvSpPr>
          <p:cNvPr id="24" name="Text 22"/>
          <p:cNvSpPr/>
          <p:nvPr/>
        </p:nvSpPr>
        <p:spPr>
          <a:xfrm>
            <a:off x="932688" y="5266944"/>
            <a:ext cx="6163056" cy="16459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User guidance, limitations, complaint handling, escalation, appeal pathways.  Frequency: Biannual refresh</a:t>
            </a:r>
            <a:endParaRPr lang="en-US" sz="1100" dirty="0"/>
          </a:p>
        </p:txBody>
      </p:sp>
      <p:sp>
        <p:nvSpPr>
          <p:cNvPr id="25" name="Shape 23"/>
          <p:cNvSpPr/>
          <p:nvPr/>
        </p:nvSpPr>
        <p:spPr>
          <a:xfrm>
            <a:off x="7635240" y="1143000"/>
            <a:ext cx="3840480" cy="3977640"/>
          </a:xfrm>
          <a:prstGeom prst="roundRect">
            <a:avLst>
              <a:gd name="adj" fmla="val 1905"/>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26" name="Shape 24"/>
          <p:cNvSpPr/>
          <p:nvPr/>
        </p:nvSpPr>
        <p:spPr>
          <a:xfrm>
            <a:off x="7635240" y="1143000"/>
            <a:ext cx="73152" cy="3977640"/>
          </a:xfrm>
          <a:prstGeom prst="rect">
            <a:avLst/>
          </a:prstGeom>
          <a:solidFill>
            <a:srgbClr val="0B1F3A"/>
          </a:solidFill>
          <a:ln w="12700">
            <a:solidFill>
              <a:srgbClr val="0B1F3A"/>
            </a:solidFill>
            <a:prstDash val="solid"/>
          </a:ln>
        </p:spPr>
        <p:txBody>
          <a:bodyPr/>
          <a:lstStyle/>
          <a:p>
            <a:endParaRPr lang="en-US"/>
          </a:p>
        </p:txBody>
      </p:sp>
      <p:sp>
        <p:nvSpPr>
          <p:cNvPr id="27" name="Text 25"/>
          <p:cNvSpPr/>
          <p:nvPr/>
        </p:nvSpPr>
        <p:spPr>
          <a:xfrm>
            <a:off x="7836408" y="1280160"/>
            <a:ext cx="351129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Training evidence</a:t>
            </a:r>
            <a:endParaRPr lang="en-US" sz="1400" dirty="0"/>
          </a:p>
        </p:txBody>
      </p:sp>
      <p:sp>
        <p:nvSpPr>
          <p:cNvPr id="28" name="Text 26"/>
          <p:cNvSpPr/>
          <p:nvPr/>
        </p:nvSpPr>
        <p:spPr>
          <a:xfrm>
            <a:off x="7836408" y="1581912"/>
            <a:ext cx="3511296" cy="341071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 Completion rates by role</a:t>
            </a:r>
            <a:endParaRPr lang="en-US" sz="1100" dirty="0"/>
          </a:p>
          <a:p>
            <a:pPr marL="0" indent="0">
              <a:buNone/>
            </a:pPr>
            <a:r>
              <a:rPr lang="en-US" sz="1100" dirty="0">
                <a:solidFill>
                  <a:srgbClr val="172033"/>
                </a:solidFill>
              </a:rPr>
              <a:t>• Quiz pass rate ≥ 90%</a:t>
            </a:r>
            <a:endParaRPr lang="en-US" sz="1100" dirty="0"/>
          </a:p>
          <a:p>
            <a:pPr marL="0" indent="0">
              <a:buNone/>
            </a:pPr>
            <a:r>
              <a:rPr lang="en-US" sz="1100" dirty="0">
                <a:solidFill>
                  <a:srgbClr val="172033"/>
                </a:solidFill>
              </a:rPr>
              <a:t>• Scenario exercise results</a:t>
            </a:r>
            <a:endParaRPr lang="en-US" sz="1100" dirty="0"/>
          </a:p>
          <a:p>
            <a:pPr marL="0" indent="0">
              <a:buNone/>
            </a:pPr>
            <a:r>
              <a:rPr lang="en-US" sz="1100" dirty="0">
                <a:solidFill>
                  <a:srgbClr val="172033"/>
                </a:solidFill>
              </a:rPr>
              <a:t>• Reduction in preventable incidents</a:t>
            </a:r>
            <a:endParaRPr lang="en-US" sz="1100" dirty="0"/>
          </a:p>
          <a:p>
            <a:pPr marL="0" indent="0">
              <a:buNone/>
            </a:pPr>
            <a:r>
              <a:rPr lang="en-US" sz="1100" dirty="0">
                <a:solidFill>
                  <a:srgbClr val="172033"/>
                </a:solidFill>
              </a:rPr>
              <a:t>• Post-training confidence survey</a:t>
            </a:r>
            <a:endParaRPr lang="en-US" sz="1100" dirty="0"/>
          </a:p>
          <a:p>
            <a:pPr marL="0" indent="0">
              <a:buNone/>
            </a:pPr>
            <a:r>
              <a:rPr lang="en-US" sz="1100" dirty="0">
                <a:solidFill>
                  <a:srgbClr val="172033"/>
                </a:solidFill>
              </a:rPr>
              <a:t>• Manager sign-off for high-risk roles</a:t>
            </a:r>
            <a:endParaRPr lang="en-US" sz="1100" dirty="0"/>
          </a:p>
        </p:txBody>
      </p:sp>
      <p:sp>
        <p:nvSpPr>
          <p:cNvPr id="29" name="Text 27"/>
          <p:cNvSpPr/>
          <p:nvPr/>
        </p:nvSpPr>
        <p:spPr>
          <a:xfrm>
            <a:off x="7818120" y="5349240"/>
            <a:ext cx="3474720" cy="384048"/>
          </a:xfrm>
          <a:prstGeom prst="rect">
            <a:avLst/>
          </a:prstGeom>
          <a:noFill/>
          <a:ln/>
        </p:spPr>
        <p:txBody>
          <a:bodyPr wrap="square" lIns="254" tIns="254" rIns="254" bIns="254" rtlCol="0" anchor="ctr">
            <a:normAutofit/>
          </a:bodyPr>
          <a:lstStyle/>
          <a:p>
            <a:pPr marL="0" indent="0" algn="ctr">
              <a:buNone/>
            </a:pPr>
            <a:r>
              <a:rPr lang="en-US" sz="1100" b="1" dirty="0">
                <a:solidFill>
                  <a:srgbClr val="172033"/>
                </a:solidFill>
              </a:rPr>
              <a:t>Required portfolio artifacts: policy summary, training slide deck, attendance record, quiz questions, scenario exercise, and evidence of improvement actions.</a:t>
            </a:r>
            <a:endParaRPr lang="en-US" sz="1100" dirty="0"/>
          </a:p>
        </p:txBody>
      </p:sp>
      <p:sp>
        <p:nvSpPr>
          <p:cNvPr id="30" name="Slide Number Placeholder 0"/>
          <p:cNvSpPr>
            <a:spLocks noGrp="1"/>
          </p:cNvSpPr>
          <p:nvPr>
            <p:ph type="sldNum" sz="quarter" idx="4294967295"/>
          </p:nvPr>
        </p:nvSpPr>
        <p:spPr>
          <a:xfrm>
            <a:off x="11475720" y="662940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237744"/>
            <a:ext cx="5303520" cy="201168"/>
          </a:xfrm>
          <a:prstGeom prst="rect">
            <a:avLst/>
          </a:prstGeom>
          <a:noFill/>
          <a:ln/>
        </p:spPr>
        <p:txBody>
          <a:bodyPr wrap="square" lIns="0" tIns="0" rIns="0" bIns="0" rtlCol="0" anchor="ctr"/>
          <a:lstStyle/>
          <a:p>
            <a:pPr marL="0" indent="0">
              <a:buNone/>
            </a:pPr>
            <a:r>
              <a:rPr lang="en-US" sz="800" b="1" dirty="0">
                <a:solidFill>
                  <a:srgbClr val="1E5BFF"/>
                </a:solidFill>
                <a:latin typeface="Aptos" pitchFamily="34" charset="0"/>
                <a:ea typeface="Aptos" pitchFamily="34" charset="-122"/>
                <a:cs typeface="Aptos" pitchFamily="34" charset="-120"/>
              </a:rPr>
              <a:t>MEASURE WHAT MATTERS</a:t>
            </a:r>
            <a:endParaRPr lang="en-US" sz="800" dirty="0"/>
          </a:p>
        </p:txBody>
      </p:sp>
      <p:sp>
        <p:nvSpPr>
          <p:cNvPr id="3" name="Text 1"/>
          <p:cNvSpPr/>
          <p:nvPr/>
        </p:nvSpPr>
        <p:spPr>
          <a:xfrm>
            <a:off x="594360" y="502920"/>
            <a:ext cx="10789920" cy="411480"/>
          </a:xfrm>
          <a:prstGeom prst="rect">
            <a:avLst/>
          </a:prstGeom>
          <a:noFill/>
          <a:ln/>
        </p:spPr>
        <p:txBody>
          <a:bodyPr wrap="square" lIns="0" tIns="0" rIns="0" bIns="0" rtlCol="0" anchor="ctr">
            <a:normAutofit/>
          </a:bodyP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Effective RAI metrics and reporting</a:t>
            </a:r>
            <a:endParaRPr lang="en-US" sz="3000" dirty="0"/>
          </a:p>
        </p:txBody>
      </p:sp>
      <p:sp>
        <p:nvSpPr>
          <p:cNvPr id="4" name="Text 2"/>
          <p:cNvSpPr/>
          <p:nvPr/>
        </p:nvSpPr>
        <p:spPr>
          <a:xfrm>
            <a:off x="594360" y="6611112"/>
            <a:ext cx="5669280" cy="146304"/>
          </a:xfrm>
          <a:prstGeom prst="rect">
            <a:avLst/>
          </a:prstGeom>
          <a:noFill/>
          <a:ln/>
        </p:spPr>
        <p:txBody>
          <a:bodyPr wrap="square" lIns="0" tIns="0" rIns="0" bIns="0" rtlCol="0" anchor="ctr"/>
          <a:lstStyle/>
          <a:p>
            <a:pPr marL="0" indent="0">
              <a:buNone/>
            </a:pPr>
            <a:r>
              <a:rPr lang="en-US" sz="680" dirty="0">
                <a:solidFill>
                  <a:srgbClr val="5D6B82"/>
                </a:solidFill>
              </a:rPr>
              <a:t>Responsible AI Framework  •  NeuroVerse Inc. / NeuroCreate</a:t>
            </a:r>
            <a:endParaRPr lang="en-US" sz="680" dirty="0"/>
          </a:p>
        </p:txBody>
      </p:sp>
      <p:sp>
        <p:nvSpPr>
          <p:cNvPr id="5" name="Shape 3"/>
          <p:cNvSpPr/>
          <p:nvPr/>
        </p:nvSpPr>
        <p:spPr>
          <a:xfrm>
            <a:off x="658368" y="1051560"/>
            <a:ext cx="5212080" cy="914400"/>
          </a:xfrm>
          <a:prstGeom prst="roundRect">
            <a:avLst>
              <a:gd name="adj" fmla="val 8000"/>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6" name="Shape 4"/>
          <p:cNvSpPr/>
          <p:nvPr/>
        </p:nvSpPr>
        <p:spPr>
          <a:xfrm>
            <a:off x="658368" y="1051560"/>
            <a:ext cx="73152" cy="914400"/>
          </a:xfrm>
          <a:prstGeom prst="rect">
            <a:avLst/>
          </a:prstGeom>
          <a:solidFill>
            <a:srgbClr val="1E5BFF"/>
          </a:solidFill>
          <a:ln w="12700">
            <a:solidFill>
              <a:srgbClr val="1E5BFF"/>
            </a:solidFill>
            <a:prstDash val="solid"/>
          </a:ln>
        </p:spPr>
        <p:txBody>
          <a:bodyPr/>
          <a:lstStyle/>
          <a:p>
            <a:endParaRPr lang="en-US"/>
          </a:p>
        </p:txBody>
      </p:sp>
      <p:sp>
        <p:nvSpPr>
          <p:cNvPr id="7" name="Text 5"/>
          <p:cNvSpPr/>
          <p:nvPr/>
        </p:nvSpPr>
        <p:spPr>
          <a:xfrm>
            <a:off x="859536" y="1188720"/>
            <a:ext cx="488289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Fairness</a:t>
            </a:r>
            <a:endParaRPr lang="en-US" sz="1400" dirty="0"/>
          </a:p>
        </p:txBody>
      </p:sp>
      <p:sp>
        <p:nvSpPr>
          <p:cNvPr id="8" name="Text 6"/>
          <p:cNvSpPr/>
          <p:nvPr/>
        </p:nvSpPr>
        <p:spPr>
          <a:xfrm>
            <a:off x="859536" y="1490472"/>
            <a:ext cx="4882896" cy="34747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Disparate impact ratio 0.8–1.25; bias issues closed ≤ 30 days</a:t>
            </a:r>
            <a:endParaRPr lang="en-US" sz="1100" dirty="0"/>
          </a:p>
        </p:txBody>
      </p:sp>
      <p:sp>
        <p:nvSpPr>
          <p:cNvPr id="9" name="Shape 7"/>
          <p:cNvSpPr/>
          <p:nvPr/>
        </p:nvSpPr>
        <p:spPr>
          <a:xfrm>
            <a:off x="6281928" y="1051560"/>
            <a:ext cx="5212080" cy="914400"/>
          </a:xfrm>
          <a:prstGeom prst="roundRect">
            <a:avLst>
              <a:gd name="adj" fmla="val 8000"/>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10" name="Shape 8"/>
          <p:cNvSpPr/>
          <p:nvPr/>
        </p:nvSpPr>
        <p:spPr>
          <a:xfrm>
            <a:off x="6281928" y="1051560"/>
            <a:ext cx="73152" cy="914400"/>
          </a:xfrm>
          <a:prstGeom prst="rect">
            <a:avLst/>
          </a:prstGeom>
          <a:solidFill>
            <a:srgbClr val="16A3A3"/>
          </a:solidFill>
          <a:ln w="12700">
            <a:solidFill>
              <a:srgbClr val="16A3A3"/>
            </a:solidFill>
            <a:prstDash val="solid"/>
          </a:ln>
        </p:spPr>
        <p:txBody>
          <a:bodyPr/>
          <a:lstStyle/>
          <a:p>
            <a:endParaRPr lang="en-US"/>
          </a:p>
        </p:txBody>
      </p:sp>
      <p:sp>
        <p:nvSpPr>
          <p:cNvPr id="11" name="Text 9"/>
          <p:cNvSpPr/>
          <p:nvPr/>
        </p:nvSpPr>
        <p:spPr>
          <a:xfrm>
            <a:off x="6483096" y="1188720"/>
            <a:ext cx="488289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Quality &amp; safety</a:t>
            </a:r>
            <a:endParaRPr lang="en-US" sz="1400" dirty="0"/>
          </a:p>
        </p:txBody>
      </p:sp>
      <p:sp>
        <p:nvSpPr>
          <p:cNvPr id="12" name="Text 10"/>
          <p:cNvSpPr/>
          <p:nvPr/>
        </p:nvSpPr>
        <p:spPr>
          <a:xfrm>
            <a:off x="6483096" y="1490472"/>
            <a:ext cx="4882896" cy="34747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Hallucination/unsafe-output rate below threshold; critical defects = 0</a:t>
            </a:r>
            <a:endParaRPr lang="en-US" sz="1100" dirty="0"/>
          </a:p>
        </p:txBody>
      </p:sp>
      <p:sp>
        <p:nvSpPr>
          <p:cNvPr id="13" name="Shape 11"/>
          <p:cNvSpPr/>
          <p:nvPr/>
        </p:nvSpPr>
        <p:spPr>
          <a:xfrm>
            <a:off x="658368" y="2203704"/>
            <a:ext cx="5212080" cy="914400"/>
          </a:xfrm>
          <a:prstGeom prst="roundRect">
            <a:avLst>
              <a:gd name="adj" fmla="val 8000"/>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14" name="Shape 12"/>
          <p:cNvSpPr/>
          <p:nvPr/>
        </p:nvSpPr>
        <p:spPr>
          <a:xfrm>
            <a:off x="658368" y="2203704"/>
            <a:ext cx="73152" cy="914400"/>
          </a:xfrm>
          <a:prstGeom prst="rect">
            <a:avLst/>
          </a:prstGeom>
          <a:solidFill>
            <a:srgbClr val="2E7D32"/>
          </a:solidFill>
          <a:ln w="12700">
            <a:solidFill>
              <a:srgbClr val="2E7D32"/>
            </a:solidFill>
            <a:prstDash val="solid"/>
          </a:ln>
        </p:spPr>
        <p:txBody>
          <a:bodyPr/>
          <a:lstStyle/>
          <a:p>
            <a:endParaRPr lang="en-US"/>
          </a:p>
        </p:txBody>
      </p:sp>
      <p:sp>
        <p:nvSpPr>
          <p:cNvPr id="15" name="Text 13"/>
          <p:cNvSpPr/>
          <p:nvPr/>
        </p:nvSpPr>
        <p:spPr>
          <a:xfrm>
            <a:off x="859536" y="2340864"/>
            <a:ext cx="488289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Privacy &amp; security</a:t>
            </a:r>
            <a:endParaRPr lang="en-US" sz="1400" dirty="0"/>
          </a:p>
        </p:txBody>
      </p:sp>
      <p:sp>
        <p:nvSpPr>
          <p:cNvPr id="16" name="Text 14"/>
          <p:cNvSpPr/>
          <p:nvPr/>
        </p:nvSpPr>
        <p:spPr>
          <a:xfrm>
            <a:off x="859536" y="2642616"/>
            <a:ext cx="4882896" cy="34747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100% DPIA for high-risk systems; critical security incidents = 0</a:t>
            </a:r>
            <a:endParaRPr lang="en-US" sz="1100" dirty="0"/>
          </a:p>
        </p:txBody>
      </p:sp>
      <p:sp>
        <p:nvSpPr>
          <p:cNvPr id="17" name="Shape 15"/>
          <p:cNvSpPr/>
          <p:nvPr/>
        </p:nvSpPr>
        <p:spPr>
          <a:xfrm>
            <a:off x="6281928" y="2203704"/>
            <a:ext cx="5212080" cy="914400"/>
          </a:xfrm>
          <a:prstGeom prst="roundRect">
            <a:avLst>
              <a:gd name="adj" fmla="val 8000"/>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18" name="Shape 16"/>
          <p:cNvSpPr/>
          <p:nvPr/>
        </p:nvSpPr>
        <p:spPr>
          <a:xfrm>
            <a:off x="6281928" y="2203704"/>
            <a:ext cx="73152" cy="914400"/>
          </a:xfrm>
          <a:prstGeom prst="rect">
            <a:avLst/>
          </a:prstGeom>
          <a:solidFill>
            <a:srgbClr val="6D5DF5"/>
          </a:solidFill>
          <a:ln w="12700">
            <a:solidFill>
              <a:srgbClr val="6D5DF5"/>
            </a:solidFill>
            <a:prstDash val="solid"/>
          </a:ln>
        </p:spPr>
        <p:txBody>
          <a:bodyPr/>
          <a:lstStyle/>
          <a:p>
            <a:endParaRPr lang="en-US"/>
          </a:p>
        </p:txBody>
      </p:sp>
      <p:sp>
        <p:nvSpPr>
          <p:cNvPr id="19" name="Text 17"/>
          <p:cNvSpPr/>
          <p:nvPr/>
        </p:nvSpPr>
        <p:spPr>
          <a:xfrm>
            <a:off x="6483096" y="2340864"/>
            <a:ext cx="488289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Transparency</a:t>
            </a:r>
            <a:endParaRPr lang="en-US" sz="1400" dirty="0"/>
          </a:p>
        </p:txBody>
      </p:sp>
      <p:sp>
        <p:nvSpPr>
          <p:cNvPr id="20" name="Text 18"/>
          <p:cNvSpPr/>
          <p:nvPr/>
        </p:nvSpPr>
        <p:spPr>
          <a:xfrm>
            <a:off x="6483096" y="2642616"/>
            <a:ext cx="4882896" cy="34747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100% model cards and user disclosures for production AI</a:t>
            </a:r>
            <a:endParaRPr lang="en-US" sz="1100" dirty="0"/>
          </a:p>
        </p:txBody>
      </p:sp>
      <p:sp>
        <p:nvSpPr>
          <p:cNvPr id="21" name="Shape 19"/>
          <p:cNvSpPr/>
          <p:nvPr/>
        </p:nvSpPr>
        <p:spPr>
          <a:xfrm>
            <a:off x="658368" y="3355848"/>
            <a:ext cx="5212080" cy="914400"/>
          </a:xfrm>
          <a:prstGeom prst="roundRect">
            <a:avLst>
              <a:gd name="adj" fmla="val 8000"/>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22" name="Shape 20"/>
          <p:cNvSpPr/>
          <p:nvPr/>
        </p:nvSpPr>
        <p:spPr>
          <a:xfrm>
            <a:off x="658368" y="3355848"/>
            <a:ext cx="73152" cy="914400"/>
          </a:xfrm>
          <a:prstGeom prst="rect">
            <a:avLst/>
          </a:prstGeom>
          <a:solidFill>
            <a:srgbClr val="F0B429"/>
          </a:solidFill>
          <a:ln w="12700">
            <a:solidFill>
              <a:srgbClr val="F0B429"/>
            </a:solidFill>
            <a:prstDash val="solid"/>
          </a:ln>
        </p:spPr>
        <p:txBody>
          <a:bodyPr/>
          <a:lstStyle/>
          <a:p>
            <a:endParaRPr lang="en-US"/>
          </a:p>
        </p:txBody>
      </p:sp>
      <p:sp>
        <p:nvSpPr>
          <p:cNvPr id="23" name="Text 21"/>
          <p:cNvSpPr/>
          <p:nvPr/>
        </p:nvSpPr>
        <p:spPr>
          <a:xfrm>
            <a:off x="859536" y="3493008"/>
            <a:ext cx="488289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Human oversight</a:t>
            </a:r>
            <a:endParaRPr lang="en-US" sz="1400" dirty="0"/>
          </a:p>
        </p:txBody>
      </p:sp>
      <p:sp>
        <p:nvSpPr>
          <p:cNvPr id="24" name="Text 22"/>
          <p:cNvSpPr/>
          <p:nvPr/>
        </p:nvSpPr>
        <p:spPr>
          <a:xfrm>
            <a:off x="859536" y="3794760"/>
            <a:ext cx="4882896" cy="34747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Override/appeal rate tracked; high-risk decisions reviewed by humans</a:t>
            </a:r>
            <a:endParaRPr lang="en-US" sz="1100" dirty="0"/>
          </a:p>
        </p:txBody>
      </p:sp>
      <p:sp>
        <p:nvSpPr>
          <p:cNvPr id="25" name="Shape 23"/>
          <p:cNvSpPr/>
          <p:nvPr/>
        </p:nvSpPr>
        <p:spPr>
          <a:xfrm>
            <a:off x="6281928" y="3355848"/>
            <a:ext cx="5212080" cy="914400"/>
          </a:xfrm>
          <a:prstGeom prst="roundRect">
            <a:avLst>
              <a:gd name="adj" fmla="val 8000"/>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26" name="Shape 24"/>
          <p:cNvSpPr/>
          <p:nvPr/>
        </p:nvSpPr>
        <p:spPr>
          <a:xfrm>
            <a:off x="6281928" y="3355848"/>
            <a:ext cx="73152" cy="914400"/>
          </a:xfrm>
          <a:prstGeom prst="rect">
            <a:avLst/>
          </a:prstGeom>
          <a:solidFill>
            <a:srgbClr val="C62828"/>
          </a:solidFill>
          <a:ln w="12700">
            <a:solidFill>
              <a:srgbClr val="C62828"/>
            </a:solidFill>
            <a:prstDash val="solid"/>
          </a:ln>
        </p:spPr>
        <p:txBody>
          <a:bodyPr/>
          <a:lstStyle/>
          <a:p>
            <a:endParaRPr lang="en-US"/>
          </a:p>
        </p:txBody>
      </p:sp>
      <p:sp>
        <p:nvSpPr>
          <p:cNvPr id="27" name="Text 25"/>
          <p:cNvSpPr/>
          <p:nvPr/>
        </p:nvSpPr>
        <p:spPr>
          <a:xfrm>
            <a:off x="6483096" y="3493008"/>
            <a:ext cx="488289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Monitoring</a:t>
            </a:r>
            <a:endParaRPr lang="en-US" sz="1400" dirty="0"/>
          </a:p>
        </p:txBody>
      </p:sp>
      <p:sp>
        <p:nvSpPr>
          <p:cNvPr id="28" name="Text 26"/>
          <p:cNvSpPr/>
          <p:nvPr/>
        </p:nvSpPr>
        <p:spPr>
          <a:xfrm>
            <a:off x="6483096" y="3794760"/>
            <a:ext cx="4882896" cy="34747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Drift alerts reviewed within 5 business days; uptime and latency tracked</a:t>
            </a:r>
            <a:endParaRPr lang="en-US" sz="1100" dirty="0"/>
          </a:p>
        </p:txBody>
      </p:sp>
      <p:sp>
        <p:nvSpPr>
          <p:cNvPr id="29" name="Shape 27"/>
          <p:cNvSpPr/>
          <p:nvPr/>
        </p:nvSpPr>
        <p:spPr>
          <a:xfrm>
            <a:off x="658368" y="4507992"/>
            <a:ext cx="5212080" cy="914400"/>
          </a:xfrm>
          <a:prstGeom prst="roundRect">
            <a:avLst>
              <a:gd name="adj" fmla="val 8000"/>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30" name="Shape 28"/>
          <p:cNvSpPr/>
          <p:nvPr/>
        </p:nvSpPr>
        <p:spPr>
          <a:xfrm>
            <a:off x="658368" y="4507992"/>
            <a:ext cx="73152" cy="914400"/>
          </a:xfrm>
          <a:prstGeom prst="rect">
            <a:avLst/>
          </a:prstGeom>
          <a:solidFill>
            <a:srgbClr val="0B1F3A"/>
          </a:solidFill>
          <a:ln w="12700">
            <a:solidFill>
              <a:srgbClr val="0B1F3A"/>
            </a:solidFill>
            <a:prstDash val="solid"/>
          </a:ln>
        </p:spPr>
        <p:txBody>
          <a:bodyPr/>
          <a:lstStyle/>
          <a:p>
            <a:endParaRPr lang="en-US"/>
          </a:p>
        </p:txBody>
      </p:sp>
      <p:sp>
        <p:nvSpPr>
          <p:cNvPr id="31" name="Text 29"/>
          <p:cNvSpPr/>
          <p:nvPr/>
        </p:nvSpPr>
        <p:spPr>
          <a:xfrm>
            <a:off x="859536" y="4645152"/>
            <a:ext cx="488289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Customer trust</a:t>
            </a:r>
            <a:endParaRPr lang="en-US" sz="1400" dirty="0"/>
          </a:p>
        </p:txBody>
      </p:sp>
      <p:sp>
        <p:nvSpPr>
          <p:cNvPr id="32" name="Text 30"/>
          <p:cNvSpPr/>
          <p:nvPr/>
        </p:nvSpPr>
        <p:spPr>
          <a:xfrm>
            <a:off x="859536" y="4946904"/>
            <a:ext cx="4882896" cy="34747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Complaint trend, satisfaction, appeal outcomes, NPS change</a:t>
            </a:r>
            <a:endParaRPr lang="en-US" sz="1100" dirty="0"/>
          </a:p>
        </p:txBody>
      </p:sp>
      <p:sp>
        <p:nvSpPr>
          <p:cNvPr id="33" name="Shape 31"/>
          <p:cNvSpPr/>
          <p:nvPr/>
        </p:nvSpPr>
        <p:spPr>
          <a:xfrm>
            <a:off x="6281928" y="4507992"/>
            <a:ext cx="5212080" cy="914400"/>
          </a:xfrm>
          <a:prstGeom prst="roundRect">
            <a:avLst>
              <a:gd name="adj" fmla="val 8000"/>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34" name="Shape 32"/>
          <p:cNvSpPr/>
          <p:nvPr/>
        </p:nvSpPr>
        <p:spPr>
          <a:xfrm>
            <a:off x="6281928" y="4507992"/>
            <a:ext cx="73152" cy="914400"/>
          </a:xfrm>
          <a:prstGeom prst="rect">
            <a:avLst/>
          </a:prstGeom>
          <a:solidFill>
            <a:srgbClr val="16A3A3"/>
          </a:solidFill>
          <a:ln w="12700">
            <a:solidFill>
              <a:srgbClr val="16A3A3"/>
            </a:solidFill>
            <a:prstDash val="solid"/>
          </a:ln>
        </p:spPr>
        <p:txBody>
          <a:bodyPr/>
          <a:lstStyle/>
          <a:p>
            <a:endParaRPr lang="en-US"/>
          </a:p>
        </p:txBody>
      </p:sp>
      <p:sp>
        <p:nvSpPr>
          <p:cNvPr id="35" name="Text 33"/>
          <p:cNvSpPr/>
          <p:nvPr/>
        </p:nvSpPr>
        <p:spPr>
          <a:xfrm>
            <a:off x="6483096" y="4645152"/>
            <a:ext cx="488289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Governance</a:t>
            </a:r>
            <a:endParaRPr lang="en-US" sz="1400" dirty="0"/>
          </a:p>
        </p:txBody>
      </p:sp>
      <p:sp>
        <p:nvSpPr>
          <p:cNvPr id="36" name="Text 34"/>
          <p:cNvSpPr/>
          <p:nvPr/>
        </p:nvSpPr>
        <p:spPr>
          <a:xfrm>
            <a:off x="6483096" y="4946904"/>
            <a:ext cx="4882896" cy="34747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Quarterly review completion; audit findings remediated on schedule</a:t>
            </a:r>
            <a:endParaRPr lang="en-US" sz="1100" dirty="0"/>
          </a:p>
        </p:txBody>
      </p:sp>
      <p:sp>
        <p:nvSpPr>
          <p:cNvPr id="37" name="Shape 35"/>
          <p:cNvSpPr/>
          <p:nvPr/>
        </p:nvSpPr>
        <p:spPr>
          <a:xfrm>
            <a:off x="822960" y="5788152"/>
            <a:ext cx="10561320" cy="384048"/>
          </a:xfrm>
          <a:prstGeom prst="roundRect">
            <a:avLst>
              <a:gd name="adj" fmla="val 11905"/>
            </a:avLst>
          </a:prstGeom>
          <a:solidFill>
            <a:srgbClr val="EAF1F8"/>
          </a:solidFill>
          <a:ln w="12700">
            <a:solidFill>
              <a:srgbClr val="EAF1F8"/>
            </a:solidFill>
            <a:prstDash val="solid"/>
          </a:ln>
        </p:spPr>
        <p:txBody>
          <a:bodyPr/>
          <a:lstStyle/>
          <a:p>
            <a:endParaRPr lang="en-US"/>
          </a:p>
        </p:txBody>
      </p:sp>
      <p:sp>
        <p:nvSpPr>
          <p:cNvPr id="38" name="Text 36"/>
          <p:cNvSpPr/>
          <p:nvPr/>
        </p:nvSpPr>
        <p:spPr>
          <a:xfrm>
            <a:off x="914400" y="5897880"/>
            <a:ext cx="10378440" cy="118872"/>
          </a:xfrm>
          <a:prstGeom prst="rect">
            <a:avLst/>
          </a:prstGeom>
          <a:noFill/>
          <a:ln/>
        </p:spPr>
        <p:txBody>
          <a:bodyPr wrap="square" lIns="0" tIns="0" rIns="0" bIns="0" rtlCol="0" anchor="ctr"/>
          <a:lstStyle/>
          <a:p>
            <a:pPr marL="0" indent="0" algn="ctr">
              <a:buNone/>
            </a:pPr>
            <a:r>
              <a:rPr lang="en-US" sz="1100" b="1" dirty="0">
                <a:solidFill>
                  <a:srgbClr val="0B1F3A"/>
                </a:solidFill>
              </a:rPr>
              <a:t>Reporting cadence: weekly operational alerts • monthly product owner review • quarterly board scorecard • annual independent audit.</a:t>
            </a:r>
            <a:endParaRPr lang="en-US" sz="1100" dirty="0"/>
          </a:p>
        </p:txBody>
      </p:sp>
      <p:sp>
        <p:nvSpPr>
          <p:cNvPr id="39" name="Slide Number Placeholder 0"/>
          <p:cNvSpPr>
            <a:spLocks noGrp="1"/>
          </p:cNvSpPr>
          <p:nvPr>
            <p:ph type="sldNum" sz="quarter" idx="4294967295"/>
          </p:nvPr>
        </p:nvSpPr>
        <p:spPr>
          <a:xfrm>
            <a:off x="11475720" y="662940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237744"/>
            <a:ext cx="5303520" cy="201168"/>
          </a:xfrm>
          <a:prstGeom prst="rect">
            <a:avLst/>
          </a:prstGeom>
          <a:noFill/>
          <a:ln/>
        </p:spPr>
        <p:txBody>
          <a:bodyPr wrap="square" lIns="0" tIns="0" rIns="0" bIns="0" rtlCol="0" anchor="ctr"/>
          <a:lstStyle/>
          <a:p>
            <a:pPr marL="0" indent="0">
              <a:buNone/>
            </a:pPr>
            <a:r>
              <a:rPr lang="en-US" sz="800" b="1" dirty="0">
                <a:solidFill>
                  <a:srgbClr val="1E5BFF"/>
                </a:solidFill>
                <a:latin typeface="Aptos" pitchFamily="34" charset="0"/>
                <a:ea typeface="Aptos" pitchFamily="34" charset="-122"/>
                <a:cs typeface="Aptos" pitchFamily="34" charset="-120"/>
              </a:rPr>
              <a:t>RAI ACTIONS EMBEDDED AT EVERY STEP</a:t>
            </a:r>
            <a:endParaRPr lang="en-US" sz="800" dirty="0"/>
          </a:p>
        </p:txBody>
      </p:sp>
      <p:sp>
        <p:nvSpPr>
          <p:cNvPr id="3" name="Text 1"/>
          <p:cNvSpPr/>
          <p:nvPr/>
        </p:nvSpPr>
        <p:spPr>
          <a:xfrm>
            <a:off x="594360" y="502920"/>
            <a:ext cx="10789920" cy="411480"/>
          </a:xfrm>
          <a:prstGeom prst="rect">
            <a:avLst/>
          </a:prstGeom>
          <a:noFill/>
          <a:ln/>
        </p:spPr>
        <p:txBody>
          <a:bodyPr wrap="square" lIns="0" tIns="0" rIns="0" bIns="0" rtlCol="0" anchor="ctr">
            <a:normAutofit/>
          </a:bodyP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AI development lifecycle overview</a:t>
            </a:r>
            <a:endParaRPr lang="en-US" sz="3000" dirty="0"/>
          </a:p>
        </p:txBody>
      </p:sp>
      <p:sp>
        <p:nvSpPr>
          <p:cNvPr id="4" name="Text 2"/>
          <p:cNvSpPr/>
          <p:nvPr/>
        </p:nvSpPr>
        <p:spPr>
          <a:xfrm>
            <a:off x="594360" y="6611112"/>
            <a:ext cx="5669280" cy="146304"/>
          </a:xfrm>
          <a:prstGeom prst="rect">
            <a:avLst/>
          </a:prstGeom>
          <a:noFill/>
          <a:ln/>
        </p:spPr>
        <p:txBody>
          <a:bodyPr wrap="square" lIns="0" tIns="0" rIns="0" bIns="0" rtlCol="0" anchor="ctr"/>
          <a:lstStyle/>
          <a:p>
            <a:pPr marL="0" indent="0">
              <a:buNone/>
            </a:pPr>
            <a:r>
              <a:rPr lang="en-US" sz="680" dirty="0">
                <a:solidFill>
                  <a:srgbClr val="5D6B82"/>
                </a:solidFill>
              </a:rPr>
              <a:t>Responsible AI Framework  •  NeuroVerse Inc. / NeuroCreate</a:t>
            </a:r>
            <a:endParaRPr lang="en-US" sz="680" dirty="0"/>
          </a:p>
        </p:txBody>
      </p:sp>
      <p:sp>
        <p:nvSpPr>
          <p:cNvPr id="5" name="Shape 3"/>
          <p:cNvSpPr/>
          <p:nvPr/>
        </p:nvSpPr>
        <p:spPr>
          <a:xfrm>
            <a:off x="685800" y="1143000"/>
            <a:ext cx="2148840" cy="694944"/>
          </a:xfrm>
          <a:prstGeom prst="roundRect">
            <a:avLst>
              <a:gd name="adj" fmla="val 7895"/>
            </a:avLst>
          </a:prstGeom>
          <a:solidFill>
            <a:srgbClr val="FFFFFF"/>
          </a:solidFill>
          <a:ln w="12700">
            <a:solidFill>
              <a:srgbClr val="D5DEE8"/>
            </a:solidFill>
            <a:prstDash val="solid"/>
          </a:ln>
        </p:spPr>
        <p:txBody>
          <a:bodyPr/>
          <a:lstStyle/>
          <a:p>
            <a:endParaRPr lang="en-US"/>
          </a:p>
        </p:txBody>
      </p:sp>
      <p:sp>
        <p:nvSpPr>
          <p:cNvPr id="6" name="Shape 4"/>
          <p:cNvSpPr/>
          <p:nvPr/>
        </p:nvSpPr>
        <p:spPr>
          <a:xfrm>
            <a:off x="795528" y="1289304"/>
            <a:ext cx="384048" cy="384048"/>
          </a:xfrm>
          <a:prstGeom prst="ellipse">
            <a:avLst/>
          </a:prstGeom>
          <a:solidFill>
            <a:srgbClr val="1E5BFF"/>
          </a:solidFill>
          <a:ln w="12700">
            <a:solidFill>
              <a:srgbClr val="1E5BFF"/>
            </a:solidFill>
            <a:prstDash val="solid"/>
          </a:ln>
        </p:spPr>
        <p:txBody>
          <a:bodyPr/>
          <a:lstStyle/>
          <a:p>
            <a:endParaRPr lang="en-US"/>
          </a:p>
        </p:txBody>
      </p:sp>
      <p:sp>
        <p:nvSpPr>
          <p:cNvPr id="7" name="Text 5"/>
          <p:cNvSpPr/>
          <p:nvPr/>
        </p:nvSpPr>
        <p:spPr>
          <a:xfrm>
            <a:off x="795528" y="1371600"/>
            <a:ext cx="384048" cy="73152"/>
          </a:xfrm>
          <a:prstGeom prst="rect">
            <a:avLst/>
          </a:prstGeom>
          <a:noFill/>
          <a:ln/>
        </p:spPr>
        <p:txBody>
          <a:bodyPr wrap="square" lIns="0" tIns="0" rIns="0" bIns="0" rtlCol="0" anchor="ctr"/>
          <a:lstStyle/>
          <a:p>
            <a:pPr marL="0" indent="0" algn="ctr">
              <a:buNone/>
            </a:pPr>
            <a:r>
              <a:rPr lang="en-US" sz="850" b="1" dirty="0">
                <a:solidFill>
                  <a:srgbClr val="FFFFFF"/>
                </a:solidFill>
              </a:rPr>
              <a:t>1</a:t>
            </a:r>
            <a:endParaRPr lang="en-US" sz="850" dirty="0"/>
          </a:p>
        </p:txBody>
      </p:sp>
      <p:sp>
        <p:nvSpPr>
          <p:cNvPr id="8" name="Text 6"/>
          <p:cNvSpPr/>
          <p:nvPr/>
        </p:nvSpPr>
        <p:spPr>
          <a:xfrm>
            <a:off x="1271016" y="1252728"/>
            <a:ext cx="1453896" cy="164592"/>
          </a:xfrm>
          <a:prstGeom prst="rect">
            <a:avLst/>
          </a:prstGeom>
          <a:noFill/>
          <a:ln/>
        </p:spPr>
        <p:txBody>
          <a:bodyPr wrap="square" lIns="0" tIns="0" rIns="0" bIns="0" rtlCol="0" anchor="ctr">
            <a:normAutofit/>
          </a:bodyPr>
          <a:lstStyle/>
          <a:p>
            <a:pPr marL="0" indent="0">
              <a:buNone/>
            </a:pPr>
            <a:r>
              <a:rPr lang="en-US" sz="1100" b="1" dirty="0">
                <a:solidFill>
                  <a:srgbClr val="0B1F3A"/>
                </a:solidFill>
              </a:rPr>
              <a:t>Plan</a:t>
            </a:r>
            <a:endParaRPr lang="en-US" sz="1100" dirty="0"/>
          </a:p>
        </p:txBody>
      </p:sp>
      <p:sp>
        <p:nvSpPr>
          <p:cNvPr id="9" name="Text 7"/>
          <p:cNvSpPr/>
          <p:nvPr/>
        </p:nvSpPr>
        <p:spPr>
          <a:xfrm>
            <a:off x="1271016" y="1453896"/>
            <a:ext cx="1453896" cy="237744"/>
          </a:xfrm>
          <a:prstGeom prst="rect">
            <a:avLst/>
          </a:prstGeom>
          <a:noFill/>
          <a:ln/>
        </p:spPr>
        <p:txBody>
          <a:bodyPr wrap="square" lIns="0" tIns="0" rIns="0" bIns="0" rtlCol="0" anchor="ctr">
            <a:normAutofit/>
          </a:bodyPr>
          <a:lstStyle/>
          <a:p>
            <a:pPr marL="0" indent="0">
              <a:buNone/>
            </a:pPr>
            <a:r>
              <a:rPr lang="en-US" sz="920" dirty="0">
                <a:solidFill>
                  <a:srgbClr val="5D6B82"/>
                </a:solidFill>
              </a:rPr>
              <a:t>Business purpose, risk tier, stakeholders, success metrics</a:t>
            </a:r>
            <a:endParaRPr lang="en-US" sz="920" dirty="0"/>
          </a:p>
        </p:txBody>
      </p:sp>
      <p:sp>
        <p:nvSpPr>
          <p:cNvPr id="10" name="Shape 8"/>
          <p:cNvSpPr/>
          <p:nvPr/>
        </p:nvSpPr>
        <p:spPr>
          <a:xfrm>
            <a:off x="3520440" y="1143000"/>
            <a:ext cx="2148840" cy="694944"/>
          </a:xfrm>
          <a:prstGeom prst="roundRect">
            <a:avLst>
              <a:gd name="adj" fmla="val 7895"/>
            </a:avLst>
          </a:prstGeom>
          <a:solidFill>
            <a:srgbClr val="FFFFFF"/>
          </a:solidFill>
          <a:ln w="12700">
            <a:solidFill>
              <a:srgbClr val="D5DEE8"/>
            </a:solidFill>
            <a:prstDash val="solid"/>
          </a:ln>
        </p:spPr>
        <p:txBody>
          <a:bodyPr/>
          <a:lstStyle/>
          <a:p>
            <a:endParaRPr lang="en-US"/>
          </a:p>
        </p:txBody>
      </p:sp>
      <p:sp>
        <p:nvSpPr>
          <p:cNvPr id="11" name="Shape 9"/>
          <p:cNvSpPr/>
          <p:nvPr/>
        </p:nvSpPr>
        <p:spPr>
          <a:xfrm>
            <a:off x="3630168" y="1289304"/>
            <a:ext cx="384048" cy="384048"/>
          </a:xfrm>
          <a:prstGeom prst="ellipse">
            <a:avLst/>
          </a:prstGeom>
          <a:solidFill>
            <a:srgbClr val="16A3A3"/>
          </a:solidFill>
          <a:ln w="12700">
            <a:solidFill>
              <a:srgbClr val="16A3A3"/>
            </a:solidFill>
            <a:prstDash val="solid"/>
          </a:ln>
        </p:spPr>
        <p:txBody>
          <a:bodyPr/>
          <a:lstStyle/>
          <a:p>
            <a:endParaRPr lang="en-US"/>
          </a:p>
        </p:txBody>
      </p:sp>
      <p:sp>
        <p:nvSpPr>
          <p:cNvPr id="12" name="Text 10"/>
          <p:cNvSpPr/>
          <p:nvPr/>
        </p:nvSpPr>
        <p:spPr>
          <a:xfrm>
            <a:off x="3630168" y="1371600"/>
            <a:ext cx="384048" cy="73152"/>
          </a:xfrm>
          <a:prstGeom prst="rect">
            <a:avLst/>
          </a:prstGeom>
          <a:noFill/>
          <a:ln/>
        </p:spPr>
        <p:txBody>
          <a:bodyPr wrap="square" lIns="0" tIns="0" rIns="0" bIns="0" rtlCol="0" anchor="ctr"/>
          <a:lstStyle/>
          <a:p>
            <a:pPr marL="0" indent="0" algn="ctr">
              <a:buNone/>
            </a:pPr>
            <a:r>
              <a:rPr lang="en-US" sz="850" b="1" dirty="0">
                <a:solidFill>
                  <a:srgbClr val="FFFFFF"/>
                </a:solidFill>
              </a:rPr>
              <a:t>2</a:t>
            </a:r>
            <a:endParaRPr lang="en-US" sz="850" dirty="0"/>
          </a:p>
        </p:txBody>
      </p:sp>
      <p:sp>
        <p:nvSpPr>
          <p:cNvPr id="13" name="Text 11"/>
          <p:cNvSpPr/>
          <p:nvPr/>
        </p:nvSpPr>
        <p:spPr>
          <a:xfrm>
            <a:off x="4105656" y="1252728"/>
            <a:ext cx="1453896" cy="164592"/>
          </a:xfrm>
          <a:prstGeom prst="rect">
            <a:avLst/>
          </a:prstGeom>
          <a:noFill/>
          <a:ln/>
        </p:spPr>
        <p:txBody>
          <a:bodyPr wrap="square" lIns="0" tIns="0" rIns="0" bIns="0" rtlCol="0" anchor="ctr">
            <a:normAutofit/>
          </a:bodyPr>
          <a:lstStyle/>
          <a:p>
            <a:pPr marL="0" indent="0">
              <a:buNone/>
            </a:pPr>
            <a:r>
              <a:rPr lang="en-US" sz="1100" b="1" dirty="0">
                <a:solidFill>
                  <a:srgbClr val="0B1F3A"/>
                </a:solidFill>
              </a:rPr>
              <a:t>Data</a:t>
            </a:r>
            <a:endParaRPr lang="en-US" sz="1100" dirty="0"/>
          </a:p>
        </p:txBody>
      </p:sp>
      <p:sp>
        <p:nvSpPr>
          <p:cNvPr id="14" name="Text 12"/>
          <p:cNvSpPr/>
          <p:nvPr/>
        </p:nvSpPr>
        <p:spPr>
          <a:xfrm>
            <a:off x="4105656" y="1453896"/>
            <a:ext cx="1453896" cy="237744"/>
          </a:xfrm>
          <a:prstGeom prst="rect">
            <a:avLst/>
          </a:prstGeom>
          <a:noFill/>
          <a:ln/>
        </p:spPr>
        <p:txBody>
          <a:bodyPr wrap="square" lIns="0" tIns="0" rIns="0" bIns="0" rtlCol="0" anchor="ctr">
            <a:normAutofit/>
          </a:bodyPr>
          <a:lstStyle/>
          <a:p>
            <a:pPr marL="0" indent="0">
              <a:buNone/>
            </a:pPr>
            <a:r>
              <a:rPr lang="en-US" sz="920" dirty="0">
                <a:solidFill>
                  <a:srgbClr val="5D6B82"/>
                </a:solidFill>
              </a:rPr>
              <a:t>Source approval, quality checks, consent, minimization</a:t>
            </a:r>
            <a:endParaRPr lang="en-US" sz="920" dirty="0"/>
          </a:p>
        </p:txBody>
      </p:sp>
      <p:sp>
        <p:nvSpPr>
          <p:cNvPr id="15" name="Shape 13"/>
          <p:cNvSpPr/>
          <p:nvPr/>
        </p:nvSpPr>
        <p:spPr>
          <a:xfrm>
            <a:off x="6355080" y="1143000"/>
            <a:ext cx="2148840" cy="694944"/>
          </a:xfrm>
          <a:prstGeom prst="roundRect">
            <a:avLst>
              <a:gd name="adj" fmla="val 7895"/>
            </a:avLst>
          </a:prstGeom>
          <a:solidFill>
            <a:srgbClr val="FFFFFF"/>
          </a:solidFill>
          <a:ln w="12700">
            <a:solidFill>
              <a:srgbClr val="D5DEE8"/>
            </a:solidFill>
            <a:prstDash val="solid"/>
          </a:ln>
        </p:spPr>
        <p:txBody>
          <a:bodyPr/>
          <a:lstStyle/>
          <a:p>
            <a:endParaRPr lang="en-US"/>
          </a:p>
        </p:txBody>
      </p:sp>
      <p:sp>
        <p:nvSpPr>
          <p:cNvPr id="16" name="Shape 14"/>
          <p:cNvSpPr/>
          <p:nvPr/>
        </p:nvSpPr>
        <p:spPr>
          <a:xfrm>
            <a:off x="6464808" y="1289304"/>
            <a:ext cx="384048" cy="384048"/>
          </a:xfrm>
          <a:prstGeom prst="ellipse">
            <a:avLst/>
          </a:prstGeom>
          <a:solidFill>
            <a:srgbClr val="6D5DF5"/>
          </a:solidFill>
          <a:ln w="12700">
            <a:solidFill>
              <a:srgbClr val="6D5DF5"/>
            </a:solidFill>
            <a:prstDash val="solid"/>
          </a:ln>
        </p:spPr>
        <p:txBody>
          <a:bodyPr/>
          <a:lstStyle/>
          <a:p>
            <a:endParaRPr lang="en-US"/>
          </a:p>
        </p:txBody>
      </p:sp>
      <p:sp>
        <p:nvSpPr>
          <p:cNvPr id="17" name="Text 15"/>
          <p:cNvSpPr/>
          <p:nvPr/>
        </p:nvSpPr>
        <p:spPr>
          <a:xfrm>
            <a:off x="6464808" y="1371600"/>
            <a:ext cx="384048" cy="73152"/>
          </a:xfrm>
          <a:prstGeom prst="rect">
            <a:avLst/>
          </a:prstGeom>
          <a:noFill/>
          <a:ln/>
        </p:spPr>
        <p:txBody>
          <a:bodyPr wrap="square" lIns="0" tIns="0" rIns="0" bIns="0" rtlCol="0" anchor="ctr"/>
          <a:lstStyle/>
          <a:p>
            <a:pPr marL="0" indent="0" algn="ctr">
              <a:buNone/>
            </a:pPr>
            <a:r>
              <a:rPr lang="en-US" sz="850" b="1" dirty="0">
                <a:solidFill>
                  <a:srgbClr val="FFFFFF"/>
                </a:solidFill>
              </a:rPr>
              <a:t>3</a:t>
            </a:r>
            <a:endParaRPr lang="en-US" sz="850" dirty="0"/>
          </a:p>
        </p:txBody>
      </p:sp>
      <p:sp>
        <p:nvSpPr>
          <p:cNvPr id="18" name="Text 16"/>
          <p:cNvSpPr/>
          <p:nvPr/>
        </p:nvSpPr>
        <p:spPr>
          <a:xfrm>
            <a:off x="6940296" y="1252728"/>
            <a:ext cx="1453896" cy="164592"/>
          </a:xfrm>
          <a:prstGeom prst="rect">
            <a:avLst/>
          </a:prstGeom>
          <a:noFill/>
          <a:ln/>
        </p:spPr>
        <p:txBody>
          <a:bodyPr wrap="square" lIns="0" tIns="0" rIns="0" bIns="0" rtlCol="0" anchor="ctr">
            <a:normAutofit/>
          </a:bodyPr>
          <a:lstStyle/>
          <a:p>
            <a:pPr marL="0" indent="0">
              <a:buNone/>
            </a:pPr>
            <a:r>
              <a:rPr lang="en-US" sz="1100" b="1" dirty="0">
                <a:solidFill>
                  <a:srgbClr val="0B1F3A"/>
                </a:solidFill>
              </a:rPr>
              <a:t>Build</a:t>
            </a:r>
            <a:endParaRPr lang="en-US" sz="1100" dirty="0"/>
          </a:p>
        </p:txBody>
      </p:sp>
      <p:sp>
        <p:nvSpPr>
          <p:cNvPr id="19" name="Text 17"/>
          <p:cNvSpPr/>
          <p:nvPr/>
        </p:nvSpPr>
        <p:spPr>
          <a:xfrm>
            <a:off x="6940296" y="1453896"/>
            <a:ext cx="1453896" cy="237744"/>
          </a:xfrm>
          <a:prstGeom prst="rect">
            <a:avLst/>
          </a:prstGeom>
          <a:noFill/>
          <a:ln/>
        </p:spPr>
        <p:txBody>
          <a:bodyPr wrap="square" lIns="0" tIns="0" rIns="0" bIns="0" rtlCol="0" anchor="ctr">
            <a:normAutofit/>
          </a:bodyPr>
          <a:lstStyle/>
          <a:p>
            <a:pPr marL="0" indent="0">
              <a:buNone/>
            </a:pPr>
            <a:r>
              <a:rPr lang="en-US" sz="920" dirty="0">
                <a:solidFill>
                  <a:srgbClr val="5D6B82"/>
                </a:solidFill>
              </a:rPr>
              <a:t>Secure coding, fairness constraints, documentation</a:t>
            </a:r>
            <a:endParaRPr lang="en-US" sz="920" dirty="0"/>
          </a:p>
        </p:txBody>
      </p:sp>
      <p:sp>
        <p:nvSpPr>
          <p:cNvPr id="20" name="Shape 18"/>
          <p:cNvSpPr/>
          <p:nvPr/>
        </p:nvSpPr>
        <p:spPr>
          <a:xfrm>
            <a:off x="9189720" y="1143000"/>
            <a:ext cx="2148840" cy="694944"/>
          </a:xfrm>
          <a:prstGeom prst="roundRect">
            <a:avLst>
              <a:gd name="adj" fmla="val 7895"/>
            </a:avLst>
          </a:prstGeom>
          <a:solidFill>
            <a:srgbClr val="FFFFFF"/>
          </a:solidFill>
          <a:ln w="12700">
            <a:solidFill>
              <a:srgbClr val="D5DEE8"/>
            </a:solidFill>
            <a:prstDash val="solid"/>
          </a:ln>
        </p:spPr>
        <p:txBody>
          <a:bodyPr/>
          <a:lstStyle/>
          <a:p>
            <a:endParaRPr lang="en-US"/>
          </a:p>
        </p:txBody>
      </p:sp>
      <p:sp>
        <p:nvSpPr>
          <p:cNvPr id="21" name="Shape 19"/>
          <p:cNvSpPr/>
          <p:nvPr/>
        </p:nvSpPr>
        <p:spPr>
          <a:xfrm>
            <a:off x="9299448" y="1289304"/>
            <a:ext cx="384048" cy="384048"/>
          </a:xfrm>
          <a:prstGeom prst="ellipse">
            <a:avLst/>
          </a:prstGeom>
          <a:solidFill>
            <a:srgbClr val="2E7D32"/>
          </a:solidFill>
          <a:ln w="12700">
            <a:solidFill>
              <a:srgbClr val="2E7D32"/>
            </a:solidFill>
            <a:prstDash val="solid"/>
          </a:ln>
        </p:spPr>
        <p:txBody>
          <a:bodyPr/>
          <a:lstStyle/>
          <a:p>
            <a:endParaRPr lang="en-US"/>
          </a:p>
        </p:txBody>
      </p:sp>
      <p:sp>
        <p:nvSpPr>
          <p:cNvPr id="22" name="Text 20"/>
          <p:cNvSpPr/>
          <p:nvPr/>
        </p:nvSpPr>
        <p:spPr>
          <a:xfrm>
            <a:off x="9299448" y="1371600"/>
            <a:ext cx="384048" cy="73152"/>
          </a:xfrm>
          <a:prstGeom prst="rect">
            <a:avLst/>
          </a:prstGeom>
          <a:noFill/>
          <a:ln/>
        </p:spPr>
        <p:txBody>
          <a:bodyPr wrap="square" lIns="0" tIns="0" rIns="0" bIns="0" rtlCol="0" anchor="ctr"/>
          <a:lstStyle/>
          <a:p>
            <a:pPr marL="0" indent="0" algn="ctr">
              <a:buNone/>
            </a:pPr>
            <a:r>
              <a:rPr lang="en-US" sz="850" b="1" dirty="0">
                <a:solidFill>
                  <a:srgbClr val="FFFFFF"/>
                </a:solidFill>
              </a:rPr>
              <a:t>4</a:t>
            </a:r>
            <a:endParaRPr lang="en-US" sz="850" dirty="0"/>
          </a:p>
        </p:txBody>
      </p:sp>
      <p:sp>
        <p:nvSpPr>
          <p:cNvPr id="23" name="Text 21"/>
          <p:cNvSpPr/>
          <p:nvPr/>
        </p:nvSpPr>
        <p:spPr>
          <a:xfrm>
            <a:off x="9774936" y="1252728"/>
            <a:ext cx="1453896" cy="164592"/>
          </a:xfrm>
          <a:prstGeom prst="rect">
            <a:avLst/>
          </a:prstGeom>
          <a:noFill/>
          <a:ln/>
        </p:spPr>
        <p:txBody>
          <a:bodyPr wrap="square" lIns="0" tIns="0" rIns="0" bIns="0" rtlCol="0" anchor="ctr">
            <a:normAutofit/>
          </a:bodyPr>
          <a:lstStyle/>
          <a:p>
            <a:pPr marL="0" indent="0">
              <a:buNone/>
            </a:pPr>
            <a:r>
              <a:rPr lang="en-US" sz="1100" b="1" dirty="0">
                <a:solidFill>
                  <a:srgbClr val="0B1F3A"/>
                </a:solidFill>
              </a:rPr>
              <a:t>Validate</a:t>
            </a:r>
            <a:endParaRPr lang="en-US" sz="1100" dirty="0"/>
          </a:p>
        </p:txBody>
      </p:sp>
      <p:sp>
        <p:nvSpPr>
          <p:cNvPr id="24" name="Text 22"/>
          <p:cNvSpPr/>
          <p:nvPr/>
        </p:nvSpPr>
        <p:spPr>
          <a:xfrm>
            <a:off x="9774936" y="1453896"/>
            <a:ext cx="1453896" cy="237744"/>
          </a:xfrm>
          <a:prstGeom prst="rect">
            <a:avLst/>
          </a:prstGeom>
          <a:noFill/>
          <a:ln/>
        </p:spPr>
        <p:txBody>
          <a:bodyPr wrap="square" lIns="0" tIns="0" rIns="0" bIns="0" rtlCol="0" anchor="ctr">
            <a:normAutofit/>
          </a:bodyPr>
          <a:lstStyle/>
          <a:p>
            <a:pPr marL="0" indent="0">
              <a:buNone/>
            </a:pPr>
            <a:r>
              <a:rPr lang="en-US" sz="920" dirty="0">
                <a:solidFill>
                  <a:srgbClr val="5D6B82"/>
                </a:solidFill>
              </a:rPr>
              <a:t>Accuracy, bias, explainability, privacy, security testing</a:t>
            </a:r>
            <a:endParaRPr lang="en-US" sz="920" dirty="0"/>
          </a:p>
        </p:txBody>
      </p:sp>
      <p:sp>
        <p:nvSpPr>
          <p:cNvPr id="25" name="Shape 23"/>
          <p:cNvSpPr/>
          <p:nvPr/>
        </p:nvSpPr>
        <p:spPr>
          <a:xfrm>
            <a:off x="685800" y="3337560"/>
            <a:ext cx="2148840" cy="694944"/>
          </a:xfrm>
          <a:prstGeom prst="roundRect">
            <a:avLst>
              <a:gd name="adj" fmla="val 7895"/>
            </a:avLst>
          </a:prstGeom>
          <a:solidFill>
            <a:srgbClr val="FFFFFF"/>
          </a:solidFill>
          <a:ln w="12700">
            <a:solidFill>
              <a:srgbClr val="D5DEE8"/>
            </a:solidFill>
            <a:prstDash val="solid"/>
          </a:ln>
        </p:spPr>
        <p:txBody>
          <a:bodyPr/>
          <a:lstStyle/>
          <a:p>
            <a:endParaRPr lang="en-US"/>
          </a:p>
        </p:txBody>
      </p:sp>
      <p:sp>
        <p:nvSpPr>
          <p:cNvPr id="26" name="Shape 24"/>
          <p:cNvSpPr/>
          <p:nvPr/>
        </p:nvSpPr>
        <p:spPr>
          <a:xfrm>
            <a:off x="795528" y="3483864"/>
            <a:ext cx="384048" cy="384048"/>
          </a:xfrm>
          <a:prstGeom prst="ellipse">
            <a:avLst/>
          </a:prstGeom>
          <a:solidFill>
            <a:srgbClr val="F0B429"/>
          </a:solidFill>
          <a:ln w="12700">
            <a:solidFill>
              <a:srgbClr val="F0B429"/>
            </a:solidFill>
            <a:prstDash val="solid"/>
          </a:ln>
        </p:spPr>
        <p:txBody>
          <a:bodyPr/>
          <a:lstStyle/>
          <a:p>
            <a:endParaRPr lang="en-US"/>
          </a:p>
        </p:txBody>
      </p:sp>
      <p:sp>
        <p:nvSpPr>
          <p:cNvPr id="27" name="Text 25"/>
          <p:cNvSpPr/>
          <p:nvPr/>
        </p:nvSpPr>
        <p:spPr>
          <a:xfrm>
            <a:off x="795528" y="3566160"/>
            <a:ext cx="384048" cy="73152"/>
          </a:xfrm>
          <a:prstGeom prst="rect">
            <a:avLst/>
          </a:prstGeom>
          <a:noFill/>
          <a:ln/>
        </p:spPr>
        <p:txBody>
          <a:bodyPr wrap="square" lIns="0" tIns="0" rIns="0" bIns="0" rtlCol="0" anchor="ctr"/>
          <a:lstStyle/>
          <a:p>
            <a:pPr marL="0" indent="0" algn="ctr">
              <a:buNone/>
            </a:pPr>
            <a:r>
              <a:rPr lang="en-US" sz="850" b="1" dirty="0">
                <a:solidFill>
                  <a:srgbClr val="FFFFFF"/>
                </a:solidFill>
              </a:rPr>
              <a:t>5</a:t>
            </a:r>
            <a:endParaRPr lang="en-US" sz="850" dirty="0"/>
          </a:p>
        </p:txBody>
      </p:sp>
      <p:sp>
        <p:nvSpPr>
          <p:cNvPr id="28" name="Text 26"/>
          <p:cNvSpPr/>
          <p:nvPr/>
        </p:nvSpPr>
        <p:spPr>
          <a:xfrm>
            <a:off x="1271016" y="3447288"/>
            <a:ext cx="1453896" cy="164592"/>
          </a:xfrm>
          <a:prstGeom prst="rect">
            <a:avLst/>
          </a:prstGeom>
          <a:noFill/>
          <a:ln/>
        </p:spPr>
        <p:txBody>
          <a:bodyPr wrap="square" lIns="0" tIns="0" rIns="0" bIns="0" rtlCol="0" anchor="ctr">
            <a:normAutofit/>
          </a:bodyPr>
          <a:lstStyle/>
          <a:p>
            <a:pPr marL="0" indent="0">
              <a:buNone/>
            </a:pPr>
            <a:r>
              <a:rPr lang="en-US" sz="1100" b="1" dirty="0">
                <a:solidFill>
                  <a:srgbClr val="0B1F3A"/>
                </a:solidFill>
              </a:rPr>
              <a:t>Deploy</a:t>
            </a:r>
            <a:endParaRPr lang="en-US" sz="1100" dirty="0"/>
          </a:p>
        </p:txBody>
      </p:sp>
      <p:sp>
        <p:nvSpPr>
          <p:cNvPr id="29" name="Text 27"/>
          <p:cNvSpPr/>
          <p:nvPr/>
        </p:nvSpPr>
        <p:spPr>
          <a:xfrm>
            <a:off x="1271016" y="3648456"/>
            <a:ext cx="1453896" cy="237744"/>
          </a:xfrm>
          <a:prstGeom prst="rect">
            <a:avLst/>
          </a:prstGeom>
          <a:noFill/>
          <a:ln/>
        </p:spPr>
        <p:txBody>
          <a:bodyPr wrap="square" lIns="0" tIns="0" rIns="0" bIns="0" rtlCol="0" anchor="ctr">
            <a:normAutofit/>
          </a:bodyPr>
          <a:lstStyle/>
          <a:p>
            <a:pPr marL="0" indent="0">
              <a:buNone/>
            </a:pPr>
            <a:r>
              <a:rPr lang="en-US" sz="920" dirty="0">
                <a:solidFill>
                  <a:srgbClr val="5D6B82"/>
                </a:solidFill>
              </a:rPr>
              <a:t>Human oversight, user notice, launch approval</a:t>
            </a:r>
            <a:endParaRPr lang="en-US" sz="920" dirty="0"/>
          </a:p>
        </p:txBody>
      </p:sp>
      <p:sp>
        <p:nvSpPr>
          <p:cNvPr id="30" name="Shape 28"/>
          <p:cNvSpPr/>
          <p:nvPr/>
        </p:nvSpPr>
        <p:spPr>
          <a:xfrm>
            <a:off x="3520440" y="3337560"/>
            <a:ext cx="2148840" cy="694944"/>
          </a:xfrm>
          <a:prstGeom prst="roundRect">
            <a:avLst>
              <a:gd name="adj" fmla="val 7895"/>
            </a:avLst>
          </a:prstGeom>
          <a:solidFill>
            <a:srgbClr val="FFFFFF"/>
          </a:solidFill>
          <a:ln w="12700">
            <a:solidFill>
              <a:srgbClr val="D5DEE8"/>
            </a:solidFill>
            <a:prstDash val="solid"/>
          </a:ln>
        </p:spPr>
        <p:txBody>
          <a:bodyPr/>
          <a:lstStyle/>
          <a:p>
            <a:endParaRPr lang="en-US"/>
          </a:p>
        </p:txBody>
      </p:sp>
      <p:sp>
        <p:nvSpPr>
          <p:cNvPr id="31" name="Shape 29"/>
          <p:cNvSpPr/>
          <p:nvPr/>
        </p:nvSpPr>
        <p:spPr>
          <a:xfrm>
            <a:off x="3630168" y="3483864"/>
            <a:ext cx="384048" cy="384048"/>
          </a:xfrm>
          <a:prstGeom prst="ellipse">
            <a:avLst/>
          </a:prstGeom>
          <a:solidFill>
            <a:srgbClr val="C62828"/>
          </a:solidFill>
          <a:ln w="12700">
            <a:solidFill>
              <a:srgbClr val="C62828"/>
            </a:solidFill>
            <a:prstDash val="solid"/>
          </a:ln>
        </p:spPr>
        <p:txBody>
          <a:bodyPr/>
          <a:lstStyle/>
          <a:p>
            <a:endParaRPr lang="en-US"/>
          </a:p>
        </p:txBody>
      </p:sp>
      <p:sp>
        <p:nvSpPr>
          <p:cNvPr id="32" name="Text 30"/>
          <p:cNvSpPr/>
          <p:nvPr/>
        </p:nvSpPr>
        <p:spPr>
          <a:xfrm>
            <a:off x="3630168" y="3566160"/>
            <a:ext cx="384048" cy="73152"/>
          </a:xfrm>
          <a:prstGeom prst="rect">
            <a:avLst/>
          </a:prstGeom>
          <a:noFill/>
          <a:ln/>
        </p:spPr>
        <p:txBody>
          <a:bodyPr wrap="square" lIns="0" tIns="0" rIns="0" bIns="0" rtlCol="0" anchor="ctr"/>
          <a:lstStyle/>
          <a:p>
            <a:pPr marL="0" indent="0" algn="ctr">
              <a:buNone/>
            </a:pPr>
            <a:r>
              <a:rPr lang="en-US" sz="850" b="1" dirty="0">
                <a:solidFill>
                  <a:srgbClr val="FFFFFF"/>
                </a:solidFill>
              </a:rPr>
              <a:t>6</a:t>
            </a:r>
            <a:endParaRPr lang="en-US" sz="850" dirty="0"/>
          </a:p>
        </p:txBody>
      </p:sp>
      <p:sp>
        <p:nvSpPr>
          <p:cNvPr id="33" name="Text 31"/>
          <p:cNvSpPr/>
          <p:nvPr/>
        </p:nvSpPr>
        <p:spPr>
          <a:xfrm>
            <a:off x="4105656" y="3447288"/>
            <a:ext cx="1453896" cy="164592"/>
          </a:xfrm>
          <a:prstGeom prst="rect">
            <a:avLst/>
          </a:prstGeom>
          <a:noFill/>
          <a:ln/>
        </p:spPr>
        <p:txBody>
          <a:bodyPr wrap="square" lIns="0" tIns="0" rIns="0" bIns="0" rtlCol="0" anchor="ctr">
            <a:normAutofit/>
          </a:bodyPr>
          <a:lstStyle/>
          <a:p>
            <a:pPr marL="0" indent="0">
              <a:buNone/>
            </a:pPr>
            <a:r>
              <a:rPr lang="en-US" sz="1100" b="1" dirty="0">
                <a:solidFill>
                  <a:srgbClr val="0B1F3A"/>
                </a:solidFill>
              </a:rPr>
              <a:t>Monitor</a:t>
            </a:r>
            <a:endParaRPr lang="en-US" sz="1100" dirty="0"/>
          </a:p>
        </p:txBody>
      </p:sp>
      <p:sp>
        <p:nvSpPr>
          <p:cNvPr id="34" name="Text 32"/>
          <p:cNvSpPr/>
          <p:nvPr/>
        </p:nvSpPr>
        <p:spPr>
          <a:xfrm>
            <a:off x="4105656" y="3648456"/>
            <a:ext cx="1453896" cy="237744"/>
          </a:xfrm>
          <a:prstGeom prst="rect">
            <a:avLst/>
          </a:prstGeom>
          <a:noFill/>
          <a:ln/>
        </p:spPr>
        <p:txBody>
          <a:bodyPr wrap="square" lIns="0" tIns="0" rIns="0" bIns="0" rtlCol="0" anchor="ctr">
            <a:normAutofit/>
          </a:bodyPr>
          <a:lstStyle/>
          <a:p>
            <a:pPr marL="0" indent="0">
              <a:buNone/>
            </a:pPr>
            <a:r>
              <a:rPr lang="en-US" sz="920" dirty="0">
                <a:solidFill>
                  <a:srgbClr val="5D6B82"/>
                </a:solidFill>
              </a:rPr>
              <a:t>Drift, incidents, user feedback, security alerts</a:t>
            </a:r>
            <a:endParaRPr lang="en-US" sz="920" dirty="0"/>
          </a:p>
        </p:txBody>
      </p:sp>
      <p:sp>
        <p:nvSpPr>
          <p:cNvPr id="35" name="Shape 33"/>
          <p:cNvSpPr/>
          <p:nvPr/>
        </p:nvSpPr>
        <p:spPr>
          <a:xfrm>
            <a:off x="6355080" y="3337560"/>
            <a:ext cx="2148840" cy="694944"/>
          </a:xfrm>
          <a:prstGeom prst="roundRect">
            <a:avLst>
              <a:gd name="adj" fmla="val 7895"/>
            </a:avLst>
          </a:prstGeom>
          <a:solidFill>
            <a:srgbClr val="FFFFFF"/>
          </a:solidFill>
          <a:ln w="12700">
            <a:solidFill>
              <a:srgbClr val="D5DEE8"/>
            </a:solidFill>
            <a:prstDash val="solid"/>
          </a:ln>
        </p:spPr>
        <p:txBody>
          <a:bodyPr/>
          <a:lstStyle/>
          <a:p>
            <a:endParaRPr lang="en-US"/>
          </a:p>
        </p:txBody>
      </p:sp>
      <p:sp>
        <p:nvSpPr>
          <p:cNvPr id="36" name="Shape 34"/>
          <p:cNvSpPr/>
          <p:nvPr/>
        </p:nvSpPr>
        <p:spPr>
          <a:xfrm>
            <a:off x="6464808" y="3483864"/>
            <a:ext cx="384048" cy="384048"/>
          </a:xfrm>
          <a:prstGeom prst="ellipse">
            <a:avLst/>
          </a:prstGeom>
          <a:solidFill>
            <a:srgbClr val="0B1F3A"/>
          </a:solidFill>
          <a:ln w="12700">
            <a:solidFill>
              <a:srgbClr val="0B1F3A"/>
            </a:solidFill>
            <a:prstDash val="solid"/>
          </a:ln>
        </p:spPr>
        <p:txBody>
          <a:bodyPr/>
          <a:lstStyle/>
          <a:p>
            <a:endParaRPr lang="en-US"/>
          </a:p>
        </p:txBody>
      </p:sp>
      <p:sp>
        <p:nvSpPr>
          <p:cNvPr id="37" name="Text 35"/>
          <p:cNvSpPr/>
          <p:nvPr/>
        </p:nvSpPr>
        <p:spPr>
          <a:xfrm>
            <a:off x="6464808" y="3566160"/>
            <a:ext cx="384048" cy="73152"/>
          </a:xfrm>
          <a:prstGeom prst="rect">
            <a:avLst/>
          </a:prstGeom>
          <a:noFill/>
          <a:ln/>
        </p:spPr>
        <p:txBody>
          <a:bodyPr wrap="square" lIns="0" tIns="0" rIns="0" bIns="0" rtlCol="0" anchor="ctr"/>
          <a:lstStyle/>
          <a:p>
            <a:pPr marL="0" indent="0" algn="ctr">
              <a:buNone/>
            </a:pPr>
            <a:r>
              <a:rPr lang="en-US" sz="850" b="1" dirty="0">
                <a:solidFill>
                  <a:srgbClr val="FFFFFF"/>
                </a:solidFill>
              </a:rPr>
              <a:t>7</a:t>
            </a:r>
            <a:endParaRPr lang="en-US" sz="850" dirty="0"/>
          </a:p>
        </p:txBody>
      </p:sp>
      <p:sp>
        <p:nvSpPr>
          <p:cNvPr id="38" name="Text 36"/>
          <p:cNvSpPr/>
          <p:nvPr/>
        </p:nvSpPr>
        <p:spPr>
          <a:xfrm>
            <a:off x="6940296" y="3447288"/>
            <a:ext cx="1453896" cy="164592"/>
          </a:xfrm>
          <a:prstGeom prst="rect">
            <a:avLst/>
          </a:prstGeom>
          <a:noFill/>
          <a:ln/>
        </p:spPr>
        <p:txBody>
          <a:bodyPr wrap="square" lIns="0" tIns="0" rIns="0" bIns="0" rtlCol="0" anchor="ctr">
            <a:normAutofit/>
          </a:bodyPr>
          <a:lstStyle/>
          <a:p>
            <a:pPr marL="0" indent="0">
              <a:buNone/>
            </a:pPr>
            <a:r>
              <a:rPr lang="en-US" sz="1100" b="1" dirty="0">
                <a:solidFill>
                  <a:srgbClr val="0B1F3A"/>
                </a:solidFill>
              </a:rPr>
              <a:t>Sustain</a:t>
            </a:r>
            <a:endParaRPr lang="en-US" sz="1100" dirty="0"/>
          </a:p>
        </p:txBody>
      </p:sp>
      <p:sp>
        <p:nvSpPr>
          <p:cNvPr id="39" name="Text 37"/>
          <p:cNvSpPr/>
          <p:nvPr/>
        </p:nvSpPr>
        <p:spPr>
          <a:xfrm>
            <a:off x="6940296" y="3648456"/>
            <a:ext cx="1453896" cy="237744"/>
          </a:xfrm>
          <a:prstGeom prst="rect">
            <a:avLst/>
          </a:prstGeom>
          <a:noFill/>
          <a:ln/>
        </p:spPr>
        <p:txBody>
          <a:bodyPr wrap="square" lIns="0" tIns="0" rIns="0" bIns="0" rtlCol="0" anchor="ctr">
            <a:normAutofit/>
          </a:bodyPr>
          <a:lstStyle/>
          <a:p>
            <a:pPr marL="0" indent="0">
              <a:buNone/>
            </a:pPr>
            <a:r>
              <a:rPr lang="en-US" sz="920" dirty="0">
                <a:solidFill>
                  <a:srgbClr val="5D6B82"/>
                </a:solidFill>
              </a:rPr>
              <a:t>Retrain, audit, update training and documentation</a:t>
            </a:r>
            <a:endParaRPr lang="en-US" sz="920" dirty="0"/>
          </a:p>
        </p:txBody>
      </p:sp>
      <p:sp>
        <p:nvSpPr>
          <p:cNvPr id="40" name="Shape 38"/>
          <p:cNvSpPr/>
          <p:nvPr/>
        </p:nvSpPr>
        <p:spPr>
          <a:xfrm>
            <a:off x="9189720" y="3337560"/>
            <a:ext cx="2148840" cy="694944"/>
          </a:xfrm>
          <a:prstGeom prst="roundRect">
            <a:avLst>
              <a:gd name="adj" fmla="val 7895"/>
            </a:avLst>
          </a:prstGeom>
          <a:solidFill>
            <a:srgbClr val="FFFFFF"/>
          </a:solidFill>
          <a:ln w="12700">
            <a:solidFill>
              <a:srgbClr val="D5DEE8"/>
            </a:solidFill>
            <a:prstDash val="solid"/>
          </a:ln>
        </p:spPr>
        <p:txBody>
          <a:bodyPr/>
          <a:lstStyle/>
          <a:p>
            <a:endParaRPr lang="en-US"/>
          </a:p>
        </p:txBody>
      </p:sp>
      <p:sp>
        <p:nvSpPr>
          <p:cNvPr id="41" name="Shape 39"/>
          <p:cNvSpPr/>
          <p:nvPr/>
        </p:nvSpPr>
        <p:spPr>
          <a:xfrm>
            <a:off x="9299448" y="3483864"/>
            <a:ext cx="384048" cy="384048"/>
          </a:xfrm>
          <a:prstGeom prst="ellipse">
            <a:avLst/>
          </a:prstGeom>
          <a:solidFill>
            <a:srgbClr val="16A3A3"/>
          </a:solidFill>
          <a:ln w="12700">
            <a:solidFill>
              <a:srgbClr val="16A3A3"/>
            </a:solidFill>
            <a:prstDash val="solid"/>
          </a:ln>
        </p:spPr>
        <p:txBody>
          <a:bodyPr/>
          <a:lstStyle/>
          <a:p>
            <a:endParaRPr lang="en-US"/>
          </a:p>
        </p:txBody>
      </p:sp>
      <p:sp>
        <p:nvSpPr>
          <p:cNvPr id="42" name="Text 40"/>
          <p:cNvSpPr/>
          <p:nvPr/>
        </p:nvSpPr>
        <p:spPr>
          <a:xfrm>
            <a:off x="9299448" y="3566160"/>
            <a:ext cx="384048" cy="73152"/>
          </a:xfrm>
          <a:prstGeom prst="rect">
            <a:avLst/>
          </a:prstGeom>
          <a:noFill/>
          <a:ln/>
        </p:spPr>
        <p:txBody>
          <a:bodyPr wrap="square" lIns="0" tIns="0" rIns="0" bIns="0" rtlCol="0" anchor="ctr"/>
          <a:lstStyle/>
          <a:p>
            <a:pPr marL="0" indent="0" algn="ctr">
              <a:buNone/>
            </a:pPr>
            <a:r>
              <a:rPr lang="en-US" sz="850" b="1" dirty="0">
                <a:solidFill>
                  <a:srgbClr val="FFFFFF"/>
                </a:solidFill>
              </a:rPr>
              <a:t>8</a:t>
            </a:r>
            <a:endParaRPr lang="en-US" sz="850" dirty="0"/>
          </a:p>
        </p:txBody>
      </p:sp>
      <p:sp>
        <p:nvSpPr>
          <p:cNvPr id="43" name="Text 41"/>
          <p:cNvSpPr/>
          <p:nvPr/>
        </p:nvSpPr>
        <p:spPr>
          <a:xfrm>
            <a:off x="9774936" y="3447288"/>
            <a:ext cx="1453896" cy="164592"/>
          </a:xfrm>
          <a:prstGeom prst="rect">
            <a:avLst/>
          </a:prstGeom>
          <a:noFill/>
          <a:ln/>
        </p:spPr>
        <p:txBody>
          <a:bodyPr wrap="square" lIns="0" tIns="0" rIns="0" bIns="0" rtlCol="0" anchor="ctr">
            <a:normAutofit/>
          </a:bodyPr>
          <a:lstStyle/>
          <a:p>
            <a:pPr marL="0" indent="0">
              <a:buNone/>
            </a:pPr>
            <a:r>
              <a:rPr lang="en-US" sz="1100" b="1" dirty="0">
                <a:solidFill>
                  <a:srgbClr val="0B1F3A"/>
                </a:solidFill>
              </a:rPr>
              <a:t>Dispose</a:t>
            </a:r>
            <a:endParaRPr lang="en-US" sz="1100" dirty="0"/>
          </a:p>
        </p:txBody>
      </p:sp>
      <p:sp>
        <p:nvSpPr>
          <p:cNvPr id="44" name="Text 42"/>
          <p:cNvSpPr/>
          <p:nvPr/>
        </p:nvSpPr>
        <p:spPr>
          <a:xfrm>
            <a:off x="9774936" y="3648456"/>
            <a:ext cx="1453896" cy="237744"/>
          </a:xfrm>
          <a:prstGeom prst="rect">
            <a:avLst/>
          </a:prstGeom>
          <a:noFill/>
          <a:ln/>
        </p:spPr>
        <p:txBody>
          <a:bodyPr wrap="square" lIns="0" tIns="0" rIns="0" bIns="0" rtlCol="0" anchor="ctr">
            <a:normAutofit/>
          </a:bodyPr>
          <a:lstStyle/>
          <a:p>
            <a:pPr marL="0" indent="0">
              <a:buNone/>
            </a:pPr>
            <a:r>
              <a:rPr lang="en-US" sz="920" dirty="0">
                <a:solidFill>
                  <a:srgbClr val="5D6B82"/>
                </a:solidFill>
              </a:rPr>
              <a:t>Retire safely, archive evidence, delete/retain data correctly</a:t>
            </a:r>
            <a:endParaRPr lang="en-US" sz="920" dirty="0"/>
          </a:p>
        </p:txBody>
      </p:sp>
      <p:sp>
        <p:nvSpPr>
          <p:cNvPr id="45" name="Shape 43"/>
          <p:cNvSpPr/>
          <p:nvPr/>
        </p:nvSpPr>
        <p:spPr>
          <a:xfrm>
            <a:off x="2971800" y="1408176"/>
            <a:ext cx="201168" cy="164592"/>
          </a:xfrm>
          <a:prstGeom prst="rightArrow">
            <a:avLst/>
          </a:prstGeom>
          <a:solidFill>
            <a:srgbClr val="D5DEE8"/>
          </a:solidFill>
          <a:ln w="12700">
            <a:solidFill>
              <a:srgbClr val="D5DEE8"/>
            </a:solidFill>
            <a:prstDash val="solid"/>
          </a:ln>
        </p:spPr>
        <p:txBody>
          <a:bodyPr/>
          <a:lstStyle/>
          <a:p>
            <a:endParaRPr lang="en-US"/>
          </a:p>
        </p:txBody>
      </p:sp>
      <p:sp>
        <p:nvSpPr>
          <p:cNvPr id="46" name="Shape 44"/>
          <p:cNvSpPr/>
          <p:nvPr/>
        </p:nvSpPr>
        <p:spPr>
          <a:xfrm>
            <a:off x="2971800" y="3602736"/>
            <a:ext cx="201168" cy="164592"/>
          </a:xfrm>
          <a:prstGeom prst="rightArrow">
            <a:avLst/>
          </a:prstGeom>
          <a:solidFill>
            <a:srgbClr val="D5DEE8"/>
          </a:solidFill>
          <a:ln w="12700">
            <a:solidFill>
              <a:srgbClr val="D5DEE8"/>
            </a:solidFill>
            <a:prstDash val="solid"/>
          </a:ln>
        </p:spPr>
        <p:txBody>
          <a:bodyPr/>
          <a:lstStyle/>
          <a:p>
            <a:endParaRPr lang="en-US"/>
          </a:p>
        </p:txBody>
      </p:sp>
      <p:sp>
        <p:nvSpPr>
          <p:cNvPr id="47" name="Shape 45"/>
          <p:cNvSpPr/>
          <p:nvPr/>
        </p:nvSpPr>
        <p:spPr>
          <a:xfrm>
            <a:off x="5806440" y="1408176"/>
            <a:ext cx="201168" cy="164592"/>
          </a:xfrm>
          <a:prstGeom prst="rightArrow">
            <a:avLst/>
          </a:prstGeom>
          <a:solidFill>
            <a:srgbClr val="D5DEE8"/>
          </a:solidFill>
          <a:ln w="12700">
            <a:solidFill>
              <a:srgbClr val="D5DEE8"/>
            </a:solidFill>
            <a:prstDash val="solid"/>
          </a:ln>
        </p:spPr>
        <p:txBody>
          <a:bodyPr/>
          <a:lstStyle/>
          <a:p>
            <a:endParaRPr lang="en-US"/>
          </a:p>
        </p:txBody>
      </p:sp>
      <p:sp>
        <p:nvSpPr>
          <p:cNvPr id="48" name="Shape 46"/>
          <p:cNvSpPr/>
          <p:nvPr/>
        </p:nvSpPr>
        <p:spPr>
          <a:xfrm>
            <a:off x="5806440" y="3602736"/>
            <a:ext cx="201168" cy="164592"/>
          </a:xfrm>
          <a:prstGeom prst="rightArrow">
            <a:avLst/>
          </a:prstGeom>
          <a:solidFill>
            <a:srgbClr val="D5DEE8"/>
          </a:solidFill>
          <a:ln w="12700">
            <a:solidFill>
              <a:srgbClr val="D5DEE8"/>
            </a:solidFill>
            <a:prstDash val="solid"/>
          </a:ln>
        </p:spPr>
        <p:txBody>
          <a:bodyPr/>
          <a:lstStyle/>
          <a:p>
            <a:endParaRPr lang="en-US"/>
          </a:p>
        </p:txBody>
      </p:sp>
      <p:sp>
        <p:nvSpPr>
          <p:cNvPr id="49" name="Shape 47"/>
          <p:cNvSpPr/>
          <p:nvPr/>
        </p:nvSpPr>
        <p:spPr>
          <a:xfrm>
            <a:off x="8641080" y="1408176"/>
            <a:ext cx="201168" cy="164592"/>
          </a:xfrm>
          <a:prstGeom prst="rightArrow">
            <a:avLst/>
          </a:prstGeom>
          <a:solidFill>
            <a:srgbClr val="D5DEE8"/>
          </a:solidFill>
          <a:ln w="12700">
            <a:solidFill>
              <a:srgbClr val="D5DEE8"/>
            </a:solidFill>
            <a:prstDash val="solid"/>
          </a:ln>
        </p:spPr>
        <p:txBody>
          <a:bodyPr/>
          <a:lstStyle/>
          <a:p>
            <a:endParaRPr lang="en-US"/>
          </a:p>
        </p:txBody>
      </p:sp>
      <p:sp>
        <p:nvSpPr>
          <p:cNvPr id="50" name="Shape 48"/>
          <p:cNvSpPr/>
          <p:nvPr/>
        </p:nvSpPr>
        <p:spPr>
          <a:xfrm>
            <a:off x="8641080" y="3602736"/>
            <a:ext cx="201168" cy="164592"/>
          </a:xfrm>
          <a:prstGeom prst="rightArrow">
            <a:avLst/>
          </a:prstGeom>
          <a:solidFill>
            <a:srgbClr val="D5DEE8"/>
          </a:solidFill>
          <a:ln w="12700">
            <a:solidFill>
              <a:srgbClr val="D5DEE8"/>
            </a:solidFill>
            <a:prstDash val="solid"/>
          </a:ln>
        </p:spPr>
        <p:txBody>
          <a:bodyPr/>
          <a:lstStyle/>
          <a:p>
            <a:endParaRPr lang="en-US"/>
          </a:p>
        </p:txBody>
      </p:sp>
      <p:sp>
        <p:nvSpPr>
          <p:cNvPr id="51" name="Text 49"/>
          <p:cNvSpPr/>
          <p:nvPr/>
        </p:nvSpPr>
        <p:spPr>
          <a:xfrm>
            <a:off x="1051560" y="5852160"/>
            <a:ext cx="10058400" cy="164592"/>
          </a:xfrm>
          <a:prstGeom prst="rect">
            <a:avLst/>
          </a:prstGeom>
          <a:noFill/>
          <a:ln/>
        </p:spPr>
        <p:txBody>
          <a:bodyPr wrap="square" lIns="0" tIns="0" rIns="0" bIns="0" rtlCol="0" anchor="ctr"/>
          <a:lstStyle/>
          <a:p>
            <a:pPr marL="0" indent="0" algn="ctr">
              <a:buNone/>
            </a:pPr>
            <a:r>
              <a:rPr lang="en-US" sz="1200" b="1" dirty="0">
                <a:solidFill>
                  <a:srgbClr val="0B1F3A"/>
                </a:solidFill>
              </a:rPr>
              <a:t>Required evidence at each stage: owner, risk record, approval decision, test results, limitations, controls, and open issues.</a:t>
            </a:r>
            <a:endParaRPr lang="en-US" sz="1200" dirty="0"/>
          </a:p>
        </p:txBody>
      </p:sp>
      <p:sp>
        <p:nvSpPr>
          <p:cNvPr id="52" name="Slide Number Placeholder 0"/>
          <p:cNvSpPr>
            <a:spLocks noGrp="1"/>
          </p:cNvSpPr>
          <p:nvPr>
            <p:ph type="sldNum" sz="quarter" idx="4294967295"/>
          </p:nvPr>
        </p:nvSpPr>
        <p:spPr>
          <a:xfrm>
            <a:off x="11475720" y="662940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4360" y="237744"/>
            <a:ext cx="5303520" cy="201168"/>
          </a:xfrm>
          <a:prstGeom prst="rect">
            <a:avLst/>
          </a:prstGeom>
          <a:noFill/>
          <a:ln/>
        </p:spPr>
        <p:txBody>
          <a:bodyPr wrap="square" lIns="0" tIns="0" rIns="0" bIns="0" rtlCol="0" anchor="ctr"/>
          <a:lstStyle/>
          <a:p>
            <a:pPr marL="0" indent="0">
              <a:buNone/>
            </a:pPr>
            <a:r>
              <a:rPr lang="en-US" sz="800" b="1" dirty="0">
                <a:solidFill>
                  <a:srgbClr val="1E5BFF"/>
                </a:solidFill>
                <a:latin typeface="Aptos" pitchFamily="34" charset="0"/>
                <a:ea typeface="Aptos" pitchFamily="34" charset="-122"/>
                <a:cs typeface="Aptos" pitchFamily="34" charset="-120"/>
              </a:rPr>
              <a:t>PRACTICAL REVIEW CHECKLIST</a:t>
            </a:r>
            <a:endParaRPr lang="en-US" sz="800" dirty="0"/>
          </a:p>
        </p:txBody>
      </p:sp>
      <p:sp>
        <p:nvSpPr>
          <p:cNvPr id="3" name="Text 1"/>
          <p:cNvSpPr/>
          <p:nvPr/>
        </p:nvSpPr>
        <p:spPr>
          <a:xfrm>
            <a:off x="594360" y="502920"/>
            <a:ext cx="10789920" cy="411480"/>
          </a:xfrm>
          <a:prstGeom prst="rect">
            <a:avLst/>
          </a:prstGeom>
          <a:noFill/>
          <a:ln/>
        </p:spPr>
        <p:txBody>
          <a:bodyPr wrap="square" lIns="0" tIns="0" rIns="0" bIns="0" rtlCol="0" anchor="ctr">
            <a:normAutofit/>
          </a:bodyP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RAI risk evaluation guidelines</a:t>
            </a:r>
            <a:endParaRPr lang="en-US" sz="3000" dirty="0"/>
          </a:p>
        </p:txBody>
      </p:sp>
      <p:sp>
        <p:nvSpPr>
          <p:cNvPr id="4" name="Text 2"/>
          <p:cNvSpPr/>
          <p:nvPr/>
        </p:nvSpPr>
        <p:spPr>
          <a:xfrm>
            <a:off x="594360" y="6611112"/>
            <a:ext cx="5669280" cy="146304"/>
          </a:xfrm>
          <a:prstGeom prst="rect">
            <a:avLst/>
          </a:prstGeom>
          <a:noFill/>
          <a:ln/>
        </p:spPr>
        <p:txBody>
          <a:bodyPr wrap="square" lIns="0" tIns="0" rIns="0" bIns="0" rtlCol="0" anchor="ctr"/>
          <a:lstStyle/>
          <a:p>
            <a:pPr marL="0" indent="0">
              <a:buNone/>
            </a:pPr>
            <a:r>
              <a:rPr lang="en-US" sz="680" dirty="0">
                <a:solidFill>
                  <a:srgbClr val="5D6B82"/>
                </a:solidFill>
              </a:rPr>
              <a:t>Responsible AI Framework  •  NeuroVerse Inc. / NeuroCreate</a:t>
            </a:r>
            <a:endParaRPr lang="en-US" sz="680" dirty="0"/>
          </a:p>
        </p:txBody>
      </p:sp>
      <p:sp>
        <p:nvSpPr>
          <p:cNvPr id="5" name="Shape 3"/>
          <p:cNvSpPr/>
          <p:nvPr/>
        </p:nvSpPr>
        <p:spPr>
          <a:xfrm>
            <a:off x="502920" y="1078992"/>
            <a:ext cx="2057400" cy="4617720"/>
          </a:xfrm>
          <a:prstGeom prst="roundRect">
            <a:avLst>
              <a:gd name="adj" fmla="val 3556"/>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6" name="Shape 4"/>
          <p:cNvSpPr/>
          <p:nvPr/>
        </p:nvSpPr>
        <p:spPr>
          <a:xfrm>
            <a:off x="502920" y="1078992"/>
            <a:ext cx="73152" cy="4617720"/>
          </a:xfrm>
          <a:prstGeom prst="rect">
            <a:avLst/>
          </a:prstGeom>
          <a:solidFill>
            <a:srgbClr val="1E5BFF"/>
          </a:solidFill>
          <a:ln w="12700">
            <a:solidFill>
              <a:srgbClr val="1E5BFF"/>
            </a:solidFill>
            <a:prstDash val="solid"/>
          </a:ln>
        </p:spPr>
        <p:txBody>
          <a:bodyPr/>
          <a:lstStyle/>
          <a:p>
            <a:endParaRPr lang="en-US"/>
          </a:p>
        </p:txBody>
      </p:sp>
      <p:sp>
        <p:nvSpPr>
          <p:cNvPr id="7" name="Text 5"/>
          <p:cNvSpPr/>
          <p:nvPr/>
        </p:nvSpPr>
        <p:spPr>
          <a:xfrm>
            <a:off x="704088" y="1216152"/>
            <a:ext cx="172821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Transparency / Explainability</a:t>
            </a:r>
            <a:endParaRPr lang="en-US" sz="1400" dirty="0"/>
          </a:p>
        </p:txBody>
      </p:sp>
      <p:sp>
        <p:nvSpPr>
          <p:cNvPr id="8" name="Text 6"/>
          <p:cNvSpPr/>
          <p:nvPr/>
        </p:nvSpPr>
        <p:spPr>
          <a:xfrm>
            <a:off x="704088" y="1517904"/>
            <a:ext cx="1728216" cy="405079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 User notice visible</a:t>
            </a:r>
            <a:endParaRPr lang="en-US" sz="1100" dirty="0"/>
          </a:p>
          <a:p>
            <a:pPr marL="0" indent="0">
              <a:buNone/>
            </a:pPr>
            <a:r>
              <a:rPr lang="en-US" sz="1100" dirty="0">
                <a:solidFill>
                  <a:srgbClr val="172033"/>
                </a:solidFill>
              </a:rPr>
              <a:t>• Model card complete</a:t>
            </a:r>
            <a:endParaRPr lang="en-US" sz="1100" dirty="0"/>
          </a:p>
          <a:p>
            <a:pPr marL="0" indent="0">
              <a:buNone/>
            </a:pPr>
            <a:r>
              <a:rPr lang="en-US" sz="1100" dirty="0">
                <a:solidFill>
                  <a:srgbClr val="172033"/>
                </a:solidFill>
              </a:rPr>
              <a:t>• Reason codes for high-impact decisions</a:t>
            </a:r>
            <a:endParaRPr lang="en-US" sz="1100" dirty="0"/>
          </a:p>
          <a:p>
            <a:pPr marL="0" indent="0">
              <a:buNone/>
            </a:pPr>
            <a:r>
              <a:rPr lang="en-US" sz="1100" dirty="0">
                <a:solidFill>
                  <a:srgbClr val="172033"/>
                </a:solidFill>
              </a:rPr>
              <a:t>• Limitations and confidence shown</a:t>
            </a:r>
            <a:endParaRPr lang="en-US" sz="1100" dirty="0"/>
          </a:p>
        </p:txBody>
      </p:sp>
      <p:sp>
        <p:nvSpPr>
          <p:cNvPr id="9" name="Shape 7"/>
          <p:cNvSpPr/>
          <p:nvPr/>
        </p:nvSpPr>
        <p:spPr>
          <a:xfrm>
            <a:off x="2834640" y="1078992"/>
            <a:ext cx="2057400" cy="4617720"/>
          </a:xfrm>
          <a:prstGeom prst="roundRect">
            <a:avLst>
              <a:gd name="adj" fmla="val 3556"/>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10" name="Shape 8"/>
          <p:cNvSpPr/>
          <p:nvPr/>
        </p:nvSpPr>
        <p:spPr>
          <a:xfrm>
            <a:off x="2834640" y="1078992"/>
            <a:ext cx="73152" cy="4617720"/>
          </a:xfrm>
          <a:prstGeom prst="rect">
            <a:avLst/>
          </a:prstGeom>
          <a:solidFill>
            <a:srgbClr val="16A3A3"/>
          </a:solidFill>
          <a:ln w="12700">
            <a:solidFill>
              <a:srgbClr val="16A3A3"/>
            </a:solidFill>
            <a:prstDash val="solid"/>
          </a:ln>
        </p:spPr>
        <p:txBody>
          <a:bodyPr/>
          <a:lstStyle/>
          <a:p>
            <a:endParaRPr lang="en-US"/>
          </a:p>
        </p:txBody>
      </p:sp>
      <p:sp>
        <p:nvSpPr>
          <p:cNvPr id="11" name="Text 9"/>
          <p:cNvSpPr/>
          <p:nvPr/>
        </p:nvSpPr>
        <p:spPr>
          <a:xfrm>
            <a:off x="3035808" y="1216152"/>
            <a:ext cx="172821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Data Bias</a:t>
            </a:r>
            <a:endParaRPr lang="en-US" sz="1400" dirty="0"/>
          </a:p>
        </p:txBody>
      </p:sp>
      <p:sp>
        <p:nvSpPr>
          <p:cNvPr id="12" name="Text 10"/>
          <p:cNvSpPr/>
          <p:nvPr/>
        </p:nvSpPr>
        <p:spPr>
          <a:xfrm>
            <a:off x="3035808" y="1517904"/>
            <a:ext cx="1728216" cy="405079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 Dataset representativeness tested</a:t>
            </a:r>
            <a:endParaRPr lang="en-US" sz="1100" dirty="0"/>
          </a:p>
          <a:p>
            <a:pPr marL="0" indent="0">
              <a:buNone/>
            </a:pPr>
            <a:r>
              <a:rPr lang="en-US" sz="1100" dirty="0">
                <a:solidFill>
                  <a:srgbClr val="172033"/>
                </a:solidFill>
              </a:rPr>
              <a:t>• Sensitive/proxy variables reviewed</a:t>
            </a:r>
            <a:endParaRPr lang="en-US" sz="1100" dirty="0"/>
          </a:p>
          <a:p>
            <a:pPr marL="0" indent="0">
              <a:buNone/>
            </a:pPr>
            <a:r>
              <a:rPr lang="en-US" sz="1100" dirty="0">
                <a:solidFill>
                  <a:srgbClr val="172033"/>
                </a:solidFill>
              </a:rPr>
              <a:t>• Fairness metrics compared by group</a:t>
            </a:r>
            <a:endParaRPr lang="en-US" sz="1100" dirty="0"/>
          </a:p>
          <a:p>
            <a:pPr marL="0" indent="0">
              <a:buNone/>
            </a:pPr>
            <a:r>
              <a:rPr lang="en-US" sz="1100" dirty="0">
                <a:solidFill>
                  <a:srgbClr val="172033"/>
                </a:solidFill>
              </a:rPr>
              <a:t>• Mitigation plan documented</a:t>
            </a:r>
            <a:endParaRPr lang="en-US" sz="1100" dirty="0"/>
          </a:p>
        </p:txBody>
      </p:sp>
      <p:sp>
        <p:nvSpPr>
          <p:cNvPr id="13" name="Shape 11"/>
          <p:cNvSpPr/>
          <p:nvPr/>
        </p:nvSpPr>
        <p:spPr>
          <a:xfrm>
            <a:off x="5166360" y="1078992"/>
            <a:ext cx="2057400" cy="4617720"/>
          </a:xfrm>
          <a:prstGeom prst="roundRect">
            <a:avLst>
              <a:gd name="adj" fmla="val 3556"/>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14" name="Shape 12"/>
          <p:cNvSpPr/>
          <p:nvPr/>
        </p:nvSpPr>
        <p:spPr>
          <a:xfrm>
            <a:off x="5166360" y="1078992"/>
            <a:ext cx="73152" cy="4617720"/>
          </a:xfrm>
          <a:prstGeom prst="rect">
            <a:avLst/>
          </a:prstGeom>
          <a:solidFill>
            <a:srgbClr val="2E7D32"/>
          </a:solidFill>
          <a:ln w="12700">
            <a:solidFill>
              <a:srgbClr val="2E7D32"/>
            </a:solidFill>
            <a:prstDash val="solid"/>
          </a:ln>
        </p:spPr>
        <p:txBody>
          <a:bodyPr/>
          <a:lstStyle/>
          <a:p>
            <a:endParaRPr lang="en-US"/>
          </a:p>
        </p:txBody>
      </p:sp>
      <p:sp>
        <p:nvSpPr>
          <p:cNvPr id="15" name="Text 13"/>
          <p:cNvSpPr/>
          <p:nvPr/>
        </p:nvSpPr>
        <p:spPr>
          <a:xfrm>
            <a:off x="5367528" y="1216152"/>
            <a:ext cx="172821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Privacy / Compliance</a:t>
            </a:r>
            <a:endParaRPr lang="en-US" sz="1400" dirty="0"/>
          </a:p>
        </p:txBody>
      </p:sp>
      <p:sp>
        <p:nvSpPr>
          <p:cNvPr id="16" name="Text 14"/>
          <p:cNvSpPr/>
          <p:nvPr/>
        </p:nvSpPr>
        <p:spPr>
          <a:xfrm>
            <a:off x="5367528" y="1517904"/>
            <a:ext cx="1728216" cy="405079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 Data minimization applied</a:t>
            </a:r>
            <a:endParaRPr lang="en-US" sz="1100" dirty="0"/>
          </a:p>
          <a:p>
            <a:pPr marL="0" indent="0">
              <a:buNone/>
            </a:pPr>
            <a:r>
              <a:rPr lang="en-US" sz="1100" dirty="0">
                <a:solidFill>
                  <a:srgbClr val="172033"/>
                </a:solidFill>
              </a:rPr>
              <a:t>• Consent/contract basis verified</a:t>
            </a:r>
            <a:endParaRPr lang="en-US" sz="1100" dirty="0"/>
          </a:p>
          <a:p>
            <a:pPr marL="0" indent="0">
              <a:buNone/>
            </a:pPr>
            <a:r>
              <a:rPr lang="en-US" sz="1100" dirty="0">
                <a:solidFill>
                  <a:srgbClr val="172033"/>
                </a:solidFill>
              </a:rPr>
              <a:t>• DPIA completed for high risk</a:t>
            </a:r>
            <a:endParaRPr lang="en-US" sz="1100" dirty="0"/>
          </a:p>
          <a:p>
            <a:pPr marL="0" indent="0">
              <a:buNone/>
            </a:pPr>
            <a:r>
              <a:rPr lang="en-US" sz="1100" dirty="0">
                <a:solidFill>
                  <a:srgbClr val="172033"/>
                </a:solidFill>
              </a:rPr>
              <a:t>• Retention and deletion rules set</a:t>
            </a:r>
            <a:endParaRPr lang="en-US" sz="1100" dirty="0"/>
          </a:p>
        </p:txBody>
      </p:sp>
      <p:sp>
        <p:nvSpPr>
          <p:cNvPr id="17" name="Shape 15"/>
          <p:cNvSpPr/>
          <p:nvPr/>
        </p:nvSpPr>
        <p:spPr>
          <a:xfrm>
            <a:off x="7498080" y="1078992"/>
            <a:ext cx="2057400" cy="4617720"/>
          </a:xfrm>
          <a:prstGeom prst="roundRect">
            <a:avLst>
              <a:gd name="adj" fmla="val 3556"/>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18" name="Shape 16"/>
          <p:cNvSpPr/>
          <p:nvPr/>
        </p:nvSpPr>
        <p:spPr>
          <a:xfrm>
            <a:off x="7498080" y="1078992"/>
            <a:ext cx="73152" cy="4617720"/>
          </a:xfrm>
          <a:prstGeom prst="rect">
            <a:avLst/>
          </a:prstGeom>
          <a:solidFill>
            <a:srgbClr val="6D5DF5"/>
          </a:solidFill>
          <a:ln w="12700">
            <a:solidFill>
              <a:srgbClr val="6D5DF5"/>
            </a:solidFill>
            <a:prstDash val="solid"/>
          </a:ln>
        </p:spPr>
        <p:txBody>
          <a:bodyPr/>
          <a:lstStyle/>
          <a:p>
            <a:endParaRPr lang="en-US"/>
          </a:p>
        </p:txBody>
      </p:sp>
      <p:sp>
        <p:nvSpPr>
          <p:cNvPr id="19" name="Text 17"/>
          <p:cNvSpPr/>
          <p:nvPr/>
        </p:nvSpPr>
        <p:spPr>
          <a:xfrm>
            <a:off x="7699248" y="1216152"/>
            <a:ext cx="172821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Monitoring / Education</a:t>
            </a:r>
            <a:endParaRPr lang="en-US" sz="1400" dirty="0"/>
          </a:p>
        </p:txBody>
      </p:sp>
      <p:sp>
        <p:nvSpPr>
          <p:cNvPr id="20" name="Text 18"/>
          <p:cNvSpPr/>
          <p:nvPr/>
        </p:nvSpPr>
        <p:spPr>
          <a:xfrm>
            <a:off x="7699248" y="1517904"/>
            <a:ext cx="1728216" cy="405079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 Users trained on limitations</a:t>
            </a:r>
            <a:endParaRPr lang="en-US" sz="1100" dirty="0"/>
          </a:p>
          <a:p>
            <a:pPr marL="0" indent="0">
              <a:buNone/>
            </a:pPr>
            <a:r>
              <a:rPr lang="en-US" sz="1100" dirty="0">
                <a:solidFill>
                  <a:srgbClr val="172033"/>
                </a:solidFill>
              </a:rPr>
              <a:t>• Feedback and appeal route available</a:t>
            </a:r>
            <a:endParaRPr lang="en-US" sz="1100" dirty="0"/>
          </a:p>
          <a:p>
            <a:pPr marL="0" indent="0">
              <a:buNone/>
            </a:pPr>
            <a:r>
              <a:rPr lang="en-US" sz="1100" dirty="0">
                <a:solidFill>
                  <a:srgbClr val="172033"/>
                </a:solidFill>
              </a:rPr>
              <a:t>• Drift and misuse alerts reviewed</a:t>
            </a:r>
            <a:endParaRPr lang="en-US" sz="1100" dirty="0"/>
          </a:p>
          <a:p>
            <a:pPr marL="0" indent="0">
              <a:buNone/>
            </a:pPr>
            <a:r>
              <a:rPr lang="en-US" sz="1100" dirty="0">
                <a:solidFill>
                  <a:srgbClr val="172033"/>
                </a:solidFill>
              </a:rPr>
              <a:t>• Customer support escalation defined</a:t>
            </a:r>
            <a:endParaRPr lang="en-US" sz="1100" dirty="0"/>
          </a:p>
        </p:txBody>
      </p:sp>
      <p:sp>
        <p:nvSpPr>
          <p:cNvPr id="21" name="Shape 19"/>
          <p:cNvSpPr/>
          <p:nvPr/>
        </p:nvSpPr>
        <p:spPr>
          <a:xfrm>
            <a:off x="9829800" y="1078992"/>
            <a:ext cx="2057400" cy="4617720"/>
          </a:xfrm>
          <a:prstGeom prst="roundRect">
            <a:avLst>
              <a:gd name="adj" fmla="val 3556"/>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22" name="Shape 20"/>
          <p:cNvSpPr/>
          <p:nvPr/>
        </p:nvSpPr>
        <p:spPr>
          <a:xfrm>
            <a:off x="9829800" y="1078992"/>
            <a:ext cx="73152" cy="4617720"/>
          </a:xfrm>
          <a:prstGeom prst="rect">
            <a:avLst/>
          </a:prstGeom>
          <a:solidFill>
            <a:srgbClr val="F0B429"/>
          </a:solidFill>
          <a:ln w="12700">
            <a:solidFill>
              <a:srgbClr val="F0B429"/>
            </a:solidFill>
            <a:prstDash val="solid"/>
          </a:ln>
        </p:spPr>
        <p:txBody>
          <a:bodyPr/>
          <a:lstStyle/>
          <a:p>
            <a:endParaRPr lang="en-US"/>
          </a:p>
        </p:txBody>
      </p:sp>
      <p:sp>
        <p:nvSpPr>
          <p:cNvPr id="23" name="Text 21"/>
          <p:cNvSpPr/>
          <p:nvPr/>
        </p:nvSpPr>
        <p:spPr>
          <a:xfrm>
            <a:off x="10030968" y="1216152"/>
            <a:ext cx="172821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Long-Term Impact</a:t>
            </a:r>
            <a:endParaRPr lang="en-US" sz="1400" dirty="0"/>
          </a:p>
        </p:txBody>
      </p:sp>
      <p:sp>
        <p:nvSpPr>
          <p:cNvPr id="24" name="Text 22"/>
          <p:cNvSpPr/>
          <p:nvPr/>
        </p:nvSpPr>
        <p:spPr>
          <a:xfrm>
            <a:off x="10030968" y="1517904"/>
            <a:ext cx="1728216" cy="405079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 Employee workflow effects reviewed</a:t>
            </a:r>
            <a:endParaRPr lang="en-US" sz="1100" dirty="0"/>
          </a:p>
          <a:p>
            <a:pPr marL="0" indent="0">
              <a:buNone/>
            </a:pPr>
            <a:r>
              <a:rPr lang="en-US" sz="1100" dirty="0">
                <a:solidFill>
                  <a:srgbClr val="172033"/>
                </a:solidFill>
              </a:rPr>
              <a:t>• Customer harms and exclusion reviewed</a:t>
            </a:r>
            <a:endParaRPr lang="en-US" sz="1100" dirty="0"/>
          </a:p>
          <a:p>
            <a:pPr marL="0" indent="0">
              <a:buNone/>
            </a:pPr>
            <a:r>
              <a:rPr lang="en-US" sz="1100" dirty="0">
                <a:solidFill>
                  <a:srgbClr val="172033"/>
                </a:solidFill>
              </a:rPr>
              <a:t>• Environmental/cost impacts considered</a:t>
            </a:r>
            <a:endParaRPr lang="en-US" sz="1100" dirty="0"/>
          </a:p>
          <a:p>
            <a:pPr marL="0" indent="0">
              <a:buNone/>
            </a:pPr>
            <a:r>
              <a:rPr lang="en-US" sz="1100" dirty="0">
                <a:solidFill>
                  <a:srgbClr val="172033"/>
                </a:solidFill>
              </a:rPr>
              <a:t>• Retirement triggers defined</a:t>
            </a:r>
            <a:endParaRPr lang="en-US" sz="1100" dirty="0"/>
          </a:p>
        </p:txBody>
      </p:sp>
      <p:sp>
        <p:nvSpPr>
          <p:cNvPr id="25" name="Slide Number Placeholder 0"/>
          <p:cNvSpPr>
            <a:spLocks noGrp="1"/>
          </p:cNvSpPr>
          <p:nvPr>
            <p:ph type="sldNum" sz="quarter" idx="4294967295"/>
          </p:nvPr>
        </p:nvSpPr>
        <p:spPr>
          <a:xfrm>
            <a:off x="11475720" y="662940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94360" y="237744"/>
            <a:ext cx="5303520" cy="201168"/>
          </a:xfrm>
          <a:prstGeom prst="rect">
            <a:avLst/>
          </a:prstGeom>
          <a:noFill/>
          <a:ln/>
        </p:spPr>
        <p:txBody>
          <a:bodyPr wrap="square" lIns="0" tIns="0" rIns="0" bIns="0" rtlCol="0" anchor="ctr"/>
          <a:lstStyle/>
          <a:p>
            <a:pPr marL="0" indent="0">
              <a:buNone/>
            </a:pPr>
            <a:r>
              <a:rPr lang="en-US" sz="800" b="1" dirty="0">
                <a:solidFill>
                  <a:srgbClr val="1E5BFF"/>
                </a:solidFill>
                <a:latin typeface="Aptos" pitchFamily="34" charset="0"/>
                <a:ea typeface="Aptos" pitchFamily="34" charset="-122"/>
                <a:cs typeface="Aptos" pitchFamily="34" charset="-120"/>
              </a:rPr>
              <a:t>WHERE MISTAKES BECOME VISIBLE</a:t>
            </a:r>
            <a:endParaRPr lang="en-US" sz="800" dirty="0"/>
          </a:p>
        </p:txBody>
      </p:sp>
      <p:sp>
        <p:nvSpPr>
          <p:cNvPr id="3" name="Text 1"/>
          <p:cNvSpPr/>
          <p:nvPr/>
        </p:nvSpPr>
        <p:spPr>
          <a:xfrm>
            <a:off x="594360" y="502920"/>
            <a:ext cx="10789920" cy="411480"/>
          </a:xfrm>
          <a:prstGeom prst="rect">
            <a:avLst/>
          </a:prstGeom>
          <a:noFill/>
          <a:ln/>
        </p:spPr>
        <p:txBody>
          <a:bodyPr wrap="square" lIns="0" tIns="0" rIns="0" bIns="0" rtlCol="0" anchor="ctr">
            <a:normAutofit/>
          </a:bodyP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Deep-dive controls: transparency and bias</a:t>
            </a:r>
            <a:endParaRPr lang="en-US" sz="3000" dirty="0"/>
          </a:p>
        </p:txBody>
      </p:sp>
      <p:sp>
        <p:nvSpPr>
          <p:cNvPr id="4" name="Text 2"/>
          <p:cNvSpPr/>
          <p:nvPr/>
        </p:nvSpPr>
        <p:spPr>
          <a:xfrm>
            <a:off x="594360" y="6611112"/>
            <a:ext cx="5669280" cy="146304"/>
          </a:xfrm>
          <a:prstGeom prst="rect">
            <a:avLst/>
          </a:prstGeom>
          <a:noFill/>
          <a:ln/>
        </p:spPr>
        <p:txBody>
          <a:bodyPr wrap="square" lIns="0" tIns="0" rIns="0" bIns="0" rtlCol="0" anchor="ctr"/>
          <a:lstStyle/>
          <a:p>
            <a:pPr marL="0" indent="0">
              <a:buNone/>
            </a:pPr>
            <a:r>
              <a:rPr lang="en-US" sz="680" dirty="0">
                <a:solidFill>
                  <a:srgbClr val="5D6B82"/>
                </a:solidFill>
              </a:rPr>
              <a:t>Responsible AI Framework  •  NeuroVerse Inc. / NeuroCreate</a:t>
            </a:r>
            <a:endParaRPr lang="en-US" sz="680" dirty="0"/>
          </a:p>
        </p:txBody>
      </p:sp>
      <p:sp>
        <p:nvSpPr>
          <p:cNvPr id="5" name="Shape 3"/>
          <p:cNvSpPr/>
          <p:nvPr/>
        </p:nvSpPr>
        <p:spPr>
          <a:xfrm>
            <a:off x="731520" y="1143000"/>
            <a:ext cx="5212080" cy="4389120"/>
          </a:xfrm>
          <a:prstGeom prst="roundRect">
            <a:avLst>
              <a:gd name="adj" fmla="val 1667"/>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6" name="Shape 4"/>
          <p:cNvSpPr/>
          <p:nvPr/>
        </p:nvSpPr>
        <p:spPr>
          <a:xfrm>
            <a:off x="731520" y="1143000"/>
            <a:ext cx="73152" cy="4389120"/>
          </a:xfrm>
          <a:prstGeom prst="rect">
            <a:avLst/>
          </a:prstGeom>
          <a:solidFill>
            <a:srgbClr val="1E5BFF"/>
          </a:solidFill>
          <a:ln w="12700">
            <a:solidFill>
              <a:srgbClr val="1E5BFF"/>
            </a:solidFill>
            <a:prstDash val="solid"/>
          </a:ln>
        </p:spPr>
        <p:txBody>
          <a:bodyPr/>
          <a:lstStyle/>
          <a:p>
            <a:endParaRPr lang="en-US"/>
          </a:p>
        </p:txBody>
      </p:sp>
      <p:sp>
        <p:nvSpPr>
          <p:cNvPr id="7" name="Text 5"/>
          <p:cNvSpPr/>
          <p:nvPr/>
        </p:nvSpPr>
        <p:spPr>
          <a:xfrm>
            <a:off x="932688" y="1280160"/>
            <a:ext cx="488289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Transparency / explainability controls</a:t>
            </a:r>
            <a:endParaRPr lang="en-US" sz="1400" dirty="0"/>
          </a:p>
        </p:txBody>
      </p:sp>
      <p:sp>
        <p:nvSpPr>
          <p:cNvPr id="8" name="Text 6"/>
          <p:cNvSpPr/>
          <p:nvPr/>
        </p:nvSpPr>
        <p:spPr>
          <a:xfrm>
            <a:off x="932688" y="1581912"/>
            <a:ext cx="4882896" cy="382219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 Publish AI disclosure in product UI and help center.</a:t>
            </a:r>
            <a:endParaRPr lang="en-US" sz="1100" dirty="0"/>
          </a:p>
          <a:p>
            <a:pPr marL="0" indent="0">
              <a:buNone/>
            </a:pPr>
            <a:r>
              <a:rPr lang="en-US" sz="1100" dirty="0">
                <a:solidFill>
                  <a:srgbClr val="172033"/>
                </a:solidFill>
              </a:rPr>
              <a:t>• Create model cards for each production model.</a:t>
            </a:r>
            <a:endParaRPr lang="en-US" sz="1100" dirty="0"/>
          </a:p>
          <a:p>
            <a:pPr marL="0" indent="0">
              <a:buNone/>
            </a:pPr>
            <a:r>
              <a:rPr lang="en-US" sz="1100" dirty="0">
                <a:solidFill>
                  <a:srgbClr val="172033"/>
                </a:solidFill>
              </a:rPr>
              <a:t>• Provide plain-language output explanations and confidence/limitations.</a:t>
            </a:r>
            <a:endParaRPr lang="en-US" sz="1100" dirty="0"/>
          </a:p>
          <a:p>
            <a:pPr marL="0" indent="0">
              <a:buNone/>
            </a:pPr>
            <a:r>
              <a:rPr lang="en-US" sz="1100" dirty="0">
                <a:solidFill>
                  <a:srgbClr val="172033"/>
                </a:solidFill>
              </a:rPr>
              <a:t>• For consequential outputs, offer reason codes and human review.</a:t>
            </a:r>
            <a:endParaRPr lang="en-US" sz="1100" dirty="0"/>
          </a:p>
          <a:p>
            <a:pPr marL="0" indent="0">
              <a:buNone/>
            </a:pPr>
            <a:r>
              <a:rPr lang="en-US" sz="1100" dirty="0">
                <a:solidFill>
                  <a:srgbClr val="172033"/>
                </a:solidFill>
              </a:rPr>
              <a:t>• Log prompts, outputs, and review decisions where permitted.</a:t>
            </a:r>
            <a:endParaRPr lang="en-US" sz="1100" dirty="0"/>
          </a:p>
        </p:txBody>
      </p:sp>
      <p:sp>
        <p:nvSpPr>
          <p:cNvPr id="9" name="Shape 7"/>
          <p:cNvSpPr/>
          <p:nvPr/>
        </p:nvSpPr>
        <p:spPr>
          <a:xfrm>
            <a:off x="6263640" y="1143000"/>
            <a:ext cx="5212080" cy="4389120"/>
          </a:xfrm>
          <a:prstGeom prst="roundRect">
            <a:avLst>
              <a:gd name="adj" fmla="val 1667"/>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10" name="Shape 8"/>
          <p:cNvSpPr/>
          <p:nvPr/>
        </p:nvSpPr>
        <p:spPr>
          <a:xfrm>
            <a:off x="6263640" y="1143000"/>
            <a:ext cx="73152" cy="4389120"/>
          </a:xfrm>
          <a:prstGeom prst="rect">
            <a:avLst/>
          </a:prstGeom>
          <a:solidFill>
            <a:srgbClr val="16A3A3"/>
          </a:solidFill>
          <a:ln w="12700">
            <a:solidFill>
              <a:srgbClr val="16A3A3"/>
            </a:solidFill>
            <a:prstDash val="solid"/>
          </a:ln>
        </p:spPr>
        <p:txBody>
          <a:bodyPr/>
          <a:lstStyle/>
          <a:p>
            <a:endParaRPr lang="en-US"/>
          </a:p>
        </p:txBody>
      </p:sp>
      <p:sp>
        <p:nvSpPr>
          <p:cNvPr id="11" name="Text 9"/>
          <p:cNvSpPr/>
          <p:nvPr/>
        </p:nvSpPr>
        <p:spPr>
          <a:xfrm>
            <a:off x="6464808" y="1280160"/>
            <a:ext cx="488289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Data and algorithmic bias controls</a:t>
            </a:r>
            <a:endParaRPr lang="en-US" sz="1400" dirty="0"/>
          </a:p>
        </p:txBody>
      </p:sp>
      <p:sp>
        <p:nvSpPr>
          <p:cNvPr id="12" name="Text 10"/>
          <p:cNvSpPr/>
          <p:nvPr/>
        </p:nvSpPr>
        <p:spPr>
          <a:xfrm>
            <a:off x="6464808" y="1581912"/>
            <a:ext cx="4882896" cy="382219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 Test dataset coverage before training.</a:t>
            </a:r>
            <a:endParaRPr lang="en-US" sz="1100" dirty="0"/>
          </a:p>
          <a:p>
            <a:pPr marL="0" indent="0">
              <a:buNone/>
            </a:pPr>
            <a:r>
              <a:rPr lang="en-US" sz="1100" dirty="0">
                <a:solidFill>
                  <a:srgbClr val="172033"/>
                </a:solidFill>
              </a:rPr>
              <a:t>• Remove or justify sensitive features and proxies.</a:t>
            </a:r>
            <a:endParaRPr lang="en-US" sz="1100" dirty="0"/>
          </a:p>
          <a:p>
            <a:pPr marL="0" indent="0">
              <a:buNone/>
            </a:pPr>
            <a:r>
              <a:rPr lang="en-US" sz="1100" dirty="0">
                <a:solidFill>
                  <a:srgbClr val="172033"/>
                </a:solidFill>
              </a:rPr>
              <a:t>• Compare outcomes by relevant demographic and customer groups.</a:t>
            </a:r>
            <a:endParaRPr lang="en-US" sz="1100" dirty="0"/>
          </a:p>
          <a:p>
            <a:pPr marL="0" indent="0">
              <a:buNone/>
            </a:pPr>
            <a:r>
              <a:rPr lang="en-US" sz="1100" dirty="0">
                <a:solidFill>
                  <a:srgbClr val="172033"/>
                </a:solidFill>
              </a:rPr>
              <a:t>• Use re-sampling, fairness constraints, or manual review when needed.</a:t>
            </a:r>
            <a:endParaRPr lang="en-US" sz="1100" dirty="0"/>
          </a:p>
          <a:p>
            <a:pPr marL="0" indent="0">
              <a:buNone/>
            </a:pPr>
            <a:r>
              <a:rPr lang="en-US" sz="1100" dirty="0">
                <a:solidFill>
                  <a:srgbClr val="172033"/>
                </a:solidFill>
              </a:rPr>
              <a:t>• Track drift because fairness can change after deployment.</a:t>
            </a:r>
            <a:endParaRPr lang="en-US" sz="1100" dirty="0"/>
          </a:p>
        </p:txBody>
      </p:sp>
      <p:sp>
        <p:nvSpPr>
          <p:cNvPr id="13" name="Text 11"/>
          <p:cNvSpPr/>
          <p:nvPr/>
        </p:nvSpPr>
        <p:spPr>
          <a:xfrm>
            <a:off x="1097280" y="5806440"/>
            <a:ext cx="9966960" cy="164592"/>
          </a:xfrm>
          <a:prstGeom prst="rect">
            <a:avLst/>
          </a:prstGeom>
          <a:noFill/>
          <a:ln/>
        </p:spPr>
        <p:txBody>
          <a:bodyPr wrap="square" lIns="0" tIns="0" rIns="0" bIns="0" rtlCol="0" anchor="ctr"/>
          <a:lstStyle/>
          <a:p>
            <a:pPr marL="0" indent="0" algn="ctr">
              <a:buNone/>
            </a:pPr>
            <a:r>
              <a:rPr lang="en-US" sz="1200" b="1" dirty="0">
                <a:solidFill>
                  <a:srgbClr val="0B1F3A"/>
                </a:solidFill>
              </a:rPr>
              <a:t>Decision rule: a model cannot launch when unexplained group harm, missing documentation, or unreviewed high-impact output is present.</a:t>
            </a:r>
            <a:endParaRPr lang="en-US" sz="1200" dirty="0"/>
          </a:p>
        </p:txBody>
      </p:sp>
      <p:sp>
        <p:nvSpPr>
          <p:cNvPr id="25" name="Slide Number Placeholder 0"/>
          <p:cNvSpPr>
            <a:spLocks noGrp="1"/>
          </p:cNvSpPr>
          <p:nvPr>
            <p:ph type="sldNum" sz="quarter" idx="4294967295"/>
          </p:nvPr>
        </p:nvSpPr>
        <p:spPr>
          <a:xfrm>
            <a:off x="11475720" y="662940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94360" y="237744"/>
            <a:ext cx="5303520" cy="201168"/>
          </a:xfrm>
          <a:prstGeom prst="rect">
            <a:avLst/>
          </a:prstGeom>
          <a:noFill/>
          <a:ln/>
        </p:spPr>
        <p:txBody>
          <a:bodyPr wrap="square" lIns="0" tIns="0" rIns="0" bIns="0" rtlCol="0" anchor="ctr"/>
          <a:lstStyle/>
          <a:p>
            <a:pPr marL="0" indent="0">
              <a:buNone/>
            </a:pPr>
            <a:r>
              <a:rPr lang="en-US" sz="800" b="1" dirty="0">
                <a:solidFill>
                  <a:srgbClr val="1E5BFF"/>
                </a:solidFill>
                <a:latin typeface="Aptos" pitchFamily="34" charset="0"/>
                <a:ea typeface="Aptos" pitchFamily="34" charset="-122"/>
                <a:cs typeface="Aptos" pitchFamily="34" charset="-120"/>
              </a:rPr>
              <a:t>MAKE SAFETY OPERATIONAL</a:t>
            </a:r>
            <a:endParaRPr lang="en-US" sz="800" dirty="0"/>
          </a:p>
        </p:txBody>
      </p:sp>
      <p:sp>
        <p:nvSpPr>
          <p:cNvPr id="3" name="Text 1"/>
          <p:cNvSpPr/>
          <p:nvPr/>
        </p:nvSpPr>
        <p:spPr>
          <a:xfrm>
            <a:off x="594360" y="502920"/>
            <a:ext cx="10789920" cy="411480"/>
          </a:xfrm>
          <a:prstGeom prst="rect">
            <a:avLst/>
          </a:prstGeom>
          <a:noFill/>
          <a:ln/>
        </p:spPr>
        <p:txBody>
          <a:bodyPr wrap="square" lIns="0" tIns="0" rIns="0" bIns="0" rtlCol="0" anchor="ctr">
            <a:normAutofit/>
          </a:bodyP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Deep-dive controls: privacy, security, compliance and user monitoring</a:t>
            </a:r>
            <a:endParaRPr lang="en-US" sz="3000" dirty="0"/>
          </a:p>
        </p:txBody>
      </p:sp>
      <p:sp>
        <p:nvSpPr>
          <p:cNvPr id="4" name="Text 2"/>
          <p:cNvSpPr/>
          <p:nvPr/>
        </p:nvSpPr>
        <p:spPr>
          <a:xfrm>
            <a:off x="594360" y="6611112"/>
            <a:ext cx="5669280" cy="146304"/>
          </a:xfrm>
          <a:prstGeom prst="rect">
            <a:avLst/>
          </a:prstGeom>
          <a:noFill/>
          <a:ln/>
        </p:spPr>
        <p:txBody>
          <a:bodyPr wrap="square" lIns="0" tIns="0" rIns="0" bIns="0" rtlCol="0" anchor="ctr"/>
          <a:lstStyle/>
          <a:p>
            <a:pPr marL="0" indent="0">
              <a:buNone/>
            </a:pPr>
            <a:r>
              <a:rPr lang="en-US" sz="680" dirty="0">
                <a:solidFill>
                  <a:srgbClr val="5D6B82"/>
                </a:solidFill>
              </a:rPr>
              <a:t>Responsible AI Framework  •  NeuroVerse Inc. / NeuroCreate</a:t>
            </a:r>
            <a:endParaRPr lang="en-US" sz="680" dirty="0"/>
          </a:p>
        </p:txBody>
      </p:sp>
      <p:sp>
        <p:nvSpPr>
          <p:cNvPr id="5" name="Shape 3"/>
          <p:cNvSpPr/>
          <p:nvPr/>
        </p:nvSpPr>
        <p:spPr>
          <a:xfrm>
            <a:off x="685800" y="1097280"/>
            <a:ext cx="3429000" cy="4434840"/>
          </a:xfrm>
          <a:prstGeom prst="roundRect">
            <a:avLst>
              <a:gd name="adj" fmla="val 2133"/>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6" name="Shape 4"/>
          <p:cNvSpPr/>
          <p:nvPr/>
        </p:nvSpPr>
        <p:spPr>
          <a:xfrm>
            <a:off x="685800" y="1097280"/>
            <a:ext cx="73152" cy="4434840"/>
          </a:xfrm>
          <a:prstGeom prst="rect">
            <a:avLst/>
          </a:prstGeom>
          <a:solidFill>
            <a:srgbClr val="2E7D32"/>
          </a:solidFill>
          <a:ln w="12700">
            <a:solidFill>
              <a:srgbClr val="2E7D32"/>
            </a:solidFill>
            <a:prstDash val="solid"/>
          </a:ln>
        </p:spPr>
        <p:txBody>
          <a:bodyPr/>
          <a:lstStyle/>
          <a:p>
            <a:endParaRPr lang="en-US"/>
          </a:p>
        </p:txBody>
      </p:sp>
      <p:sp>
        <p:nvSpPr>
          <p:cNvPr id="7" name="Text 5"/>
          <p:cNvSpPr/>
          <p:nvPr/>
        </p:nvSpPr>
        <p:spPr>
          <a:xfrm>
            <a:off x="886968" y="1234440"/>
            <a:ext cx="309981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Privacy &amp; data protection</a:t>
            </a:r>
            <a:endParaRPr lang="en-US" sz="1400" dirty="0"/>
          </a:p>
        </p:txBody>
      </p:sp>
      <p:sp>
        <p:nvSpPr>
          <p:cNvPr id="8" name="Text 6"/>
          <p:cNvSpPr/>
          <p:nvPr/>
        </p:nvSpPr>
        <p:spPr>
          <a:xfrm>
            <a:off x="886968" y="1536192"/>
            <a:ext cx="3099816" cy="386791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 Data inventory and purpose limitation</a:t>
            </a:r>
            <a:endParaRPr lang="en-US" sz="1100" dirty="0"/>
          </a:p>
          <a:p>
            <a:pPr marL="0" indent="0">
              <a:buNone/>
            </a:pPr>
            <a:r>
              <a:rPr lang="en-US" sz="1100" dirty="0">
                <a:solidFill>
                  <a:srgbClr val="172033"/>
                </a:solidFill>
              </a:rPr>
              <a:t>• Privacy-by-design review</a:t>
            </a:r>
            <a:endParaRPr lang="en-US" sz="1100" dirty="0"/>
          </a:p>
          <a:p>
            <a:pPr marL="0" indent="0">
              <a:buNone/>
            </a:pPr>
            <a:r>
              <a:rPr lang="en-US" sz="1100" dirty="0">
                <a:solidFill>
                  <a:srgbClr val="172033"/>
                </a:solidFill>
              </a:rPr>
              <a:t>• Consent and contract verification</a:t>
            </a:r>
            <a:endParaRPr lang="en-US" sz="1100" dirty="0"/>
          </a:p>
          <a:p>
            <a:pPr marL="0" indent="0">
              <a:buNone/>
            </a:pPr>
            <a:r>
              <a:rPr lang="en-US" sz="1100" dirty="0">
                <a:solidFill>
                  <a:srgbClr val="172033"/>
                </a:solidFill>
              </a:rPr>
              <a:t>• Access controls and encryption</a:t>
            </a:r>
            <a:endParaRPr lang="en-US" sz="1100" dirty="0"/>
          </a:p>
          <a:p>
            <a:pPr marL="0" indent="0">
              <a:buNone/>
            </a:pPr>
            <a:r>
              <a:rPr lang="en-US" sz="1100" dirty="0">
                <a:solidFill>
                  <a:srgbClr val="172033"/>
                </a:solidFill>
              </a:rPr>
              <a:t>• Retention/deletion schedule</a:t>
            </a:r>
            <a:endParaRPr lang="en-US" sz="1100" dirty="0"/>
          </a:p>
          <a:p>
            <a:pPr marL="0" indent="0">
              <a:buNone/>
            </a:pPr>
            <a:r>
              <a:rPr lang="en-US" sz="1100" dirty="0">
                <a:solidFill>
                  <a:srgbClr val="172033"/>
                </a:solidFill>
              </a:rPr>
              <a:t>• DPIA for high-risk or sensitive data</a:t>
            </a:r>
            <a:endParaRPr lang="en-US" sz="1100" dirty="0"/>
          </a:p>
        </p:txBody>
      </p:sp>
      <p:sp>
        <p:nvSpPr>
          <p:cNvPr id="9" name="Shape 7"/>
          <p:cNvSpPr/>
          <p:nvPr/>
        </p:nvSpPr>
        <p:spPr>
          <a:xfrm>
            <a:off x="4480560" y="1097280"/>
            <a:ext cx="3429000" cy="4434840"/>
          </a:xfrm>
          <a:prstGeom prst="roundRect">
            <a:avLst>
              <a:gd name="adj" fmla="val 2133"/>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10" name="Shape 8"/>
          <p:cNvSpPr/>
          <p:nvPr/>
        </p:nvSpPr>
        <p:spPr>
          <a:xfrm>
            <a:off x="4480560" y="1097280"/>
            <a:ext cx="73152" cy="4434840"/>
          </a:xfrm>
          <a:prstGeom prst="rect">
            <a:avLst/>
          </a:prstGeom>
          <a:solidFill>
            <a:srgbClr val="C62828"/>
          </a:solidFill>
          <a:ln w="12700">
            <a:solidFill>
              <a:srgbClr val="C62828"/>
            </a:solidFill>
            <a:prstDash val="solid"/>
          </a:ln>
        </p:spPr>
        <p:txBody>
          <a:bodyPr/>
          <a:lstStyle/>
          <a:p>
            <a:endParaRPr lang="en-US"/>
          </a:p>
        </p:txBody>
      </p:sp>
      <p:sp>
        <p:nvSpPr>
          <p:cNvPr id="11" name="Text 9"/>
          <p:cNvSpPr/>
          <p:nvPr/>
        </p:nvSpPr>
        <p:spPr>
          <a:xfrm>
            <a:off x="4681728" y="1234440"/>
            <a:ext cx="309981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Security &amp; compliance</a:t>
            </a:r>
            <a:endParaRPr lang="en-US" sz="1400" dirty="0"/>
          </a:p>
        </p:txBody>
      </p:sp>
      <p:sp>
        <p:nvSpPr>
          <p:cNvPr id="12" name="Text 10"/>
          <p:cNvSpPr/>
          <p:nvPr/>
        </p:nvSpPr>
        <p:spPr>
          <a:xfrm>
            <a:off x="4681728" y="1536192"/>
            <a:ext cx="3099816" cy="386791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 Threat modeling before release</a:t>
            </a:r>
            <a:endParaRPr lang="en-US" sz="1100" dirty="0"/>
          </a:p>
          <a:p>
            <a:pPr marL="0" indent="0">
              <a:buNone/>
            </a:pPr>
            <a:r>
              <a:rPr lang="en-US" sz="1100" dirty="0">
                <a:solidFill>
                  <a:srgbClr val="172033"/>
                </a:solidFill>
              </a:rPr>
              <a:t>• Red-team misuse scenarios</a:t>
            </a:r>
            <a:endParaRPr lang="en-US" sz="1100" dirty="0"/>
          </a:p>
          <a:p>
            <a:pPr marL="0" indent="0">
              <a:buNone/>
            </a:pPr>
            <a:r>
              <a:rPr lang="en-US" sz="1100" dirty="0">
                <a:solidFill>
                  <a:srgbClr val="172033"/>
                </a:solidFill>
              </a:rPr>
              <a:t>• Vendor security questionnaires</a:t>
            </a:r>
            <a:endParaRPr lang="en-US" sz="1100" dirty="0"/>
          </a:p>
          <a:p>
            <a:pPr marL="0" indent="0">
              <a:buNone/>
            </a:pPr>
            <a:r>
              <a:rPr lang="en-US" sz="1100" dirty="0">
                <a:solidFill>
                  <a:srgbClr val="172033"/>
                </a:solidFill>
              </a:rPr>
              <a:t>• Incident response playbook</a:t>
            </a:r>
            <a:endParaRPr lang="en-US" sz="1100" dirty="0"/>
          </a:p>
          <a:p>
            <a:pPr marL="0" indent="0">
              <a:buNone/>
            </a:pPr>
            <a:r>
              <a:rPr lang="en-US" sz="1100" dirty="0">
                <a:solidFill>
                  <a:srgbClr val="172033"/>
                </a:solidFill>
              </a:rPr>
              <a:t>• Regulatory mapping: GDPR, EU AI Act, FTC, sector rules</a:t>
            </a:r>
            <a:endParaRPr lang="en-US" sz="1100" dirty="0"/>
          </a:p>
          <a:p>
            <a:pPr marL="0" indent="0">
              <a:buNone/>
            </a:pPr>
            <a:r>
              <a:rPr lang="en-US" sz="1100" dirty="0">
                <a:solidFill>
                  <a:srgbClr val="172033"/>
                </a:solidFill>
              </a:rPr>
              <a:t>• IP and content provenance review</a:t>
            </a:r>
            <a:endParaRPr lang="en-US" sz="1100" dirty="0"/>
          </a:p>
        </p:txBody>
      </p:sp>
      <p:sp>
        <p:nvSpPr>
          <p:cNvPr id="13" name="Shape 11"/>
          <p:cNvSpPr/>
          <p:nvPr/>
        </p:nvSpPr>
        <p:spPr>
          <a:xfrm>
            <a:off x="8275320" y="1097280"/>
            <a:ext cx="3429000" cy="4434840"/>
          </a:xfrm>
          <a:prstGeom prst="roundRect">
            <a:avLst>
              <a:gd name="adj" fmla="val 2133"/>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14" name="Shape 12"/>
          <p:cNvSpPr/>
          <p:nvPr/>
        </p:nvSpPr>
        <p:spPr>
          <a:xfrm>
            <a:off x="8275320" y="1097280"/>
            <a:ext cx="73152" cy="4434840"/>
          </a:xfrm>
          <a:prstGeom prst="rect">
            <a:avLst/>
          </a:prstGeom>
          <a:solidFill>
            <a:srgbClr val="6D5DF5"/>
          </a:solidFill>
          <a:ln w="12700">
            <a:solidFill>
              <a:srgbClr val="6D5DF5"/>
            </a:solidFill>
            <a:prstDash val="solid"/>
          </a:ln>
        </p:spPr>
        <p:txBody>
          <a:bodyPr/>
          <a:lstStyle/>
          <a:p>
            <a:endParaRPr lang="en-US"/>
          </a:p>
        </p:txBody>
      </p:sp>
      <p:sp>
        <p:nvSpPr>
          <p:cNvPr id="15" name="Text 13"/>
          <p:cNvSpPr/>
          <p:nvPr/>
        </p:nvSpPr>
        <p:spPr>
          <a:xfrm>
            <a:off x="8476488" y="1234440"/>
            <a:ext cx="309981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User monitoring &amp; education</a:t>
            </a:r>
            <a:endParaRPr lang="en-US" sz="1400" dirty="0"/>
          </a:p>
        </p:txBody>
      </p:sp>
      <p:sp>
        <p:nvSpPr>
          <p:cNvPr id="16" name="Text 14"/>
          <p:cNvSpPr/>
          <p:nvPr/>
        </p:nvSpPr>
        <p:spPr>
          <a:xfrm>
            <a:off x="8476488" y="1536192"/>
            <a:ext cx="3099816" cy="386791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 Onboarding tutorials and responsible-use guides</a:t>
            </a:r>
            <a:endParaRPr lang="en-US" sz="1100" dirty="0"/>
          </a:p>
          <a:p>
            <a:pPr marL="0" indent="0">
              <a:buNone/>
            </a:pPr>
            <a:r>
              <a:rPr lang="en-US" sz="1100" dirty="0">
                <a:solidFill>
                  <a:srgbClr val="172033"/>
                </a:solidFill>
              </a:rPr>
              <a:t>• Output verification reminders</a:t>
            </a:r>
            <a:endParaRPr lang="en-US" sz="1100" dirty="0"/>
          </a:p>
          <a:p>
            <a:pPr marL="0" indent="0">
              <a:buNone/>
            </a:pPr>
            <a:r>
              <a:rPr lang="en-US" sz="1100" dirty="0">
                <a:solidFill>
                  <a:srgbClr val="172033"/>
                </a:solidFill>
              </a:rPr>
              <a:t>• Complaint and appeal channel</a:t>
            </a:r>
            <a:endParaRPr lang="en-US" sz="1100" dirty="0"/>
          </a:p>
          <a:p>
            <a:pPr marL="0" indent="0">
              <a:buNone/>
            </a:pPr>
            <a:r>
              <a:rPr lang="en-US" sz="1100" dirty="0">
                <a:solidFill>
                  <a:srgbClr val="172033"/>
                </a:solidFill>
              </a:rPr>
              <a:t>• Misuse detection and escalation</a:t>
            </a:r>
            <a:endParaRPr lang="en-US" sz="1100" dirty="0"/>
          </a:p>
          <a:p>
            <a:pPr marL="0" indent="0">
              <a:buNone/>
            </a:pPr>
            <a:r>
              <a:rPr lang="en-US" sz="1100" dirty="0">
                <a:solidFill>
                  <a:srgbClr val="172033"/>
                </a:solidFill>
              </a:rPr>
              <a:t>• Customer feedback analysis</a:t>
            </a:r>
            <a:endParaRPr lang="en-US" sz="1100" dirty="0"/>
          </a:p>
          <a:p>
            <a:pPr marL="0" indent="0">
              <a:buNone/>
            </a:pPr>
            <a:r>
              <a:rPr lang="en-US" sz="1100" dirty="0">
                <a:solidFill>
                  <a:srgbClr val="172033"/>
                </a:solidFill>
              </a:rPr>
              <a:t>• Periodic updates when the model changes</a:t>
            </a:r>
            <a:endParaRPr lang="en-US" sz="1100" dirty="0"/>
          </a:p>
        </p:txBody>
      </p:sp>
      <p:sp>
        <p:nvSpPr>
          <p:cNvPr id="25" name="Slide Number Placeholder 0"/>
          <p:cNvSpPr>
            <a:spLocks noGrp="1"/>
          </p:cNvSpPr>
          <p:nvPr>
            <p:ph type="sldNum" sz="quarter" idx="4294967295"/>
          </p:nvPr>
        </p:nvSpPr>
        <p:spPr>
          <a:xfrm>
            <a:off x="11475720" y="662940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94360" y="237744"/>
            <a:ext cx="5303520" cy="201168"/>
          </a:xfrm>
          <a:prstGeom prst="rect">
            <a:avLst/>
          </a:prstGeom>
          <a:noFill/>
          <a:ln/>
        </p:spPr>
        <p:txBody>
          <a:bodyPr wrap="square" lIns="0" tIns="0" rIns="0" bIns="0" rtlCol="0" anchor="ctr"/>
          <a:lstStyle/>
          <a:p>
            <a:pPr marL="0" indent="0">
              <a:buNone/>
            </a:pPr>
            <a:r>
              <a:rPr lang="en-US" sz="800" b="1" dirty="0">
                <a:solidFill>
                  <a:srgbClr val="1E5BFF"/>
                </a:solidFill>
                <a:latin typeface="Aptos" pitchFamily="34" charset="0"/>
                <a:ea typeface="Aptos" pitchFamily="34" charset="-122"/>
                <a:cs typeface="Aptos" pitchFamily="34" charset="-120"/>
              </a:rPr>
              <a:t>RAI CONTINUES AFTER DEPLOYMENT</a:t>
            </a:r>
            <a:endParaRPr lang="en-US" sz="800" dirty="0"/>
          </a:p>
        </p:txBody>
      </p:sp>
      <p:sp>
        <p:nvSpPr>
          <p:cNvPr id="3" name="Text 1"/>
          <p:cNvSpPr/>
          <p:nvPr/>
        </p:nvSpPr>
        <p:spPr>
          <a:xfrm>
            <a:off x="594360" y="502920"/>
            <a:ext cx="10789920" cy="411480"/>
          </a:xfrm>
          <a:prstGeom prst="rect">
            <a:avLst/>
          </a:prstGeom>
          <a:noFill/>
          <a:ln/>
        </p:spPr>
        <p:txBody>
          <a:bodyPr wrap="square" lIns="0" tIns="0" rIns="0" bIns="0" rtlCol="0" anchor="ctr">
            <a:normAutofit/>
          </a:bodyP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Long-term impact, sustainment and disposition</a:t>
            </a:r>
            <a:endParaRPr lang="en-US" sz="3000" dirty="0"/>
          </a:p>
        </p:txBody>
      </p:sp>
      <p:sp>
        <p:nvSpPr>
          <p:cNvPr id="4" name="Text 2"/>
          <p:cNvSpPr/>
          <p:nvPr/>
        </p:nvSpPr>
        <p:spPr>
          <a:xfrm>
            <a:off x="594360" y="6611112"/>
            <a:ext cx="5669280" cy="146304"/>
          </a:xfrm>
          <a:prstGeom prst="rect">
            <a:avLst/>
          </a:prstGeom>
          <a:noFill/>
          <a:ln/>
        </p:spPr>
        <p:txBody>
          <a:bodyPr wrap="square" lIns="0" tIns="0" rIns="0" bIns="0" rtlCol="0" anchor="ctr"/>
          <a:lstStyle/>
          <a:p>
            <a:pPr marL="0" indent="0">
              <a:buNone/>
            </a:pPr>
            <a:r>
              <a:rPr lang="en-US" sz="680" dirty="0">
                <a:solidFill>
                  <a:srgbClr val="5D6B82"/>
                </a:solidFill>
              </a:rPr>
              <a:t>Responsible AI Framework  •  NeuroVerse Inc. / NeuroCreate</a:t>
            </a:r>
            <a:endParaRPr lang="en-US" sz="680" dirty="0"/>
          </a:p>
        </p:txBody>
      </p:sp>
      <p:sp>
        <p:nvSpPr>
          <p:cNvPr id="5" name="Shape 3"/>
          <p:cNvSpPr/>
          <p:nvPr/>
        </p:nvSpPr>
        <p:spPr>
          <a:xfrm>
            <a:off x="685800" y="1097280"/>
            <a:ext cx="3337560" cy="4480560"/>
          </a:xfrm>
          <a:prstGeom prst="roundRect">
            <a:avLst>
              <a:gd name="adj" fmla="val 2192"/>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6" name="Shape 4"/>
          <p:cNvSpPr/>
          <p:nvPr/>
        </p:nvSpPr>
        <p:spPr>
          <a:xfrm>
            <a:off x="685800" y="1097280"/>
            <a:ext cx="73152" cy="4480560"/>
          </a:xfrm>
          <a:prstGeom prst="rect">
            <a:avLst/>
          </a:prstGeom>
          <a:solidFill>
            <a:srgbClr val="1E5BFF"/>
          </a:solidFill>
          <a:ln w="12700">
            <a:solidFill>
              <a:srgbClr val="1E5BFF"/>
            </a:solidFill>
            <a:prstDash val="solid"/>
          </a:ln>
        </p:spPr>
        <p:txBody>
          <a:bodyPr/>
          <a:lstStyle/>
          <a:p>
            <a:endParaRPr lang="en-US"/>
          </a:p>
        </p:txBody>
      </p:sp>
      <p:sp>
        <p:nvSpPr>
          <p:cNvPr id="7" name="Text 5"/>
          <p:cNvSpPr/>
          <p:nvPr/>
        </p:nvSpPr>
        <p:spPr>
          <a:xfrm>
            <a:off x="886968" y="1234440"/>
            <a:ext cx="300837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Employee impacts</a:t>
            </a:r>
            <a:endParaRPr lang="en-US" sz="1400" dirty="0"/>
          </a:p>
        </p:txBody>
      </p:sp>
      <p:sp>
        <p:nvSpPr>
          <p:cNvPr id="8" name="Text 6"/>
          <p:cNvSpPr/>
          <p:nvPr/>
        </p:nvSpPr>
        <p:spPr>
          <a:xfrm>
            <a:off x="886968" y="1536192"/>
            <a:ext cx="3008376" cy="391363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Review workload, deskilling, role changes, surveillance concerns, training needs, and psychological safety. Employees must know how AI is used and how to challenge harmful outcomes.</a:t>
            </a:r>
            <a:endParaRPr lang="en-US" sz="1100" dirty="0"/>
          </a:p>
        </p:txBody>
      </p:sp>
      <p:sp>
        <p:nvSpPr>
          <p:cNvPr id="9" name="Shape 7"/>
          <p:cNvSpPr/>
          <p:nvPr/>
        </p:nvSpPr>
        <p:spPr>
          <a:xfrm>
            <a:off x="4434840" y="1097280"/>
            <a:ext cx="3337560" cy="4480560"/>
          </a:xfrm>
          <a:prstGeom prst="roundRect">
            <a:avLst>
              <a:gd name="adj" fmla="val 2192"/>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10" name="Shape 8"/>
          <p:cNvSpPr/>
          <p:nvPr/>
        </p:nvSpPr>
        <p:spPr>
          <a:xfrm>
            <a:off x="4434840" y="1097280"/>
            <a:ext cx="73152" cy="4480560"/>
          </a:xfrm>
          <a:prstGeom prst="rect">
            <a:avLst/>
          </a:prstGeom>
          <a:solidFill>
            <a:srgbClr val="16A3A3"/>
          </a:solidFill>
          <a:ln w="12700">
            <a:solidFill>
              <a:srgbClr val="16A3A3"/>
            </a:solidFill>
            <a:prstDash val="solid"/>
          </a:ln>
        </p:spPr>
        <p:txBody>
          <a:bodyPr/>
          <a:lstStyle/>
          <a:p>
            <a:endParaRPr lang="en-US"/>
          </a:p>
        </p:txBody>
      </p:sp>
      <p:sp>
        <p:nvSpPr>
          <p:cNvPr id="11" name="Text 9"/>
          <p:cNvSpPr/>
          <p:nvPr/>
        </p:nvSpPr>
        <p:spPr>
          <a:xfrm>
            <a:off x="4636008" y="1234440"/>
            <a:ext cx="300837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Customer impacts</a:t>
            </a:r>
            <a:endParaRPr lang="en-US" sz="1400" dirty="0"/>
          </a:p>
        </p:txBody>
      </p:sp>
      <p:sp>
        <p:nvSpPr>
          <p:cNvPr id="12" name="Text 10"/>
          <p:cNvSpPr/>
          <p:nvPr/>
        </p:nvSpPr>
        <p:spPr>
          <a:xfrm>
            <a:off x="4636008" y="1536192"/>
            <a:ext cx="3008376" cy="391363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Track exclusion, unfair targeting, misleading outputs, privacy complaints, accessibility gaps, and trust. Offer human alternatives for high-impact situations.</a:t>
            </a:r>
            <a:endParaRPr lang="en-US" sz="1100" dirty="0"/>
          </a:p>
        </p:txBody>
      </p:sp>
      <p:sp>
        <p:nvSpPr>
          <p:cNvPr id="13" name="Shape 11"/>
          <p:cNvSpPr/>
          <p:nvPr/>
        </p:nvSpPr>
        <p:spPr>
          <a:xfrm>
            <a:off x="8183880" y="1097280"/>
            <a:ext cx="3337560" cy="4480560"/>
          </a:xfrm>
          <a:prstGeom prst="roundRect">
            <a:avLst>
              <a:gd name="adj" fmla="val 2192"/>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14" name="Shape 12"/>
          <p:cNvSpPr/>
          <p:nvPr/>
        </p:nvSpPr>
        <p:spPr>
          <a:xfrm>
            <a:off x="8183880" y="1097280"/>
            <a:ext cx="73152" cy="4480560"/>
          </a:xfrm>
          <a:prstGeom prst="rect">
            <a:avLst/>
          </a:prstGeom>
          <a:solidFill>
            <a:srgbClr val="F0B429"/>
          </a:solidFill>
          <a:ln w="12700">
            <a:solidFill>
              <a:srgbClr val="F0B429"/>
            </a:solidFill>
            <a:prstDash val="solid"/>
          </a:ln>
        </p:spPr>
        <p:txBody>
          <a:bodyPr/>
          <a:lstStyle/>
          <a:p>
            <a:endParaRPr lang="en-US"/>
          </a:p>
        </p:txBody>
      </p:sp>
      <p:sp>
        <p:nvSpPr>
          <p:cNvPr id="15" name="Text 13"/>
          <p:cNvSpPr/>
          <p:nvPr/>
        </p:nvSpPr>
        <p:spPr>
          <a:xfrm>
            <a:off x="8385048" y="1234440"/>
            <a:ext cx="300837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Disposition plan</a:t>
            </a:r>
            <a:endParaRPr lang="en-US" sz="1400" dirty="0"/>
          </a:p>
        </p:txBody>
      </p:sp>
      <p:sp>
        <p:nvSpPr>
          <p:cNvPr id="16" name="Text 14"/>
          <p:cNvSpPr/>
          <p:nvPr/>
        </p:nvSpPr>
        <p:spPr>
          <a:xfrm>
            <a:off x="8385048" y="1536192"/>
            <a:ext cx="3008376" cy="391363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Retire systems when they exceed risk appetite, lose business purpose, fail monitoring thresholds, or become noncompliant. Archive evidence, revoke access, and apply data retention/deletion rules.</a:t>
            </a:r>
            <a:endParaRPr lang="en-US" sz="1100" dirty="0"/>
          </a:p>
        </p:txBody>
      </p:sp>
      <p:sp>
        <p:nvSpPr>
          <p:cNvPr id="17" name="Shape 15"/>
          <p:cNvSpPr/>
          <p:nvPr/>
        </p:nvSpPr>
        <p:spPr>
          <a:xfrm>
            <a:off x="1097280" y="5806440"/>
            <a:ext cx="9966960" cy="329184"/>
          </a:xfrm>
          <a:prstGeom prst="roundRect">
            <a:avLst>
              <a:gd name="adj" fmla="val 13889"/>
            </a:avLst>
          </a:prstGeom>
          <a:solidFill>
            <a:srgbClr val="EAF1F8"/>
          </a:solidFill>
          <a:ln w="12700">
            <a:solidFill>
              <a:srgbClr val="EAF1F8"/>
            </a:solidFill>
            <a:prstDash val="solid"/>
          </a:ln>
        </p:spPr>
        <p:txBody>
          <a:bodyPr/>
          <a:lstStyle/>
          <a:p>
            <a:endParaRPr lang="en-US"/>
          </a:p>
        </p:txBody>
      </p:sp>
      <p:sp>
        <p:nvSpPr>
          <p:cNvPr id="18" name="Text 16"/>
          <p:cNvSpPr/>
          <p:nvPr/>
        </p:nvSpPr>
        <p:spPr>
          <a:xfrm>
            <a:off x="1234440" y="5916168"/>
            <a:ext cx="9692640" cy="109728"/>
          </a:xfrm>
          <a:prstGeom prst="rect">
            <a:avLst/>
          </a:prstGeom>
          <a:noFill/>
          <a:ln/>
        </p:spPr>
        <p:txBody>
          <a:bodyPr wrap="square" lIns="0" tIns="0" rIns="0" bIns="0" rtlCol="0" anchor="ctr"/>
          <a:lstStyle/>
          <a:p>
            <a:pPr marL="0" indent="0" algn="ctr">
              <a:buNone/>
            </a:pPr>
            <a:r>
              <a:rPr lang="en-US" sz="1100" b="1" dirty="0">
                <a:solidFill>
                  <a:srgbClr val="0B1F3A"/>
                </a:solidFill>
              </a:rPr>
              <a:t>Annual sustainment review: performance + fairness + security + compliance + user feedback + business value + retirement decision.</a:t>
            </a:r>
            <a:endParaRPr lang="en-US" sz="1100" dirty="0"/>
          </a:p>
        </p:txBody>
      </p:sp>
      <p:sp>
        <p:nvSpPr>
          <p:cNvPr id="25" name="Slide Number Placeholder 0"/>
          <p:cNvSpPr>
            <a:spLocks noGrp="1"/>
          </p:cNvSpPr>
          <p:nvPr>
            <p:ph type="sldNum" sz="quarter" idx="4294967295"/>
          </p:nvPr>
        </p:nvSpPr>
        <p:spPr>
          <a:xfrm>
            <a:off x="11475720" y="662940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94360" y="237744"/>
            <a:ext cx="5303520" cy="201168"/>
          </a:xfrm>
          <a:prstGeom prst="rect">
            <a:avLst/>
          </a:prstGeom>
          <a:noFill/>
          <a:ln/>
        </p:spPr>
        <p:txBody>
          <a:bodyPr wrap="square" lIns="0" tIns="0" rIns="0" bIns="0" rtlCol="0" anchor="ctr"/>
          <a:lstStyle/>
          <a:p>
            <a:pPr marL="0" indent="0">
              <a:buNone/>
            </a:pPr>
            <a:r>
              <a:rPr lang="en-US" sz="800" b="1" dirty="0">
                <a:solidFill>
                  <a:srgbClr val="1E5BFF"/>
                </a:solidFill>
                <a:latin typeface="Aptos" pitchFamily="34" charset="0"/>
                <a:ea typeface="Aptos" pitchFamily="34" charset="-122"/>
                <a:cs typeface="Aptos" pitchFamily="34" charset="-120"/>
              </a:rPr>
              <a:t>WHAT TO USE NEXT AT WORK</a:t>
            </a:r>
            <a:endParaRPr lang="en-US" sz="800" dirty="0"/>
          </a:p>
        </p:txBody>
      </p:sp>
      <p:sp>
        <p:nvSpPr>
          <p:cNvPr id="3" name="Text 1"/>
          <p:cNvSpPr/>
          <p:nvPr/>
        </p:nvSpPr>
        <p:spPr>
          <a:xfrm>
            <a:off x="594360" y="502920"/>
            <a:ext cx="10789920" cy="411480"/>
          </a:xfrm>
          <a:prstGeom prst="rect">
            <a:avLst/>
          </a:prstGeom>
          <a:noFill/>
          <a:ln/>
        </p:spPr>
        <p:txBody>
          <a:bodyPr wrap="square" lIns="0" tIns="0" rIns="0" bIns="0" rtlCol="0" anchor="ctr">
            <a:normAutofit/>
          </a:bodyP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Best practices and portfolio package</a:t>
            </a:r>
            <a:endParaRPr lang="en-US" sz="3000" dirty="0"/>
          </a:p>
        </p:txBody>
      </p:sp>
      <p:sp>
        <p:nvSpPr>
          <p:cNvPr id="4" name="Text 2"/>
          <p:cNvSpPr/>
          <p:nvPr/>
        </p:nvSpPr>
        <p:spPr>
          <a:xfrm>
            <a:off x="594360" y="6611112"/>
            <a:ext cx="5669280" cy="146304"/>
          </a:xfrm>
          <a:prstGeom prst="rect">
            <a:avLst/>
          </a:prstGeom>
          <a:noFill/>
          <a:ln/>
        </p:spPr>
        <p:txBody>
          <a:bodyPr wrap="square" lIns="0" tIns="0" rIns="0" bIns="0" rtlCol="0" anchor="ctr"/>
          <a:lstStyle/>
          <a:p>
            <a:pPr marL="0" indent="0">
              <a:buNone/>
            </a:pPr>
            <a:r>
              <a:rPr lang="en-US" sz="680" dirty="0">
                <a:solidFill>
                  <a:srgbClr val="5D6B82"/>
                </a:solidFill>
              </a:rPr>
              <a:t>Responsible AI Framework  •  NeuroVerse Inc. / NeuroCreate</a:t>
            </a:r>
            <a:endParaRPr lang="en-US" sz="680" dirty="0"/>
          </a:p>
        </p:txBody>
      </p:sp>
      <p:sp>
        <p:nvSpPr>
          <p:cNvPr id="5" name="Shape 3"/>
          <p:cNvSpPr/>
          <p:nvPr/>
        </p:nvSpPr>
        <p:spPr>
          <a:xfrm>
            <a:off x="731520" y="1060704"/>
            <a:ext cx="5303520" cy="4892040"/>
          </a:xfrm>
          <a:prstGeom prst="roundRect">
            <a:avLst>
              <a:gd name="adj" fmla="val 1495"/>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6" name="Shape 4"/>
          <p:cNvSpPr/>
          <p:nvPr/>
        </p:nvSpPr>
        <p:spPr>
          <a:xfrm>
            <a:off x="731520" y="1060704"/>
            <a:ext cx="73152" cy="4892040"/>
          </a:xfrm>
          <a:prstGeom prst="rect">
            <a:avLst/>
          </a:prstGeom>
          <a:solidFill>
            <a:srgbClr val="1E5BFF"/>
          </a:solidFill>
          <a:ln w="12700">
            <a:solidFill>
              <a:srgbClr val="1E5BFF"/>
            </a:solidFill>
            <a:prstDash val="solid"/>
          </a:ln>
        </p:spPr>
        <p:txBody>
          <a:bodyPr/>
          <a:lstStyle/>
          <a:p>
            <a:endParaRPr lang="en-US"/>
          </a:p>
        </p:txBody>
      </p:sp>
      <p:sp>
        <p:nvSpPr>
          <p:cNvPr id="7" name="Text 5"/>
          <p:cNvSpPr/>
          <p:nvPr/>
        </p:nvSpPr>
        <p:spPr>
          <a:xfrm>
            <a:off x="932688" y="1197864"/>
            <a:ext cx="497433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Ready-to-use RAI package</a:t>
            </a:r>
            <a:endParaRPr lang="en-US" sz="1400" dirty="0"/>
          </a:p>
        </p:txBody>
      </p:sp>
      <p:sp>
        <p:nvSpPr>
          <p:cNvPr id="8" name="Text 6"/>
          <p:cNvSpPr/>
          <p:nvPr/>
        </p:nvSpPr>
        <p:spPr>
          <a:xfrm>
            <a:off x="932688" y="1499616"/>
            <a:ext cx="4974336" cy="432511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1. Ethical principles statement</a:t>
            </a:r>
            <a:endParaRPr lang="en-US" sz="1100" dirty="0"/>
          </a:p>
          <a:p>
            <a:pPr marL="0" indent="0">
              <a:buNone/>
            </a:pPr>
            <a:r>
              <a:rPr lang="en-US" sz="1100" dirty="0">
                <a:solidFill>
                  <a:srgbClr val="172033"/>
                </a:solidFill>
              </a:rPr>
              <a:t>2. AI use-case intake form</a:t>
            </a:r>
            <a:endParaRPr lang="en-US" sz="1100" dirty="0"/>
          </a:p>
          <a:p>
            <a:pPr marL="0" indent="0">
              <a:buNone/>
            </a:pPr>
            <a:r>
              <a:rPr lang="en-US" sz="1100" dirty="0">
                <a:solidFill>
                  <a:srgbClr val="172033"/>
                </a:solidFill>
              </a:rPr>
              <a:t>3. Risk tiering rubric</a:t>
            </a:r>
            <a:endParaRPr lang="en-US" sz="1100" dirty="0"/>
          </a:p>
          <a:p>
            <a:pPr marL="0" indent="0">
              <a:buNone/>
            </a:pPr>
            <a:r>
              <a:rPr lang="en-US" sz="1100" dirty="0">
                <a:solidFill>
                  <a:srgbClr val="172033"/>
                </a:solidFill>
              </a:rPr>
              <a:t>4. Model card and data sheet templates</a:t>
            </a:r>
            <a:endParaRPr lang="en-US" sz="1100" dirty="0"/>
          </a:p>
          <a:p>
            <a:pPr marL="0" indent="0">
              <a:buNone/>
            </a:pPr>
            <a:r>
              <a:rPr lang="en-US" sz="1100" dirty="0">
                <a:solidFill>
                  <a:srgbClr val="172033"/>
                </a:solidFill>
              </a:rPr>
              <a:t>5. Bias/explainability/privacy test checklist</a:t>
            </a:r>
            <a:endParaRPr lang="en-US" sz="1100" dirty="0"/>
          </a:p>
          <a:p>
            <a:pPr marL="0" indent="0">
              <a:buNone/>
            </a:pPr>
            <a:r>
              <a:rPr lang="en-US" sz="1100" dirty="0">
                <a:solidFill>
                  <a:srgbClr val="172033"/>
                </a:solidFill>
              </a:rPr>
              <a:t>6. Vendor AI procurement checklist</a:t>
            </a:r>
            <a:endParaRPr lang="en-US" sz="1100" dirty="0"/>
          </a:p>
          <a:p>
            <a:pPr marL="0" indent="0">
              <a:buNone/>
            </a:pPr>
            <a:r>
              <a:rPr lang="en-US" sz="1100" dirty="0">
                <a:solidFill>
                  <a:srgbClr val="172033"/>
                </a:solidFill>
              </a:rPr>
              <a:t>7. Incident response and escalation log</a:t>
            </a:r>
            <a:endParaRPr lang="en-US" sz="1100" dirty="0"/>
          </a:p>
          <a:p>
            <a:pPr marL="0" indent="0">
              <a:buNone/>
            </a:pPr>
            <a:r>
              <a:rPr lang="en-US" sz="1100" dirty="0">
                <a:solidFill>
                  <a:srgbClr val="172033"/>
                </a:solidFill>
              </a:rPr>
              <a:t>8. Training plan and completion tracker</a:t>
            </a:r>
            <a:endParaRPr lang="en-US" sz="1100" dirty="0"/>
          </a:p>
          <a:p>
            <a:pPr marL="0" indent="0">
              <a:buNone/>
            </a:pPr>
            <a:r>
              <a:rPr lang="en-US" sz="1100" dirty="0">
                <a:solidFill>
                  <a:srgbClr val="172033"/>
                </a:solidFill>
              </a:rPr>
              <a:t>9. Quarterly RAI scorecard</a:t>
            </a:r>
            <a:endParaRPr lang="en-US" sz="1100" dirty="0"/>
          </a:p>
          <a:p>
            <a:pPr marL="0" indent="0">
              <a:buNone/>
            </a:pPr>
            <a:r>
              <a:rPr lang="en-US" sz="1100" dirty="0">
                <a:solidFill>
                  <a:srgbClr val="172033"/>
                </a:solidFill>
              </a:rPr>
              <a:t>10. Disposition/retirement checklist</a:t>
            </a:r>
            <a:endParaRPr lang="en-US" sz="1100" dirty="0"/>
          </a:p>
        </p:txBody>
      </p:sp>
      <p:sp>
        <p:nvSpPr>
          <p:cNvPr id="9" name="Shape 7"/>
          <p:cNvSpPr/>
          <p:nvPr/>
        </p:nvSpPr>
        <p:spPr>
          <a:xfrm>
            <a:off x="6355080" y="1060704"/>
            <a:ext cx="5074920" cy="4892040"/>
          </a:xfrm>
          <a:prstGeom prst="roundRect">
            <a:avLst>
              <a:gd name="adj" fmla="val 1495"/>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10" name="Shape 8"/>
          <p:cNvSpPr/>
          <p:nvPr/>
        </p:nvSpPr>
        <p:spPr>
          <a:xfrm>
            <a:off x="6355080" y="1060704"/>
            <a:ext cx="73152" cy="4892040"/>
          </a:xfrm>
          <a:prstGeom prst="rect">
            <a:avLst/>
          </a:prstGeom>
          <a:solidFill>
            <a:srgbClr val="16A3A3"/>
          </a:solidFill>
          <a:ln w="12700">
            <a:solidFill>
              <a:srgbClr val="16A3A3"/>
            </a:solidFill>
            <a:prstDash val="solid"/>
          </a:ln>
        </p:spPr>
        <p:txBody>
          <a:bodyPr/>
          <a:lstStyle/>
          <a:p>
            <a:endParaRPr lang="en-US"/>
          </a:p>
        </p:txBody>
      </p:sp>
      <p:sp>
        <p:nvSpPr>
          <p:cNvPr id="11" name="Text 9"/>
          <p:cNvSpPr/>
          <p:nvPr/>
        </p:nvSpPr>
        <p:spPr>
          <a:xfrm>
            <a:off x="6556248" y="1197864"/>
            <a:ext cx="474573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Immediate next steps</a:t>
            </a:r>
            <a:endParaRPr lang="en-US" sz="1400" dirty="0"/>
          </a:p>
        </p:txBody>
      </p:sp>
      <p:sp>
        <p:nvSpPr>
          <p:cNvPr id="12" name="Text 10"/>
          <p:cNvSpPr/>
          <p:nvPr/>
        </p:nvSpPr>
        <p:spPr>
          <a:xfrm>
            <a:off x="6556248" y="1499616"/>
            <a:ext cx="4745736" cy="432511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 Upload this final framework and key prior materials to the professional portfolio.</a:t>
            </a:r>
            <a:endParaRPr lang="en-US" sz="1100" dirty="0"/>
          </a:p>
          <a:p>
            <a:pPr marL="0" indent="0">
              <a:buNone/>
            </a:pPr>
            <a:r>
              <a:rPr lang="en-US" sz="1100" dirty="0">
                <a:solidFill>
                  <a:srgbClr val="172033"/>
                </a:solidFill>
              </a:rPr>
              <a:t>• Schedule RAI Board kickoff and assign owners.</a:t>
            </a:r>
            <a:endParaRPr lang="en-US" sz="1100" dirty="0"/>
          </a:p>
          <a:p>
            <a:pPr marL="0" indent="0">
              <a:buNone/>
            </a:pPr>
            <a:r>
              <a:rPr lang="en-US" sz="1100" dirty="0">
                <a:solidFill>
                  <a:srgbClr val="172033"/>
                </a:solidFill>
              </a:rPr>
              <a:t>• Inventory active AI tools, including third-party tools.</a:t>
            </a:r>
            <a:endParaRPr lang="en-US" sz="1100" dirty="0"/>
          </a:p>
          <a:p>
            <a:pPr marL="0" indent="0">
              <a:buNone/>
            </a:pPr>
            <a:r>
              <a:rPr lang="en-US" sz="1100" dirty="0">
                <a:solidFill>
                  <a:srgbClr val="172033"/>
                </a:solidFill>
              </a:rPr>
              <a:t>• Risk-tier each AI use case.</a:t>
            </a:r>
            <a:endParaRPr lang="en-US" sz="1100" dirty="0"/>
          </a:p>
          <a:p>
            <a:pPr marL="0" indent="0">
              <a:buNone/>
            </a:pPr>
            <a:r>
              <a:rPr lang="en-US" sz="1100" dirty="0">
                <a:solidFill>
                  <a:srgbClr val="172033"/>
                </a:solidFill>
              </a:rPr>
              <a:t>• Run a pilot review on one high-risk use case.</a:t>
            </a:r>
            <a:endParaRPr lang="en-US" sz="1100" dirty="0"/>
          </a:p>
          <a:p>
            <a:pPr marL="0" indent="0">
              <a:buNone/>
            </a:pPr>
            <a:r>
              <a:rPr lang="en-US" sz="1100" dirty="0">
                <a:solidFill>
                  <a:srgbClr val="172033"/>
                </a:solidFill>
              </a:rPr>
              <a:t>• Publish employee guidance for acceptable AI use.</a:t>
            </a:r>
            <a:endParaRPr lang="en-US" sz="1100" dirty="0"/>
          </a:p>
          <a:p>
            <a:pPr marL="0" indent="0">
              <a:buNone/>
            </a:pPr>
            <a:r>
              <a:rPr lang="en-US" sz="1100" dirty="0">
                <a:solidFill>
                  <a:srgbClr val="172033"/>
                </a:solidFill>
              </a:rPr>
              <a:t>• Start monthly monitoring and quarterly scorecards.</a:t>
            </a:r>
            <a:endParaRPr lang="en-US" sz="1100" dirty="0"/>
          </a:p>
        </p:txBody>
      </p:sp>
      <p:sp>
        <p:nvSpPr>
          <p:cNvPr id="25" name="Slide Number Placeholder 0"/>
          <p:cNvSpPr>
            <a:spLocks noGrp="1"/>
          </p:cNvSpPr>
          <p:nvPr>
            <p:ph type="sldNum" sz="quarter" idx="4294967295"/>
          </p:nvPr>
        </p:nvSpPr>
        <p:spPr>
          <a:xfrm>
            <a:off x="11475720" y="662940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94360" y="237744"/>
            <a:ext cx="5303520" cy="201168"/>
          </a:xfrm>
          <a:prstGeom prst="rect">
            <a:avLst/>
          </a:prstGeom>
          <a:noFill/>
          <a:ln/>
        </p:spPr>
        <p:txBody>
          <a:bodyPr wrap="square" lIns="0" tIns="0" rIns="0" bIns="0" rtlCol="0" anchor="ctr"/>
          <a:lstStyle/>
          <a:p>
            <a:pPr marL="0" indent="0">
              <a:buNone/>
            </a:pPr>
            <a:endParaRPr lang="en-US" sz="800" dirty="0"/>
          </a:p>
        </p:txBody>
      </p:sp>
      <p:sp>
        <p:nvSpPr>
          <p:cNvPr id="3" name="Text 1"/>
          <p:cNvSpPr/>
          <p:nvPr/>
        </p:nvSpPr>
        <p:spPr>
          <a:xfrm>
            <a:off x="594360" y="502920"/>
            <a:ext cx="10789920" cy="411480"/>
          </a:xfrm>
          <a:prstGeom prst="rect">
            <a:avLst/>
          </a:prstGeom>
          <a:noFill/>
          <a:ln/>
        </p:spPr>
        <p:txBody>
          <a:bodyPr wrap="square" lIns="0" tIns="0" rIns="0" bIns="0" rtlCol="0" anchor="ctr">
            <a:normAutofit/>
          </a:bodyP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Prioritized RAI references</a:t>
            </a:r>
            <a:endParaRPr lang="en-US" sz="3000" dirty="0"/>
          </a:p>
        </p:txBody>
      </p:sp>
      <p:sp>
        <p:nvSpPr>
          <p:cNvPr id="4" name="Text 2"/>
          <p:cNvSpPr/>
          <p:nvPr/>
        </p:nvSpPr>
        <p:spPr>
          <a:xfrm>
            <a:off x="594360" y="6611112"/>
            <a:ext cx="5669280" cy="146304"/>
          </a:xfrm>
          <a:prstGeom prst="rect">
            <a:avLst/>
          </a:prstGeom>
          <a:noFill/>
          <a:ln/>
        </p:spPr>
        <p:txBody>
          <a:bodyPr wrap="square" lIns="0" tIns="0" rIns="0" bIns="0" rtlCol="0" anchor="ctr"/>
          <a:lstStyle/>
          <a:p>
            <a:pPr marL="0" indent="0">
              <a:buNone/>
            </a:pPr>
            <a:r>
              <a:rPr lang="en-US" sz="680" dirty="0">
                <a:solidFill>
                  <a:srgbClr val="5D6B82"/>
                </a:solidFill>
              </a:rPr>
              <a:t>Responsible AI Framework  •  NeuroVerse Inc. / NeuroCreate</a:t>
            </a:r>
            <a:endParaRPr lang="en-US" sz="680" dirty="0"/>
          </a:p>
        </p:txBody>
      </p:sp>
      <p:sp>
        <p:nvSpPr>
          <p:cNvPr id="5" name="Text 3"/>
          <p:cNvSpPr/>
          <p:nvPr/>
        </p:nvSpPr>
        <p:spPr>
          <a:xfrm>
            <a:off x="713232" y="1060704"/>
            <a:ext cx="10835640" cy="5074920"/>
          </a:xfrm>
          <a:prstGeom prst="rect">
            <a:avLst/>
          </a:prstGeom>
          <a:noFill/>
          <a:ln/>
        </p:spPr>
        <p:txBody>
          <a:bodyPr wrap="square" lIns="381" tIns="381" rIns="381" bIns="381" rtlCol="0" anchor="t">
            <a:normAutofit/>
          </a:bodyPr>
          <a:lstStyle/>
          <a:p>
            <a:pPr marL="0" indent="0">
              <a:buNone/>
            </a:pPr>
            <a:r>
              <a:rPr lang="en-US" sz="920" dirty="0">
                <a:solidFill>
                  <a:srgbClr val="172033"/>
                </a:solidFill>
              </a:rPr>
              <a:t>1. National Institute of Standards and Technology. (2023). Artificial intelligence risk management framework (AI RMF 1.0) (NIST AI 100-1). https://doi.org/10.6028/NIST.AI.100-1</a:t>
            </a:r>
            <a:endParaRPr lang="en-US" sz="920" dirty="0"/>
          </a:p>
          <a:p>
            <a:pPr marL="0" indent="0">
              <a:buNone/>
            </a:pPr>
            <a:r>
              <a:rPr lang="en-US" sz="920" dirty="0">
                <a:solidFill>
                  <a:srgbClr val="172033"/>
                </a:solidFill>
              </a:rPr>
              <a:t>2. National Institute of Standards and Technology. (2024). Artificial intelligence risk management framework: Generative artificial intelligence profile (NIST AI 600-1). https://doi.org/10.6028/NIST.AI.600-1</a:t>
            </a:r>
            <a:endParaRPr lang="en-US" sz="920" dirty="0"/>
          </a:p>
          <a:p>
            <a:pPr marL="0" indent="0">
              <a:buNone/>
            </a:pPr>
            <a:r>
              <a:rPr lang="en-US" sz="920" dirty="0">
                <a:solidFill>
                  <a:srgbClr val="172033"/>
                </a:solidFill>
              </a:rPr>
              <a:t>3. International Organization for Standardization. (2023). ISO/IEC 42001:2023, Information technology — Artificial intelligence — Management system.</a:t>
            </a:r>
            <a:endParaRPr lang="en-US" sz="920" dirty="0"/>
          </a:p>
          <a:p>
            <a:pPr marL="0" indent="0">
              <a:buNone/>
            </a:pPr>
            <a:r>
              <a:rPr lang="en-US" sz="920" dirty="0">
                <a:solidFill>
                  <a:srgbClr val="172033"/>
                </a:solidFill>
              </a:rPr>
              <a:t>4. European Parliament &amp; Council of the European Union. (2024). Regulation (EU) 2024/1689 laying down harmonised rules on artificial intelligence.</a:t>
            </a:r>
            <a:endParaRPr lang="en-US" sz="920" dirty="0"/>
          </a:p>
          <a:p>
            <a:pPr marL="0" indent="0">
              <a:buNone/>
            </a:pPr>
            <a:r>
              <a:rPr lang="en-US" sz="920" dirty="0">
                <a:solidFill>
                  <a:srgbClr val="172033"/>
                </a:solidFill>
              </a:rPr>
              <a:t>5. Organisation for Economic Co-operation and Development. (2019). OECD principles on artificial intelligence.</a:t>
            </a:r>
            <a:endParaRPr lang="en-US" sz="920" dirty="0"/>
          </a:p>
          <a:p>
            <a:pPr marL="0" indent="0">
              <a:buNone/>
            </a:pPr>
            <a:r>
              <a:rPr lang="en-US" sz="920" dirty="0">
                <a:solidFill>
                  <a:srgbClr val="172033"/>
                </a:solidFill>
              </a:rPr>
              <a:t>6. UNESCO. (2021). Recommendation on the ethics of artificial intelligence.</a:t>
            </a:r>
            <a:endParaRPr lang="en-US" sz="920" dirty="0"/>
          </a:p>
          <a:p>
            <a:pPr marL="0" indent="0">
              <a:buNone/>
            </a:pPr>
            <a:r>
              <a:rPr lang="en-US" sz="920" dirty="0">
                <a:solidFill>
                  <a:srgbClr val="172033"/>
                </a:solidFill>
              </a:rPr>
              <a:t>7. White House Office of Science and Technology Policy. (2022). Blueprint for an AI Bill of Rights: Making automated systems work for the American people.</a:t>
            </a:r>
            <a:endParaRPr lang="en-US" sz="920" dirty="0"/>
          </a:p>
          <a:p>
            <a:pPr marL="0" indent="0">
              <a:buNone/>
            </a:pPr>
            <a:r>
              <a:rPr lang="en-US" sz="920" dirty="0">
                <a:solidFill>
                  <a:srgbClr val="172033"/>
                </a:solidFill>
              </a:rPr>
              <a:t>8. Microsoft. (2022). Responsible AI Standard, version 2.</a:t>
            </a:r>
            <a:endParaRPr lang="en-US" sz="920" dirty="0"/>
          </a:p>
          <a:p>
            <a:pPr marL="0" indent="0">
              <a:buNone/>
            </a:pPr>
            <a:r>
              <a:rPr lang="en-US" sz="920" dirty="0">
                <a:solidFill>
                  <a:srgbClr val="172033"/>
                </a:solidFill>
              </a:rPr>
              <a:t>9. Google. (n.d.). Artificial intelligence at Google: Our principles.</a:t>
            </a:r>
            <a:endParaRPr lang="en-US" sz="920" dirty="0"/>
          </a:p>
          <a:p>
            <a:pPr marL="0" indent="0">
              <a:buNone/>
            </a:pPr>
            <a:r>
              <a:rPr lang="en-US" sz="920" dirty="0">
                <a:solidFill>
                  <a:srgbClr val="172033"/>
                </a:solidFill>
              </a:rPr>
              <a:t>10. IBM. (n.d.). AI ethics.</a:t>
            </a:r>
            <a:endParaRPr lang="en-US" sz="920" dirty="0"/>
          </a:p>
          <a:p>
            <a:pPr marL="0" indent="0">
              <a:buNone/>
            </a:pPr>
            <a:r>
              <a:rPr lang="en-US" sz="920" dirty="0">
                <a:solidFill>
                  <a:srgbClr val="172033"/>
                </a:solidFill>
              </a:rPr>
              <a:t>11. Federal Trade Commission. (2023). Keep your AI claims in check.</a:t>
            </a:r>
            <a:endParaRPr lang="en-US" sz="920" dirty="0"/>
          </a:p>
          <a:p>
            <a:pPr marL="0" indent="0">
              <a:buNone/>
            </a:pPr>
            <a:r>
              <a:rPr lang="en-US" sz="920" dirty="0">
                <a:solidFill>
                  <a:srgbClr val="172033"/>
                </a:solidFill>
              </a:rPr>
              <a:t>12. OWASP Foundation. (2025). OWASP Top 10 for large language model applications.</a:t>
            </a:r>
            <a:endParaRPr lang="en-US" sz="920" dirty="0"/>
          </a:p>
        </p:txBody>
      </p:sp>
      <p:sp>
        <p:nvSpPr>
          <p:cNvPr id="25" name="Slide Number Placeholder 0"/>
          <p:cNvSpPr>
            <a:spLocks noGrp="1"/>
          </p:cNvSpPr>
          <p:nvPr>
            <p:ph type="sldNum" sz="quarter" idx="4294967295"/>
          </p:nvPr>
        </p:nvSpPr>
        <p:spPr>
          <a:xfrm>
            <a:off x="11475720" y="662940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94360" y="237744"/>
            <a:ext cx="5303520" cy="201168"/>
          </a:xfrm>
          <a:prstGeom prst="rect">
            <a:avLst/>
          </a:prstGeom>
          <a:noFill/>
          <a:ln/>
        </p:spPr>
        <p:txBody>
          <a:bodyPr wrap="square" lIns="0" tIns="0" rIns="0" bIns="0" rtlCol="0" anchor="ctr"/>
          <a:lstStyle/>
          <a:p>
            <a:pPr marL="0" indent="0">
              <a:buNone/>
            </a:pPr>
            <a:r>
              <a:rPr lang="en-US" sz="800" b="1" dirty="0">
                <a:solidFill>
                  <a:srgbClr val="1E5BFF"/>
                </a:solidFill>
                <a:latin typeface="Aptos" pitchFamily="34" charset="0"/>
                <a:ea typeface="Aptos" pitchFamily="34" charset="-122"/>
                <a:cs typeface="Aptos" pitchFamily="34" charset="-120"/>
              </a:rPr>
              <a:t>REUSABLE WORKING TEMPLATE</a:t>
            </a:r>
            <a:endParaRPr lang="en-US" sz="800" dirty="0"/>
          </a:p>
        </p:txBody>
      </p:sp>
      <p:sp>
        <p:nvSpPr>
          <p:cNvPr id="3" name="Text 1"/>
          <p:cNvSpPr/>
          <p:nvPr/>
        </p:nvSpPr>
        <p:spPr>
          <a:xfrm>
            <a:off x="594360" y="502920"/>
            <a:ext cx="10789920" cy="411480"/>
          </a:xfrm>
          <a:prstGeom prst="rect">
            <a:avLst/>
          </a:prstGeom>
          <a:noFill/>
          <a:ln/>
        </p:spPr>
        <p:txBody>
          <a:bodyPr wrap="square" lIns="0" tIns="0" rIns="0" bIns="0" rtlCol="0" anchor="ctr">
            <a:normAutofit/>
          </a:bodyP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Appendix: AI use-case intake questions</a:t>
            </a:r>
            <a:endParaRPr lang="en-US" sz="3000" dirty="0"/>
          </a:p>
        </p:txBody>
      </p:sp>
      <p:sp>
        <p:nvSpPr>
          <p:cNvPr id="4" name="Text 2"/>
          <p:cNvSpPr/>
          <p:nvPr/>
        </p:nvSpPr>
        <p:spPr>
          <a:xfrm>
            <a:off x="594360" y="6611112"/>
            <a:ext cx="5669280" cy="146304"/>
          </a:xfrm>
          <a:prstGeom prst="rect">
            <a:avLst/>
          </a:prstGeom>
          <a:noFill/>
          <a:ln/>
        </p:spPr>
        <p:txBody>
          <a:bodyPr wrap="square" lIns="0" tIns="0" rIns="0" bIns="0" rtlCol="0" anchor="ctr"/>
          <a:lstStyle/>
          <a:p>
            <a:pPr marL="0" indent="0">
              <a:buNone/>
            </a:pPr>
            <a:r>
              <a:rPr lang="en-US" sz="680" dirty="0">
                <a:solidFill>
                  <a:srgbClr val="5D6B82"/>
                </a:solidFill>
              </a:rPr>
              <a:t>Responsible AI Framework  •  NeuroVerse Inc. / NeuroCreate</a:t>
            </a:r>
            <a:endParaRPr lang="en-US" sz="680" dirty="0"/>
          </a:p>
        </p:txBody>
      </p:sp>
      <p:sp>
        <p:nvSpPr>
          <p:cNvPr id="5" name="Shape 3"/>
          <p:cNvSpPr/>
          <p:nvPr/>
        </p:nvSpPr>
        <p:spPr>
          <a:xfrm>
            <a:off x="731520" y="1097280"/>
            <a:ext cx="3474720" cy="4526280"/>
          </a:xfrm>
          <a:prstGeom prst="roundRect">
            <a:avLst>
              <a:gd name="adj" fmla="val 2105"/>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6" name="Shape 4"/>
          <p:cNvSpPr/>
          <p:nvPr/>
        </p:nvSpPr>
        <p:spPr>
          <a:xfrm>
            <a:off x="731520" y="1097280"/>
            <a:ext cx="73152" cy="4526280"/>
          </a:xfrm>
          <a:prstGeom prst="rect">
            <a:avLst/>
          </a:prstGeom>
          <a:solidFill>
            <a:srgbClr val="1E5BFF"/>
          </a:solidFill>
          <a:ln w="12700">
            <a:solidFill>
              <a:srgbClr val="1E5BFF"/>
            </a:solidFill>
            <a:prstDash val="solid"/>
          </a:ln>
        </p:spPr>
        <p:txBody>
          <a:bodyPr/>
          <a:lstStyle/>
          <a:p>
            <a:endParaRPr lang="en-US"/>
          </a:p>
        </p:txBody>
      </p:sp>
      <p:sp>
        <p:nvSpPr>
          <p:cNvPr id="7" name="Text 5"/>
          <p:cNvSpPr/>
          <p:nvPr/>
        </p:nvSpPr>
        <p:spPr>
          <a:xfrm>
            <a:off x="932688" y="1234440"/>
            <a:ext cx="314553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Business and users</a:t>
            </a:r>
            <a:endParaRPr lang="en-US" sz="1400" dirty="0"/>
          </a:p>
        </p:txBody>
      </p:sp>
      <p:sp>
        <p:nvSpPr>
          <p:cNvPr id="8" name="Text 6"/>
          <p:cNvSpPr/>
          <p:nvPr/>
        </p:nvSpPr>
        <p:spPr>
          <a:xfrm>
            <a:off x="932688" y="1536192"/>
            <a:ext cx="3145536" cy="395935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 What problem does AI solve?</a:t>
            </a:r>
            <a:endParaRPr lang="en-US" sz="1100" dirty="0"/>
          </a:p>
          <a:p>
            <a:pPr marL="0" indent="0">
              <a:buNone/>
            </a:pPr>
            <a:r>
              <a:rPr lang="en-US" sz="1100" dirty="0">
                <a:solidFill>
                  <a:srgbClr val="172033"/>
                </a:solidFill>
              </a:rPr>
              <a:t>• Who is affected?</a:t>
            </a:r>
            <a:endParaRPr lang="en-US" sz="1100" dirty="0"/>
          </a:p>
          <a:p>
            <a:pPr marL="0" indent="0">
              <a:buNone/>
            </a:pPr>
            <a:r>
              <a:rPr lang="en-US" sz="1100" dirty="0">
                <a:solidFill>
                  <a:srgbClr val="172033"/>
                </a:solidFill>
              </a:rPr>
              <a:t>• What decisions or recommendations are made?</a:t>
            </a:r>
            <a:endParaRPr lang="en-US" sz="1100" dirty="0"/>
          </a:p>
          <a:p>
            <a:pPr marL="0" indent="0">
              <a:buNone/>
            </a:pPr>
            <a:r>
              <a:rPr lang="en-US" sz="1100" dirty="0">
                <a:solidFill>
                  <a:srgbClr val="172033"/>
                </a:solidFill>
              </a:rPr>
              <a:t>• Is a human alternative available?</a:t>
            </a:r>
            <a:endParaRPr lang="en-US" sz="1100" dirty="0"/>
          </a:p>
          <a:p>
            <a:pPr marL="0" indent="0">
              <a:buNone/>
            </a:pPr>
            <a:r>
              <a:rPr lang="en-US" sz="1100" dirty="0">
                <a:solidFill>
                  <a:srgbClr val="172033"/>
                </a:solidFill>
              </a:rPr>
              <a:t>• What would count as unacceptable harm?</a:t>
            </a:r>
            <a:endParaRPr lang="en-US" sz="1100" dirty="0"/>
          </a:p>
        </p:txBody>
      </p:sp>
      <p:sp>
        <p:nvSpPr>
          <p:cNvPr id="9" name="Shape 7"/>
          <p:cNvSpPr/>
          <p:nvPr/>
        </p:nvSpPr>
        <p:spPr>
          <a:xfrm>
            <a:off x="4407408" y="1097280"/>
            <a:ext cx="3474720" cy="4526280"/>
          </a:xfrm>
          <a:prstGeom prst="roundRect">
            <a:avLst>
              <a:gd name="adj" fmla="val 2105"/>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10" name="Shape 8"/>
          <p:cNvSpPr/>
          <p:nvPr/>
        </p:nvSpPr>
        <p:spPr>
          <a:xfrm>
            <a:off x="4407408" y="1097280"/>
            <a:ext cx="73152" cy="4526280"/>
          </a:xfrm>
          <a:prstGeom prst="rect">
            <a:avLst/>
          </a:prstGeom>
          <a:solidFill>
            <a:srgbClr val="16A3A3"/>
          </a:solidFill>
          <a:ln w="12700">
            <a:solidFill>
              <a:srgbClr val="16A3A3"/>
            </a:solidFill>
            <a:prstDash val="solid"/>
          </a:ln>
        </p:spPr>
        <p:txBody>
          <a:bodyPr/>
          <a:lstStyle/>
          <a:p>
            <a:endParaRPr lang="en-US"/>
          </a:p>
        </p:txBody>
      </p:sp>
      <p:sp>
        <p:nvSpPr>
          <p:cNvPr id="11" name="Text 9"/>
          <p:cNvSpPr/>
          <p:nvPr/>
        </p:nvSpPr>
        <p:spPr>
          <a:xfrm>
            <a:off x="4608576" y="1234440"/>
            <a:ext cx="314553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Data and model</a:t>
            </a:r>
            <a:endParaRPr lang="en-US" sz="1400" dirty="0"/>
          </a:p>
        </p:txBody>
      </p:sp>
      <p:sp>
        <p:nvSpPr>
          <p:cNvPr id="12" name="Text 10"/>
          <p:cNvSpPr/>
          <p:nvPr/>
        </p:nvSpPr>
        <p:spPr>
          <a:xfrm>
            <a:off x="4608576" y="1536192"/>
            <a:ext cx="3145536" cy="395935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 What data sources are used?</a:t>
            </a:r>
            <a:endParaRPr lang="en-US" sz="1100" dirty="0"/>
          </a:p>
          <a:p>
            <a:pPr marL="0" indent="0">
              <a:buNone/>
            </a:pPr>
            <a:r>
              <a:rPr lang="en-US" sz="1100" dirty="0">
                <a:solidFill>
                  <a:srgbClr val="172033"/>
                </a:solidFill>
              </a:rPr>
              <a:t>• What consent/contract covers the data?</a:t>
            </a:r>
            <a:endParaRPr lang="en-US" sz="1100" dirty="0"/>
          </a:p>
          <a:p>
            <a:pPr marL="0" indent="0">
              <a:buNone/>
            </a:pPr>
            <a:r>
              <a:rPr lang="en-US" sz="1100" dirty="0">
                <a:solidFill>
                  <a:srgbClr val="172033"/>
                </a:solidFill>
              </a:rPr>
              <a:t>• What model type is used?</a:t>
            </a:r>
            <a:endParaRPr lang="en-US" sz="1100" dirty="0"/>
          </a:p>
          <a:p>
            <a:pPr marL="0" indent="0">
              <a:buNone/>
            </a:pPr>
            <a:r>
              <a:rPr lang="en-US" sz="1100" dirty="0">
                <a:solidFill>
                  <a:srgbClr val="172033"/>
                </a:solidFill>
              </a:rPr>
              <a:t>• What limitations are known?</a:t>
            </a:r>
            <a:endParaRPr lang="en-US" sz="1100" dirty="0"/>
          </a:p>
          <a:p>
            <a:pPr marL="0" indent="0">
              <a:buNone/>
            </a:pPr>
            <a:r>
              <a:rPr lang="en-US" sz="1100" dirty="0">
                <a:solidFill>
                  <a:srgbClr val="172033"/>
                </a:solidFill>
              </a:rPr>
              <a:t>• How will explainability be provided?</a:t>
            </a:r>
            <a:endParaRPr lang="en-US" sz="1100" dirty="0"/>
          </a:p>
        </p:txBody>
      </p:sp>
      <p:sp>
        <p:nvSpPr>
          <p:cNvPr id="13" name="Shape 11"/>
          <p:cNvSpPr/>
          <p:nvPr/>
        </p:nvSpPr>
        <p:spPr>
          <a:xfrm>
            <a:off x="8083296" y="1097280"/>
            <a:ext cx="3474720" cy="4526280"/>
          </a:xfrm>
          <a:prstGeom prst="roundRect">
            <a:avLst>
              <a:gd name="adj" fmla="val 2105"/>
            </a:avLst>
          </a:prstGeom>
          <a:solidFill>
            <a:srgbClr val="FFFFFF"/>
          </a:solidFill>
          <a:ln w="12700">
            <a:solidFill>
              <a:srgbClr val="D5DEE8"/>
            </a:solidFill>
            <a:prstDash val="solid"/>
          </a:ln>
          <a:effectLst>
            <a:outerShdw blurRad="12700" dist="50800" dir="2700000" algn="bl" rotWithShape="0">
              <a:srgbClr val="C7D2DE">
                <a:alpha val="15000"/>
              </a:srgbClr>
            </a:outerShdw>
          </a:effectLst>
        </p:spPr>
        <p:txBody>
          <a:bodyPr/>
          <a:lstStyle/>
          <a:p>
            <a:endParaRPr lang="en-US"/>
          </a:p>
        </p:txBody>
      </p:sp>
      <p:sp>
        <p:nvSpPr>
          <p:cNvPr id="14" name="Shape 12"/>
          <p:cNvSpPr/>
          <p:nvPr/>
        </p:nvSpPr>
        <p:spPr>
          <a:xfrm>
            <a:off x="8083296" y="1097280"/>
            <a:ext cx="73152" cy="4526280"/>
          </a:xfrm>
          <a:prstGeom prst="rect">
            <a:avLst/>
          </a:prstGeom>
          <a:solidFill>
            <a:srgbClr val="F0B429"/>
          </a:solidFill>
          <a:ln w="12700">
            <a:solidFill>
              <a:srgbClr val="F0B429"/>
            </a:solidFill>
            <a:prstDash val="solid"/>
          </a:ln>
        </p:spPr>
        <p:txBody>
          <a:bodyPr/>
          <a:lstStyle/>
          <a:p>
            <a:endParaRPr lang="en-US"/>
          </a:p>
        </p:txBody>
      </p:sp>
      <p:sp>
        <p:nvSpPr>
          <p:cNvPr id="15" name="Text 13"/>
          <p:cNvSpPr/>
          <p:nvPr/>
        </p:nvSpPr>
        <p:spPr>
          <a:xfrm>
            <a:off x="8284464" y="1234440"/>
            <a:ext cx="3145536" cy="228600"/>
          </a:xfrm>
          <a:prstGeom prst="rect">
            <a:avLst/>
          </a:prstGeom>
          <a:noFill/>
          <a:ln/>
        </p:spPr>
        <p:txBody>
          <a:bodyPr wrap="square" lIns="0" tIns="0" rIns="0" bIns="0" rtlCol="0" anchor="ctr">
            <a:normAutofit/>
          </a:bodyPr>
          <a:lstStyle/>
          <a:p>
            <a:pPr marL="0" indent="0">
              <a:buNone/>
            </a:pPr>
            <a:r>
              <a:rPr lang="en-US" sz="1400" b="1" dirty="0">
                <a:solidFill>
                  <a:srgbClr val="0B1F3A"/>
                </a:solidFill>
              </a:rPr>
              <a:t>Controls and monitoring</a:t>
            </a:r>
            <a:endParaRPr lang="en-US" sz="1400" dirty="0"/>
          </a:p>
        </p:txBody>
      </p:sp>
      <p:sp>
        <p:nvSpPr>
          <p:cNvPr id="16" name="Text 14"/>
          <p:cNvSpPr/>
          <p:nvPr/>
        </p:nvSpPr>
        <p:spPr>
          <a:xfrm>
            <a:off x="8284464" y="1536192"/>
            <a:ext cx="3145536" cy="3959352"/>
          </a:xfrm>
          <a:prstGeom prst="rect">
            <a:avLst/>
          </a:prstGeom>
          <a:noFill/>
          <a:ln/>
        </p:spPr>
        <p:txBody>
          <a:bodyPr wrap="square" lIns="381" tIns="381" rIns="381" bIns="381" rtlCol="0" anchor="t">
            <a:normAutofit/>
          </a:bodyPr>
          <a:lstStyle/>
          <a:p>
            <a:pPr marL="0" indent="0">
              <a:buNone/>
            </a:pPr>
            <a:r>
              <a:rPr lang="en-US" sz="1100" dirty="0">
                <a:solidFill>
                  <a:srgbClr val="172033"/>
                </a:solidFill>
              </a:rPr>
              <a:t>• What risk tier applies?</a:t>
            </a:r>
            <a:endParaRPr lang="en-US" sz="1100" dirty="0"/>
          </a:p>
          <a:p>
            <a:pPr marL="0" indent="0">
              <a:buNone/>
            </a:pPr>
            <a:r>
              <a:rPr lang="en-US" sz="1100" dirty="0">
                <a:solidFill>
                  <a:srgbClr val="172033"/>
                </a:solidFill>
              </a:rPr>
              <a:t>• What tests are required before launch?</a:t>
            </a:r>
            <a:endParaRPr lang="en-US" sz="1100" dirty="0"/>
          </a:p>
          <a:p>
            <a:pPr marL="0" indent="0">
              <a:buNone/>
            </a:pPr>
            <a:r>
              <a:rPr lang="en-US" sz="1100" dirty="0">
                <a:solidFill>
                  <a:srgbClr val="172033"/>
                </a:solidFill>
              </a:rPr>
              <a:t>• Who approves deployment?</a:t>
            </a:r>
            <a:endParaRPr lang="en-US" sz="1100" dirty="0"/>
          </a:p>
          <a:p>
            <a:pPr marL="0" indent="0">
              <a:buNone/>
            </a:pPr>
            <a:r>
              <a:rPr lang="en-US" sz="1100" dirty="0">
                <a:solidFill>
                  <a:srgbClr val="172033"/>
                </a:solidFill>
              </a:rPr>
              <a:t>• What metrics are monitored?</a:t>
            </a:r>
            <a:endParaRPr lang="en-US" sz="1100" dirty="0"/>
          </a:p>
          <a:p>
            <a:pPr marL="0" indent="0">
              <a:buNone/>
            </a:pPr>
            <a:r>
              <a:rPr lang="en-US" sz="1100" dirty="0">
                <a:solidFill>
                  <a:srgbClr val="172033"/>
                </a:solidFill>
              </a:rPr>
              <a:t>• What triggers rollback or retirement?</a:t>
            </a:r>
            <a:endParaRPr lang="en-US" sz="1100" dirty="0"/>
          </a:p>
        </p:txBody>
      </p:sp>
      <p:sp>
        <p:nvSpPr>
          <p:cNvPr id="25" name="Slide Number Placeholder 0"/>
          <p:cNvSpPr>
            <a:spLocks noGrp="1"/>
          </p:cNvSpPr>
          <p:nvPr>
            <p:ph type="sldNum" sz="quarter" idx="4294967295"/>
          </p:nvPr>
        </p:nvSpPr>
        <p:spPr>
          <a:xfrm>
            <a:off x="11475720" y="662940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17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2546</Words>
  <Application>Microsoft Macintosh PowerPoint</Application>
  <PresentationFormat>Widescreen</PresentationFormat>
  <Paragraphs>371</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NeuroVerse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 Framework Project Completion</dc:title>
  <dc:subject>Responsible AI Framework Project Completion</dc:subject>
  <dc:creator>Naveenpaul Kolli</dc:creator>
  <cp:lastModifiedBy>Venukeswari Ootla</cp:lastModifiedBy>
  <cp:revision>3</cp:revision>
  <dcterms:created xsi:type="dcterms:W3CDTF">2026-06-15T01:49:29Z</dcterms:created>
  <dcterms:modified xsi:type="dcterms:W3CDTF">2026-06-15T02:12:28Z</dcterms:modified>
</cp:coreProperties>
</file>